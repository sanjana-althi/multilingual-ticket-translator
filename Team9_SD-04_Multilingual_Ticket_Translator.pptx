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evaluators. We are Team 9, presenting our Service Desk case study — the Multilingual Ticket Translator under UC ID SD-04 for the Infinite Computer Solutions Placement Drive. Our team brings together four engineering disciplines — CSE, CSD, and ECE — to solve a real enterprise problem: support tickets arriving in many Indian languages while engineers work in English. Over the next ten minutes we will walk you through the business problem, our AI-agentic architecture, the self-healing translation and glossary mechanisms, validation, and the measurable business impact. Our one-line vision: an AI-powered service desk automation system that understands, enriches, translates, and manages multilingual support tickets end-to-end.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service desks face six compounding problems. First, intake is multilingual — customers naturally write in Telugu, Hindi, Tamil, or Kannada. Second, engineers overwhelmingly operate in English, so there's a language mismatch on day one. Third, manual translation — whether through a bilingual colleague or copy-pasting into a translator — adds 10 to 30 minutes per ticket and directly threatens SLA compliance. Fourth, even when translation happens, technical terms get garbled: "VPN" becomes a literal word, "Azure" becomes a color. Fifth, raw tickets lack structure — no summary, no extracted intent. And sixth, triage is manual and inconsistent: two agents will categorize and prioritize the same ticket differently. Together these issues create slow, costly, and error-prone support operations. That's the gap our solution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ticket handling fails on seven measurable dimensions. Manual interpretation depends entirely on humans who tire and make mistakes. There's no native handling of regional Indian languages — most ITSM tools assume English. Translation queues create SLA-breaking delays. Ticket quality is inconsistent because every agent paraphrases differently. Engineers waste cycles re-reading long tickets because there's no summarization. Categorization and prioritization swing widely depending on who picks up the ticket. And the operational cost balloons when you have to hire bilingual staff or outsource translation. The callout on the right quantifies the hidden cost: roughly 30 minutes of manual translation overhead per multilingual ticket, and up to 3× higher cost-per-ticket when bilingual staff handle triage end to end. This is the inefficiency our AI agent removes.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a six-capability AI agent that wraps the entire ticket lifecycle. The AI ticket agent — built on an LLM — understands the raw customer message and enriches it with structure. Language detection identifies whether the ticket is in Telugu, Hindi, Tamil, Kannada, or English. Glossary-aware translation protects critical IT terms like VPN, Azure, and Outlook so they survive the round-trip untouched. Auto-categorization assigns Software, Hardware, Network, or Access. Priority assignment combines intent and keyword signals to flag High, Medium, or Low. And bidirectional communication ensures the engineer's English reply lands back in the customer's original language. The bar at the bottom shows the seven-stage end-to-end flow — Ingest, Understand, Enrich, Translate, Engineer Reply, Translate Back, and Audit — every stage automated, every stage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end-to-end architecture, organized into three swim lanes. On the left, the Input Layer: the customer submits a multilingual ticket through the Streamlit UI, configured by a JSON file that holds the glossary and prompt templates. The center lane is the AI Agentic Core — a seven-stage pipeline. It starts at the AI Agent, which calls OpenRouter using the nex-agi/nex-n2-pro model. The agent first improves the raw ticket, then generates a one-line summary, then runs schema-validated category and priority classification. After that, language detection identifies the source language, the glossary protection step masks IT terms as ##TERM_0##, ##TERM_1##, and so on, and deep-translator finally produces English output. On the right, the Output and Audit lane: the engineer reviews and replies in English, the reply is reverse-translated back to the customer's original language, and every stage is written to a timestamped CSV audit trail. Arrows show the data flow; the orange CSV block emphasizes that nothing is lost — every transformation is recoverable.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stack is intentionally lightweight and production-pragmatic. Streamlit gives us a multi-page interactive dashboard without the overhead of a separate frontend framework. Python is the orchestration glue. The AI layer is OpenRouter — a unified gateway that lets us swap LLMs without changing code; we currently use nex-agi/nex-n2-pro:free, a reasoning model strong at summarization and classification. Translation runs on deep-translator, which abstracts multiple back-ends including Google. Language detection uses langdetect, a statistical n-gram detector covering 55-plus languages. For storage we deliberately chose CSV — it's portable, version-controllable, and auditable; you can open a ticket history in Excel and trace every transformation. Pandas handles in-memory batch processing and export, and JSON files hold the glossary, prompts, and runtime config so non-developers can edit them safely. Every component is open-source or has a generous free tier, which keeps the total cost-of-ownership near zero for a pilot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agent layer is the brain of the system. We integrate with OpenRouter, which gives us a single HTTP endpoint and model-swap capability — today we use nex-agi/nex-n2-pro, a free reasoning LLM strong at producing structured outputs. The agent performs four enrichment tasks on every ticket: it improves the raw text by fixing grammar and expanding abbreviations; it generates a one-line summary for queue dashboards; it assigns a category from a strict schema — Software, Hardware, Network, or Access; and it predicts priority as High, Medium, or Low using a fusion of keyword signals and LLM reasoning. The sample on the right shows the transformation in action: a casual ticket "my outlook not opening from morning" becomes a clean professional ticket with a structured summary, category Software, priority Medium. Critically, we built a self-healing fallback: if the LLM call fails — network outage, rate limit, malformed response — a rule-based keyword classifier takes over so the queue never stalls. This is what makes the system production-grade rather than 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Language detection is deceptively important — if you get this wrong, every downstream stage breaks. We use langdetect, a Python port of Google's language-detection library that uses statistical n-gram models. The workflow on the left has five stages. The raw ticket text comes in. We tokenize and sample n-grams. We score probabilities across 55-plus candidate languages. We map the ISO code to the translator engine's expected code — for instance "te" to Telugu in deep-translator. And finally we route the ticket to the pipeline, storing the detected language alongside the ticket so we can reverse-translate the engineer's reply at the end. The panel on the right shows the five languages we currently support in production: Telugu, Hindi, Tamil, Kannada, and English — together these cover the dominant language footprint of Indian enterprise customers. Adding a new language is a configuration change, not a code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Glossary protection is the feature that elevates this from a toy translator to an enterprise tool. The problem: a naive translator turns "Azure" into the Hindi word for "sky" and "VPN" into a meaningless phonetic transliteration. Engineers lose context, search breaks, and the customer's intent is destroyed. Our four-stage masking pipeline solves this. Stage 1 — the original ticket arrives with terms like VPN and Azure. Stage 2 — we scan against a JSON glossary and replace each protected term with a sentinel token: ##TERM_0##, ##TERM_1##. Stage 3 — the translation engine translates the surrounding sentence but leaves the sentinel tokens untouched, because they don't look like words in any language. Stage 4 — we walk the translated string and restore each ##TERM_n## back to its original term. The result, shown in the rightmost card, is a perfectly Hindi sentence with VPN and Azure preserved verbatim. The bottom strip explains why this matters: brand safety, searchability, schema validation via an AST-style token check, and a JSON-driven glossary that admins can extend without writing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translation pipeline is bidirectional and symmetric — that symmetry is what makes the round-trip lossless. The top row is the inbound flow, Customer to Engineer: the customer writes in their native language; langdetect identifies the source; the glossary masker replaces protected IT terms with sentinel tokens; deep-translator converts the surrounding text to English; and the engineer receives a clean, professionally written English ticket. The bottom row is the outbound flow, Engineer to Customer: the engineer replies in English; we mask glossary terms again; deep-translator translates English back to the customer's original language; we restore the masked terms verbatim; and the customer reads the reply in their own language with all tool names intact. The same five-stage pattern runs in both directions, which means our test surface is small and our edge cases are predictable. The business benefit is huge — a single English-speaking engineer can now support customers in Telugu, Hindi, Tamil, and Kannada simultaneously, without a bilingual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translation, every classification, every engineer action is captured in a single CSV log — the system's audit trail. Five guarantees on the left. Lifecycle capture: every state transition is written, so we can reconstruct the full journey of any ticket. Timestamped rows: ISO-8601 timestamps per stage let us compute end-to-end latency and SLA compliance reports. Append-only: the log is immutable; an update creates a new row rather than mutating history, which means tampering is detectable. Portable: CSV opens natively in Excel, Power BI, Tableau, or pandas — zero vendor lock-in and zero migration risk. Audit-ready: every transformation, including the masking and restoration of glossary terms, is traceable for compliance review. The mock on the right is a real shape of the log — you can see a single ticket T001 progressing through six rows in roughly six minutes from receipt to localized reply. This is also our path to analytics: feed the CSV into a dashboard and you get translation volume, language mix, average handle time, and category trends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 quick tour of the Streamlit dashboard our judges can interact with live. The left sidebar exposes five modules. Home gives a welcome screen and getting-started instructions. Single Ticket Processing — the highlighted module — lets you paste one ticket and see the full pipeline run interactively, which is great for demos and debugging. Batch Processing accepts a CSV of multilingual tickets, processes them in parallel, and shows progress; this is how an operations team would run a daily backlog. Summary Dashboard surfaces volume, language mix, top categories, and average handle time — derived directly from the CSV audit trail we showed earlier. Export Results lets the engineer download the enriched, translated dataset as CSV or Excel for handoff to ServiceNow or any downstream ITSM tool. The main panel mocks the Single Ticket flow: a Telugu ticket goes in, and within seconds the dashboard returns language code, category, priority, and the English translation — all glossary-protected. The user workflow is intentionally three clicks: paste, process,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impact. Four headline KPIs across the top. We see an estimated 80% reduction in ticket triage time, because language detection, translation, summarization, and classification all happen in seconds instead of minutes. Five languages are supported out of the box — Telugu, Hindi, Tamil, Kannada, English — covering the dominant Indian enterprise footprint. We measure 100% glossary term preservation accuracy across our test set, because the masking pipeline is deterministic, not probabilistic. And critically, a single English-speaking engineer can now serve customers in all five languages — a 1× engineer count for a 5× language footprint. Below those, we split outcomes by audience. The operational column speaks to engineering managers: faster understanding, zero manual translation, consistent term handling, automatic categorization, automatic prioritization. The business column speaks to executives and recruiters: improved customer experience, lower cost from eliminating bilingual staffing premiums, better SLAs, audit compliance through the CSV log, and scalable coverage — adding a new language is a JSON edit, not a hiring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upfront about the current limitations. Internet dependency: both OpenRouter and deep-translator require live network connectivity, so a fully air-gapped deployment would need a local model and a local translation engine. Limited language set: five languages today; broader Indian and global coverage is in the roadmap. CSV storage: portable and auditable, but lacks the transactional guarantees and concurrent-write safety of a relational database. And this is a prototype — no authentication, role-based access control, or multi-tenancy in this build. On the right, the future scope. OCR and PDF ingestion will let us handle screenshots and scanned forms, which are common in field-support tickets. Native ServiceNow and Zendesk plug-ins will turn this from a standalone tool into an embedded capability. LLM-generated engineer replies will close the loop and let the agent draft responses. A realtime analytics dashboard will replace the static CSV view. We will expand to Marathi, Bengali, Malayalam, Gujarati, and Punjabi to cover all major Indian languages. And finally, a PostgreSQL backend will give us the transactional audit guarantees enterprises require for production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and attention. To recap: we built the Multilingual Ticket Translator — an AI-agentic system that ingests support tickets in five Indian languages, enriches and classifies them with an LLM, protects critical IT terminology through a glossary-masking pipeline, and translates engineer replies back to the customer's native language, with every step captured in an audit-ready CSV trail. The architecture is production-pragmatic: lightweight stack, schema-validated outputs, self-healing fallbacks, and zero vendor lock-in. The business case is sharp: faster triage, lower cost, better SLAs, and a single engineer serving all language users. We are now happy to take your questions on the architecture, the AI agent design, the validation strategy, the demo, or the roadmap. Thank you from Team 9 — UC ID SD-04.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3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E3F"/>
          </a:solidFill>
          <a:ln/>
        </p:spPr>
      </p:sp>
      <p:sp>
        <p:nvSpPr>
          <p:cNvPr id="3" name="Shape 1"/>
          <p:cNvSpPr/>
          <p:nvPr/>
        </p:nvSpPr>
        <p:spPr>
          <a:xfrm>
            <a:off x="8686800" y="-1828800"/>
            <a:ext cx="5486400" cy="5486400"/>
          </a:xfrm>
          <a:prstGeom prst="ellipse">
            <a:avLst/>
          </a:prstGeom>
          <a:solidFill>
            <a:srgbClr val="14315E"/>
          </a:solidFill>
          <a:ln w="12700">
            <a:solidFill>
              <a:srgbClr val="14315E"/>
            </a:solidFill>
            <a:prstDash val="solid"/>
          </a:ln>
        </p:spPr>
      </p:sp>
      <p:sp>
        <p:nvSpPr>
          <p:cNvPr id="4" name="Shape 2"/>
          <p:cNvSpPr/>
          <p:nvPr/>
        </p:nvSpPr>
        <p:spPr>
          <a:xfrm>
            <a:off x="9875520" y="4114800"/>
            <a:ext cx="3657600" cy="3657600"/>
          </a:xfrm>
          <a:prstGeom prst="ellipse">
            <a:avLst/>
          </a:prstGeom>
          <a:solidFill>
            <a:srgbClr val="0E2750"/>
          </a:solidFill>
          <a:ln w="12700">
            <a:solidFill>
              <a:srgbClr val="0E2750"/>
            </a:solidFill>
            <a:prstDash val="solid"/>
          </a:ln>
        </p:spPr>
      </p:sp>
      <p:sp>
        <p:nvSpPr>
          <p:cNvPr id="5" name="Shape 3"/>
          <p:cNvSpPr/>
          <p:nvPr/>
        </p:nvSpPr>
        <p:spPr>
          <a:xfrm>
            <a:off x="-1371600" y="5029200"/>
            <a:ext cx="4114800" cy="4114800"/>
          </a:xfrm>
          <a:prstGeom prst="ellipse">
            <a:avLst/>
          </a:prstGeom>
          <a:solidFill>
            <a:srgbClr val="0E2750"/>
          </a:solidFill>
          <a:ln w="12700">
            <a:solidFill>
              <a:srgbClr val="0E2750"/>
            </a:solidFill>
            <a:prstDash val="solid"/>
          </a:ln>
        </p:spPr>
      </p:sp>
      <p:sp>
        <p:nvSpPr>
          <p:cNvPr id="6" name="Shape 4"/>
          <p:cNvSpPr/>
          <p:nvPr/>
        </p:nvSpPr>
        <p:spPr>
          <a:xfrm>
            <a:off x="548640" y="1463040"/>
            <a:ext cx="73152" cy="1005840"/>
          </a:xfrm>
          <a:prstGeom prst="rect">
            <a:avLst/>
          </a:prstGeom>
          <a:solidFill>
            <a:srgbClr val="1FB8C9"/>
          </a:solidFill>
          <a:ln w="12700">
            <a:solidFill>
              <a:srgbClr val="1FB8C9"/>
            </a:solidFill>
            <a:prstDash val="solid"/>
          </a:ln>
        </p:spPr>
      </p:sp>
      <p:sp>
        <p:nvSpPr>
          <p:cNvPr id="7" name="Text 5"/>
          <p:cNvSpPr/>
          <p:nvPr/>
        </p:nvSpPr>
        <p:spPr>
          <a:xfrm>
            <a:off x="777240" y="1417320"/>
            <a:ext cx="9144000" cy="365760"/>
          </a:xfrm>
          <a:prstGeom prst="rect">
            <a:avLst/>
          </a:prstGeom>
          <a:noFill/>
          <a:ln/>
        </p:spPr>
        <p:txBody>
          <a:bodyPr wrap="square" rtlCol="0" anchor="ctr"/>
          <a:lstStyle/>
          <a:p>
            <a:pPr indent="0" marL="0">
              <a:buNone/>
            </a:pPr>
            <a:r>
              <a:rPr lang="en-US" sz="1200" b="1" spc="600" kern="0" dirty="0">
                <a:solidFill>
                  <a:srgbClr val="1FB8C9"/>
                </a:solidFill>
                <a:latin typeface="Calibri" pitchFamily="34" charset="0"/>
                <a:ea typeface="Calibri" pitchFamily="34" charset="-122"/>
                <a:cs typeface="Calibri" pitchFamily="34" charset="-120"/>
              </a:rPr>
              <a:t>CASE STUDY  •  SERVICE DESK  •  UC ID: SD-04</a:t>
            </a:r>
            <a:endParaRPr lang="en-US" sz="1200" dirty="0"/>
          </a:p>
        </p:txBody>
      </p:sp>
      <p:sp>
        <p:nvSpPr>
          <p:cNvPr id="8" name="Text 6"/>
          <p:cNvSpPr/>
          <p:nvPr/>
        </p:nvSpPr>
        <p:spPr>
          <a:xfrm>
            <a:off x="777240" y="1874520"/>
            <a:ext cx="10058400" cy="2011680"/>
          </a:xfrm>
          <a:prstGeom prst="rect">
            <a:avLst/>
          </a:prstGeom>
          <a:noFill/>
          <a:ln/>
        </p:spPr>
        <p:txBody>
          <a:bodyPr wrap="square"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Multilingual Ticket</a:t>
            </a:r>
            <a:endParaRPr lang="en-US" sz="6000" dirty="0"/>
          </a:p>
          <a:p>
            <a:pPr indent="0" marL="0">
              <a:buNone/>
            </a:pPr>
            <a:r>
              <a:rPr lang="en-US" sz="6000" b="1" dirty="0">
                <a:solidFill>
                  <a:srgbClr val="FFFFFF"/>
                </a:solidFill>
                <a:latin typeface="Calibri" pitchFamily="34" charset="0"/>
                <a:ea typeface="Calibri" pitchFamily="34" charset="-122"/>
                <a:cs typeface="Calibri" pitchFamily="34" charset="-120"/>
              </a:rPr>
              <a:t>Translator</a:t>
            </a:r>
            <a:endParaRPr lang="en-US" sz="6000" dirty="0"/>
          </a:p>
        </p:txBody>
      </p:sp>
      <p:sp>
        <p:nvSpPr>
          <p:cNvPr id="9" name="Text 7"/>
          <p:cNvSpPr/>
          <p:nvPr/>
        </p:nvSpPr>
        <p:spPr>
          <a:xfrm>
            <a:off x="777240" y="4023360"/>
            <a:ext cx="9601200" cy="914400"/>
          </a:xfrm>
          <a:prstGeom prst="rect">
            <a:avLst/>
          </a:prstGeom>
          <a:noFill/>
          <a:ln/>
        </p:spPr>
        <p:txBody>
          <a:bodyPr wrap="square" rtlCol="0" anchor="ctr"/>
          <a:lstStyle/>
          <a:p>
            <a:pPr indent="0" marL="0">
              <a:buNone/>
            </a:pPr>
            <a:r>
              <a:rPr lang="en-US" sz="1800" i="1" dirty="0">
                <a:solidFill>
                  <a:srgbClr val="C7D3E8"/>
                </a:solidFill>
                <a:latin typeface="Calibri" pitchFamily="34" charset="0"/>
                <a:ea typeface="Calibri" pitchFamily="34" charset="-122"/>
                <a:cs typeface="Calibri" pitchFamily="34" charset="-120"/>
              </a:rPr>
              <a:t>AI-powered service desk automation that understands, enriches,</a:t>
            </a:r>
            <a:endParaRPr lang="en-US" sz="1800" dirty="0"/>
          </a:p>
          <a:p>
            <a:pPr indent="0" marL="0">
              <a:buNone/>
            </a:pPr>
            <a:r>
              <a:rPr lang="en-US" sz="1800" i="1" dirty="0">
                <a:solidFill>
                  <a:srgbClr val="C7D3E8"/>
                </a:solidFill>
                <a:latin typeface="Calibri" pitchFamily="34" charset="0"/>
                <a:ea typeface="Calibri" pitchFamily="34" charset="-122"/>
                <a:cs typeface="Calibri" pitchFamily="34" charset="-120"/>
              </a:rPr>
              <a:t>translates, and manages multilingual support tickets.</a:t>
            </a:r>
            <a:endParaRPr lang="en-US" sz="1800" dirty="0"/>
          </a:p>
        </p:txBody>
      </p:sp>
      <p:sp>
        <p:nvSpPr>
          <p:cNvPr id="10" name="Shape 8"/>
          <p:cNvSpPr/>
          <p:nvPr/>
        </p:nvSpPr>
        <p:spPr>
          <a:xfrm>
            <a:off x="777240" y="4983480"/>
            <a:ext cx="10607040" cy="1691640"/>
          </a:xfrm>
          <a:prstGeom prst="rect">
            <a:avLst/>
          </a:prstGeom>
          <a:solidFill>
            <a:srgbClr val="0E2750"/>
          </a:solidFill>
          <a:ln w="6350">
            <a:solidFill>
              <a:srgbClr val="1FB8C9"/>
            </a:solidFill>
            <a:prstDash val="solid"/>
          </a:ln>
        </p:spPr>
      </p:sp>
      <p:sp>
        <p:nvSpPr>
          <p:cNvPr id="11" name="Text 9"/>
          <p:cNvSpPr/>
          <p:nvPr/>
        </p:nvSpPr>
        <p:spPr>
          <a:xfrm>
            <a:off x="960120" y="5074920"/>
            <a:ext cx="1828800" cy="365760"/>
          </a:xfrm>
          <a:prstGeom prst="rect">
            <a:avLst/>
          </a:prstGeom>
          <a:noFill/>
          <a:ln/>
        </p:spPr>
        <p:txBody>
          <a:bodyPr wrap="square" rtlCol="0" anchor="ctr"/>
          <a:lstStyle/>
          <a:p>
            <a:pPr indent="0" marL="0">
              <a:buNone/>
            </a:pPr>
            <a:r>
              <a:rPr lang="en-US" sz="1400" b="1" spc="400" kern="0" dirty="0">
                <a:solidFill>
                  <a:srgbClr val="1FB8C9"/>
                </a:solidFill>
                <a:latin typeface="Calibri" pitchFamily="34" charset="0"/>
                <a:ea typeface="Calibri" pitchFamily="34" charset="-122"/>
                <a:cs typeface="Calibri" pitchFamily="34" charset="-120"/>
              </a:rPr>
              <a:t>TEAM 9</a:t>
            </a:r>
            <a:endParaRPr lang="en-US" sz="1400" dirty="0"/>
          </a:p>
        </p:txBody>
      </p:sp>
      <p:sp>
        <p:nvSpPr>
          <p:cNvPr id="12" name="Text 10"/>
          <p:cNvSpPr/>
          <p:nvPr/>
        </p:nvSpPr>
        <p:spPr>
          <a:xfrm>
            <a:off x="960120" y="5440680"/>
            <a:ext cx="6400800" cy="320040"/>
          </a:xfrm>
          <a:prstGeom prst="rect">
            <a:avLst/>
          </a:prstGeom>
          <a:noFill/>
          <a:ln/>
        </p:spPr>
        <p:txBody>
          <a:bodyPr wrap="square" rtlCol="0" anchor="ctr"/>
          <a:lstStyle/>
          <a:p>
            <a:pPr indent="0" marL="0">
              <a:buNone/>
            </a:pPr>
            <a:r>
              <a:rPr lang="en-US" sz="1200" dirty="0">
                <a:solidFill>
                  <a:srgbClr val="C7D3E8"/>
                </a:solidFill>
                <a:latin typeface="Calibri" pitchFamily="34" charset="0"/>
                <a:ea typeface="Calibri" pitchFamily="34" charset="-122"/>
                <a:cs typeface="Calibri" pitchFamily="34" charset="-120"/>
              </a:rPr>
              <a:t>Infinite Computer Solutions — Placement Drive</a:t>
            </a:r>
            <a:endParaRPr lang="en-US" sz="1200" dirty="0"/>
          </a:p>
        </p:txBody>
      </p:sp>
      <p:sp>
        <p:nvSpPr>
          <p:cNvPr id="13" name="Text 11"/>
          <p:cNvSpPr/>
          <p:nvPr/>
        </p:nvSpPr>
        <p:spPr>
          <a:xfrm>
            <a:off x="960120" y="5852160"/>
            <a:ext cx="10058400" cy="32004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Althi Sanjana </a:t>
            </a:r>
            <a:pPr indent="0" marL="0">
              <a:buNone/>
            </a:pPr>
            <a:r>
              <a:rPr lang="en-US" sz="1100" dirty="0">
                <a:solidFill>
                  <a:srgbClr val="A8B6CC"/>
                </a:solidFill>
                <a:latin typeface="Calibri" pitchFamily="34" charset="0"/>
                <a:ea typeface="Calibri" pitchFamily="34" charset="-122"/>
                <a:cs typeface="Calibri" pitchFamily="34" charset="-120"/>
              </a:rPr>
              <a:t>(23U41A0504, CSE)   •   </a:t>
            </a:r>
            <a:pPr indent="0" marL="0">
              <a:buNone/>
            </a:pPr>
            <a:r>
              <a:rPr lang="en-US" sz="1100" b="1" dirty="0">
                <a:solidFill>
                  <a:srgbClr val="FFFFFF"/>
                </a:solidFill>
                <a:latin typeface="Calibri" pitchFamily="34" charset="0"/>
                <a:ea typeface="Calibri" pitchFamily="34" charset="-122"/>
                <a:cs typeface="Calibri" pitchFamily="34" charset="-120"/>
              </a:rPr>
              <a:t>Kandregula Divya Vani </a:t>
            </a:r>
            <a:pPr indent="0" marL="0">
              <a:buNone/>
            </a:pPr>
            <a:r>
              <a:rPr lang="en-US" sz="1100" dirty="0">
                <a:solidFill>
                  <a:srgbClr val="A8B6CC"/>
                </a:solidFill>
                <a:latin typeface="Calibri" pitchFamily="34" charset="0"/>
                <a:ea typeface="Calibri" pitchFamily="34" charset="-122"/>
                <a:cs typeface="Calibri" pitchFamily="34" charset="-120"/>
              </a:rPr>
              <a:t>(23U41A0520, CSE)</a:t>
            </a:r>
            <a:endParaRPr lang="en-US" sz="1100" dirty="0"/>
          </a:p>
        </p:txBody>
      </p:sp>
      <p:sp>
        <p:nvSpPr>
          <p:cNvPr id="14" name="Text 12"/>
          <p:cNvSpPr/>
          <p:nvPr/>
        </p:nvSpPr>
        <p:spPr>
          <a:xfrm>
            <a:off x="960120" y="6217920"/>
            <a:ext cx="10058400" cy="32004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Mangi Nitya Sai Vardhani </a:t>
            </a:r>
            <a:pPr indent="0" marL="0">
              <a:buNone/>
            </a:pPr>
            <a:r>
              <a:rPr lang="en-US" sz="1100" dirty="0">
                <a:solidFill>
                  <a:srgbClr val="A8B6CC"/>
                </a:solidFill>
                <a:latin typeface="Calibri" pitchFamily="34" charset="0"/>
                <a:ea typeface="Calibri" pitchFamily="34" charset="-122"/>
                <a:cs typeface="Calibri" pitchFamily="34" charset="-120"/>
              </a:rPr>
              <a:t>(23U41A4427, CSD)   •   </a:t>
            </a:r>
            <a:pPr indent="0" marL="0">
              <a:buNone/>
            </a:pPr>
            <a:r>
              <a:rPr lang="en-US" sz="1100" b="1" dirty="0">
                <a:solidFill>
                  <a:srgbClr val="FFFFFF"/>
                </a:solidFill>
                <a:latin typeface="Calibri" pitchFamily="34" charset="0"/>
                <a:ea typeface="Calibri" pitchFamily="34" charset="-122"/>
                <a:cs typeface="Calibri" pitchFamily="34" charset="-120"/>
              </a:rPr>
              <a:t>Kanapaka Dilleswara Rao </a:t>
            </a:r>
            <a:pPr indent="0" marL="0">
              <a:buNone/>
            </a:pPr>
            <a:r>
              <a:rPr lang="en-US" sz="1100" dirty="0">
                <a:solidFill>
                  <a:srgbClr val="A8B6CC"/>
                </a:solidFill>
                <a:latin typeface="Calibri" pitchFamily="34" charset="0"/>
                <a:ea typeface="Calibri" pitchFamily="34" charset="-122"/>
                <a:cs typeface="Calibri" pitchFamily="34" charset="-120"/>
              </a:rPr>
              <a:t>(23U41A0430, ECE)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E3F"/>
          </a:solidFill>
          <a:ln/>
        </p:spPr>
      </p:sp>
      <p:sp>
        <p:nvSpPr>
          <p:cNvPr id="3" name="Shape 1"/>
          <p:cNvSpPr/>
          <p:nvPr/>
        </p:nvSpPr>
        <p:spPr>
          <a:xfrm>
            <a:off x="0" y="502920"/>
            <a:ext cx="12191695" cy="36576"/>
          </a:xfrm>
          <a:prstGeom prst="rect">
            <a:avLst/>
          </a:prstGeom>
          <a:solidFill>
            <a:srgbClr val="1FB8C9"/>
          </a:solidFill>
          <a:ln/>
        </p:spPr>
      </p:sp>
      <p:sp>
        <p:nvSpPr>
          <p:cNvPr id="4" name="Text 2"/>
          <p:cNvSpPr/>
          <p:nvPr/>
        </p:nvSpPr>
        <p:spPr>
          <a:xfrm>
            <a:off x="365760" y="0"/>
            <a:ext cx="11430000" cy="502920"/>
          </a:xfrm>
          <a:prstGeom prst="rect">
            <a:avLst/>
          </a:prstGeom>
          <a:noFill/>
          <a:ln/>
        </p:spPr>
        <p:txBody>
          <a:bodyPr wrap="square" rtlCol="0" anchor="ctr"/>
          <a:lstStyle/>
          <a:p>
            <a:pPr indent="0" marL="0">
              <a:buNone/>
            </a:pPr>
            <a:r>
              <a:rPr lang="en-US" sz="1000" b="1" spc="300" kern="0" dirty="0">
                <a:solidFill>
                  <a:srgbClr val="FFFFFF"/>
                </a:solidFill>
                <a:latin typeface="Calibri" pitchFamily="34" charset="0"/>
                <a:ea typeface="Calibri" pitchFamily="34" charset="-122"/>
                <a:cs typeface="Calibri" pitchFamily="34" charset="-120"/>
              </a:rPr>
              <a:t>MULTILINGUAL TICKET TRANSLATOR  •  TEAM 9  •  SD-04</a:t>
            </a:r>
            <a:endParaRPr lang="en-US" sz="1000" dirty="0"/>
          </a:p>
        </p:txBody>
      </p:sp>
      <p:sp>
        <p:nvSpPr>
          <p:cNvPr id="5" name="Text 3"/>
          <p:cNvSpPr/>
          <p:nvPr/>
        </p:nvSpPr>
        <p:spPr>
          <a:xfrm>
            <a:off x="457200" y="685800"/>
            <a:ext cx="11247120" cy="320040"/>
          </a:xfrm>
          <a:prstGeom prst="rect">
            <a:avLst/>
          </a:prstGeom>
          <a:noFill/>
          <a:ln/>
        </p:spPr>
        <p:txBody>
          <a:bodyPr wrap="square" rtlCol="0" anchor="ctr"/>
          <a:lstStyle/>
          <a:p>
            <a:pPr indent="0" marL="0">
              <a:buNone/>
            </a:pPr>
            <a:r>
              <a:rPr lang="en-US" sz="1100" b="1" spc="400" kern="0" dirty="0">
                <a:solidFill>
                  <a:srgbClr val="1FB8C9"/>
                </a:solidFill>
                <a:latin typeface="Calibri" pitchFamily="34" charset="0"/>
                <a:ea typeface="Calibri" pitchFamily="34" charset="-122"/>
                <a:cs typeface="Calibri" pitchFamily="34" charset="-120"/>
              </a:rPr>
              <a:t>01 — BUSINESS PROBLEM</a:t>
            </a:r>
            <a:endParaRPr lang="en-US" sz="1100" dirty="0"/>
          </a:p>
        </p:txBody>
      </p:sp>
      <p:sp>
        <p:nvSpPr>
          <p:cNvPr id="6" name="Text 4"/>
          <p:cNvSpPr/>
          <p:nvPr/>
        </p:nvSpPr>
        <p:spPr>
          <a:xfrm>
            <a:off x="457200" y="960120"/>
            <a:ext cx="11247120" cy="640080"/>
          </a:xfrm>
          <a:prstGeom prst="rect">
            <a:avLst/>
          </a:prstGeom>
          <a:noFill/>
          <a:ln/>
        </p:spPr>
        <p:txBody>
          <a:bodyPr wrap="square" rtlCol="0" anchor="ctr"/>
          <a:lstStyle/>
          <a:p>
            <a:pPr indent="0" marL="0">
              <a:buNone/>
            </a:pPr>
            <a:r>
              <a:rPr lang="en-US" sz="3000" b="1" dirty="0">
                <a:solidFill>
                  <a:srgbClr val="0B1E3F"/>
                </a:solidFill>
                <a:latin typeface="Calibri" pitchFamily="34" charset="0"/>
                <a:ea typeface="Calibri" pitchFamily="34" charset="-122"/>
                <a:cs typeface="Calibri" pitchFamily="34" charset="-120"/>
              </a:rPr>
              <a:t>Challenges in Modern Service Desks</a:t>
            </a:r>
            <a:endParaRPr lang="en-US" sz="3000" dirty="0"/>
          </a:p>
        </p:txBody>
      </p:sp>
      <p:sp>
        <p:nvSpPr>
          <p:cNvPr id="7" name="Shape 5"/>
          <p:cNvSpPr/>
          <p:nvPr/>
        </p:nvSpPr>
        <p:spPr>
          <a:xfrm>
            <a:off x="457200" y="1627632"/>
            <a:ext cx="548640" cy="54864"/>
          </a:xfrm>
          <a:prstGeom prst="rect">
            <a:avLst/>
          </a:prstGeom>
          <a:solidFill>
            <a:srgbClr val="1FB8C9"/>
          </a:solidFill>
          <a:ln w="12700">
            <a:solidFill>
              <a:srgbClr val="1FB8C9"/>
            </a:solidFill>
            <a:prstDash val="solid"/>
          </a:ln>
        </p:spPr>
      </p:sp>
      <p:sp>
        <p:nvSpPr>
          <p:cNvPr id="8" name="Shape 6"/>
          <p:cNvSpPr/>
          <p:nvPr/>
        </p:nvSpPr>
        <p:spPr>
          <a:xfrm>
            <a:off x="0" y="6675120"/>
            <a:ext cx="12191695" cy="182880"/>
          </a:xfrm>
          <a:prstGeom prst="rect">
            <a:avLst/>
          </a:prstGeom>
          <a:solidFill>
            <a:srgbClr val="F4F7FB"/>
          </a:solidFill>
          <a:ln w="12700">
            <a:solidFill>
              <a:srgbClr val="F4F7FB"/>
            </a:solidFill>
            <a:prstDash val="solid"/>
          </a:ln>
        </p:spPr>
      </p:sp>
      <p:sp>
        <p:nvSpPr>
          <p:cNvPr id="9" name="Text 7"/>
          <p:cNvSpPr/>
          <p:nvPr/>
        </p:nvSpPr>
        <p:spPr>
          <a:xfrm>
            <a:off x="365760" y="6656832"/>
            <a:ext cx="7315200" cy="201168"/>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Infinite Computer Solutions • Placement Case Study</a:t>
            </a:r>
            <a:endParaRPr lang="en-US" sz="900" dirty="0"/>
          </a:p>
        </p:txBody>
      </p:sp>
      <p:sp>
        <p:nvSpPr>
          <p:cNvPr id="10" name="Text 8"/>
          <p:cNvSpPr/>
          <p:nvPr/>
        </p:nvSpPr>
        <p:spPr>
          <a:xfrm>
            <a:off x="11247120" y="6656832"/>
            <a:ext cx="640080" cy="201168"/>
          </a:xfrm>
          <a:prstGeom prst="rect">
            <a:avLst/>
          </a:prstGeom>
          <a:noFill/>
          <a:ln/>
        </p:spPr>
        <p:txBody>
          <a:bodyPr wrap="square" rtlCol="0" anchor="ctr"/>
          <a:lstStyle/>
          <a:p>
            <a:pPr algn="r" indent="0" marL="0">
              <a:buNone/>
            </a:pPr>
            <a:r>
              <a:rPr lang="en-US" sz="900" b="1" dirty="0">
                <a:solidFill>
                  <a:srgbClr val="5A6B7C"/>
                </a:solidFill>
                <a:latin typeface="Calibri" pitchFamily="34" charset="0"/>
                <a:ea typeface="Calibri" pitchFamily="34" charset="-122"/>
                <a:cs typeface="Calibri" pitchFamily="34" charset="-120"/>
              </a:rPr>
              <a:t>2 / 15</a:t>
            </a:r>
            <a:endParaRPr lang="en-US" sz="900" dirty="0"/>
          </a:p>
        </p:txBody>
      </p:sp>
      <p:sp>
        <p:nvSpPr>
          <p:cNvPr id="11" name="Shape 9"/>
          <p:cNvSpPr/>
          <p:nvPr/>
        </p:nvSpPr>
        <p:spPr>
          <a:xfrm>
            <a:off x="457200" y="1965960"/>
            <a:ext cx="3712464" cy="2148840"/>
          </a:xfrm>
          <a:prstGeom prst="rect">
            <a:avLst/>
          </a:prstGeom>
          <a:solidFill>
            <a:srgbClr val="FFFFFF"/>
          </a:solidFill>
          <a:ln w="12700">
            <a:solidFill>
              <a:srgbClr val="D9E1EC"/>
            </a:solidFill>
            <a:prstDash val="solid"/>
          </a:ln>
        </p:spPr>
      </p:sp>
      <p:sp>
        <p:nvSpPr>
          <p:cNvPr id="12" name="Shape 10"/>
          <p:cNvSpPr/>
          <p:nvPr/>
        </p:nvSpPr>
        <p:spPr>
          <a:xfrm>
            <a:off x="457200" y="1965960"/>
            <a:ext cx="73152" cy="2148840"/>
          </a:xfrm>
          <a:prstGeom prst="rect">
            <a:avLst/>
          </a:prstGeom>
          <a:solidFill>
            <a:srgbClr val="1FB8C9"/>
          </a:solidFill>
          <a:ln w="12700">
            <a:solidFill>
              <a:srgbClr val="1FB8C9"/>
            </a:solidFill>
            <a:prstDash val="solid"/>
          </a:ln>
        </p:spPr>
      </p:sp>
      <p:sp>
        <p:nvSpPr>
          <p:cNvPr id="13" name="Shape 11"/>
          <p:cNvSpPr/>
          <p:nvPr/>
        </p:nvSpPr>
        <p:spPr>
          <a:xfrm>
            <a:off x="731520" y="2240280"/>
            <a:ext cx="502920" cy="502920"/>
          </a:xfrm>
          <a:prstGeom prst="ellipse">
            <a:avLst/>
          </a:prstGeom>
          <a:solidFill>
            <a:srgbClr val="F4F7FB"/>
          </a:solidFill>
          <a:ln w="12700">
            <a:solidFill>
              <a:srgbClr val="1FB8C9"/>
            </a:solidFill>
            <a:prstDash val="solid"/>
          </a:ln>
        </p:spPr>
      </p:sp>
      <p:sp>
        <p:nvSpPr>
          <p:cNvPr id="14" name="Text 12"/>
          <p:cNvSpPr/>
          <p:nvPr/>
        </p:nvSpPr>
        <p:spPr>
          <a:xfrm>
            <a:off x="731520" y="2240280"/>
            <a:ext cx="502920" cy="502920"/>
          </a:xfrm>
          <a:prstGeom prst="rect">
            <a:avLst/>
          </a:prstGeom>
          <a:noFill/>
          <a:ln/>
        </p:spPr>
        <p:txBody>
          <a:bodyPr wrap="square" rtlCol="0" anchor="ctr"/>
          <a:lstStyle/>
          <a:p>
            <a:pPr algn="ctr" indent="0" marL="0">
              <a:buNone/>
            </a:pPr>
            <a:r>
              <a:rPr lang="en-US" sz="1300" b="1" dirty="0">
                <a:solidFill>
                  <a:srgbClr val="0B1E3F"/>
                </a:solidFill>
                <a:latin typeface="Calibri" pitchFamily="34" charset="0"/>
                <a:ea typeface="Calibri" pitchFamily="34" charset="-122"/>
                <a:cs typeface="Calibri" pitchFamily="34" charset="-120"/>
              </a:rPr>
              <a:t>01</a:t>
            </a:r>
            <a:endParaRPr lang="en-US" sz="1300" dirty="0"/>
          </a:p>
        </p:txBody>
      </p:sp>
      <p:sp>
        <p:nvSpPr>
          <p:cNvPr id="15" name="Text 13"/>
          <p:cNvSpPr/>
          <p:nvPr/>
        </p:nvSpPr>
        <p:spPr>
          <a:xfrm>
            <a:off x="1371600" y="2258568"/>
            <a:ext cx="2615184" cy="457200"/>
          </a:xfrm>
          <a:prstGeom prst="rect">
            <a:avLst/>
          </a:prstGeom>
          <a:noFill/>
          <a:ln/>
        </p:spPr>
        <p:txBody>
          <a:bodyPr wrap="square" rtlCol="0" anchor="ctr"/>
          <a:lstStyle/>
          <a:p>
            <a:pPr indent="0" marL="0">
              <a:buNone/>
            </a:pPr>
            <a:r>
              <a:rPr lang="en-US" sz="1500" b="1" dirty="0">
                <a:solidFill>
                  <a:srgbClr val="0B1E3F"/>
                </a:solidFill>
                <a:latin typeface="Calibri" pitchFamily="34" charset="0"/>
                <a:ea typeface="Calibri" pitchFamily="34" charset="-122"/>
                <a:cs typeface="Calibri" pitchFamily="34" charset="-120"/>
              </a:rPr>
              <a:t>Multi-language Intake</a:t>
            </a:r>
            <a:endParaRPr lang="en-US" sz="1500" dirty="0"/>
          </a:p>
        </p:txBody>
      </p:sp>
      <p:sp>
        <p:nvSpPr>
          <p:cNvPr id="16" name="Text 14"/>
          <p:cNvSpPr/>
          <p:nvPr/>
        </p:nvSpPr>
        <p:spPr>
          <a:xfrm>
            <a:off x="731520" y="2880360"/>
            <a:ext cx="3255264" cy="1143000"/>
          </a:xfrm>
          <a:prstGeom prst="rect">
            <a:avLst/>
          </a:prstGeom>
          <a:noFill/>
          <a:ln/>
        </p:spPr>
        <p:txBody>
          <a:bodyPr wrap="square" rtlCol="0" anchor="ctr"/>
          <a:lstStyle/>
          <a:p>
            <a:pPr indent="0" marL="0">
              <a:buNone/>
            </a:pPr>
            <a:r>
              <a:rPr lang="en-US" sz="1200" dirty="0">
                <a:solidFill>
                  <a:srgbClr val="5A6B7C"/>
                </a:solidFill>
                <a:latin typeface="Calibri" pitchFamily="34" charset="0"/>
                <a:ea typeface="Calibri" pitchFamily="34" charset="-122"/>
                <a:cs typeface="Calibri" pitchFamily="34" charset="-120"/>
              </a:rPr>
              <a:t>Customers raise tickets in regional languages (Telugu, Hindi, Tamil, Kannada).</a:t>
            </a:r>
            <a:endParaRPr lang="en-US" sz="1200" dirty="0"/>
          </a:p>
        </p:txBody>
      </p:sp>
      <p:sp>
        <p:nvSpPr>
          <p:cNvPr id="17" name="Shape 15"/>
          <p:cNvSpPr/>
          <p:nvPr/>
        </p:nvSpPr>
        <p:spPr>
          <a:xfrm>
            <a:off x="4306824" y="1965960"/>
            <a:ext cx="3712464" cy="2148840"/>
          </a:xfrm>
          <a:prstGeom prst="rect">
            <a:avLst/>
          </a:prstGeom>
          <a:solidFill>
            <a:srgbClr val="FFFFFF"/>
          </a:solidFill>
          <a:ln w="12700">
            <a:solidFill>
              <a:srgbClr val="D9E1EC"/>
            </a:solidFill>
            <a:prstDash val="solid"/>
          </a:ln>
        </p:spPr>
      </p:sp>
      <p:sp>
        <p:nvSpPr>
          <p:cNvPr id="18" name="Shape 16"/>
          <p:cNvSpPr/>
          <p:nvPr/>
        </p:nvSpPr>
        <p:spPr>
          <a:xfrm>
            <a:off x="4306824" y="1965960"/>
            <a:ext cx="73152" cy="2148840"/>
          </a:xfrm>
          <a:prstGeom prst="rect">
            <a:avLst/>
          </a:prstGeom>
          <a:solidFill>
            <a:srgbClr val="1FB8C9"/>
          </a:solidFill>
          <a:ln w="12700">
            <a:solidFill>
              <a:srgbClr val="1FB8C9"/>
            </a:solidFill>
            <a:prstDash val="solid"/>
          </a:ln>
        </p:spPr>
      </p:sp>
      <p:sp>
        <p:nvSpPr>
          <p:cNvPr id="19" name="Shape 17"/>
          <p:cNvSpPr/>
          <p:nvPr/>
        </p:nvSpPr>
        <p:spPr>
          <a:xfrm>
            <a:off x="4581144" y="2240280"/>
            <a:ext cx="502920" cy="502920"/>
          </a:xfrm>
          <a:prstGeom prst="ellipse">
            <a:avLst/>
          </a:prstGeom>
          <a:solidFill>
            <a:srgbClr val="F4F7FB"/>
          </a:solidFill>
          <a:ln w="12700">
            <a:solidFill>
              <a:srgbClr val="1FB8C9"/>
            </a:solidFill>
            <a:prstDash val="solid"/>
          </a:ln>
        </p:spPr>
      </p:sp>
      <p:sp>
        <p:nvSpPr>
          <p:cNvPr id="20" name="Text 18"/>
          <p:cNvSpPr/>
          <p:nvPr/>
        </p:nvSpPr>
        <p:spPr>
          <a:xfrm>
            <a:off x="4581144" y="2240280"/>
            <a:ext cx="502920" cy="502920"/>
          </a:xfrm>
          <a:prstGeom prst="rect">
            <a:avLst/>
          </a:prstGeom>
          <a:noFill/>
          <a:ln/>
        </p:spPr>
        <p:txBody>
          <a:bodyPr wrap="square" rtlCol="0" anchor="ctr"/>
          <a:lstStyle/>
          <a:p>
            <a:pPr algn="ctr" indent="0" marL="0">
              <a:buNone/>
            </a:pPr>
            <a:r>
              <a:rPr lang="en-US" sz="1300" b="1" dirty="0">
                <a:solidFill>
                  <a:srgbClr val="0B1E3F"/>
                </a:solidFill>
                <a:latin typeface="Calibri" pitchFamily="34" charset="0"/>
                <a:ea typeface="Calibri" pitchFamily="34" charset="-122"/>
                <a:cs typeface="Calibri" pitchFamily="34" charset="-120"/>
              </a:rPr>
              <a:t>02</a:t>
            </a:r>
            <a:endParaRPr lang="en-US" sz="1300" dirty="0"/>
          </a:p>
        </p:txBody>
      </p:sp>
      <p:sp>
        <p:nvSpPr>
          <p:cNvPr id="21" name="Text 19"/>
          <p:cNvSpPr/>
          <p:nvPr/>
        </p:nvSpPr>
        <p:spPr>
          <a:xfrm>
            <a:off x="5221224" y="2258568"/>
            <a:ext cx="2615184" cy="457200"/>
          </a:xfrm>
          <a:prstGeom prst="rect">
            <a:avLst/>
          </a:prstGeom>
          <a:noFill/>
          <a:ln/>
        </p:spPr>
        <p:txBody>
          <a:bodyPr wrap="square" rtlCol="0" anchor="ctr"/>
          <a:lstStyle/>
          <a:p>
            <a:pPr indent="0" marL="0">
              <a:buNone/>
            </a:pPr>
            <a:r>
              <a:rPr lang="en-US" sz="1500" b="1" dirty="0">
                <a:solidFill>
                  <a:srgbClr val="0B1E3F"/>
                </a:solidFill>
                <a:latin typeface="Calibri" pitchFamily="34" charset="0"/>
                <a:ea typeface="Calibri" pitchFamily="34" charset="-122"/>
                <a:cs typeface="Calibri" pitchFamily="34" charset="-120"/>
              </a:rPr>
              <a:t>English-only Engineers</a:t>
            </a:r>
            <a:endParaRPr lang="en-US" sz="1500" dirty="0"/>
          </a:p>
        </p:txBody>
      </p:sp>
      <p:sp>
        <p:nvSpPr>
          <p:cNvPr id="22" name="Text 20"/>
          <p:cNvSpPr/>
          <p:nvPr/>
        </p:nvSpPr>
        <p:spPr>
          <a:xfrm>
            <a:off x="4581144" y="2880360"/>
            <a:ext cx="3255264" cy="1143000"/>
          </a:xfrm>
          <a:prstGeom prst="rect">
            <a:avLst/>
          </a:prstGeom>
          <a:noFill/>
          <a:ln/>
        </p:spPr>
        <p:txBody>
          <a:bodyPr wrap="square" rtlCol="0" anchor="ctr"/>
          <a:lstStyle/>
          <a:p>
            <a:pPr indent="0" marL="0">
              <a:buNone/>
            </a:pPr>
            <a:r>
              <a:rPr lang="en-US" sz="1200" dirty="0">
                <a:solidFill>
                  <a:srgbClr val="5A6B7C"/>
                </a:solidFill>
                <a:latin typeface="Calibri" pitchFamily="34" charset="0"/>
                <a:ea typeface="Calibri" pitchFamily="34" charset="-122"/>
                <a:cs typeface="Calibri" pitchFamily="34" charset="-120"/>
              </a:rPr>
              <a:t>L1/L2 support primarily reads, writes, and triages in English.</a:t>
            </a:r>
            <a:endParaRPr lang="en-US" sz="1200" dirty="0"/>
          </a:p>
        </p:txBody>
      </p:sp>
      <p:sp>
        <p:nvSpPr>
          <p:cNvPr id="23" name="Shape 21"/>
          <p:cNvSpPr/>
          <p:nvPr/>
        </p:nvSpPr>
        <p:spPr>
          <a:xfrm>
            <a:off x="8156448" y="1965960"/>
            <a:ext cx="3712464" cy="2148840"/>
          </a:xfrm>
          <a:prstGeom prst="rect">
            <a:avLst/>
          </a:prstGeom>
          <a:solidFill>
            <a:srgbClr val="FFFFFF"/>
          </a:solidFill>
          <a:ln w="12700">
            <a:solidFill>
              <a:srgbClr val="D9E1EC"/>
            </a:solidFill>
            <a:prstDash val="solid"/>
          </a:ln>
        </p:spPr>
      </p:sp>
      <p:sp>
        <p:nvSpPr>
          <p:cNvPr id="24" name="Shape 22"/>
          <p:cNvSpPr/>
          <p:nvPr/>
        </p:nvSpPr>
        <p:spPr>
          <a:xfrm>
            <a:off x="8156448" y="1965960"/>
            <a:ext cx="73152" cy="2148840"/>
          </a:xfrm>
          <a:prstGeom prst="rect">
            <a:avLst/>
          </a:prstGeom>
          <a:solidFill>
            <a:srgbClr val="1FB8C9"/>
          </a:solidFill>
          <a:ln w="12700">
            <a:solidFill>
              <a:srgbClr val="1FB8C9"/>
            </a:solidFill>
            <a:prstDash val="solid"/>
          </a:ln>
        </p:spPr>
      </p:sp>
      <p:sp>
        <p:nvSpPr>
          <p:cNvPr id="25" name="Shape 23"/>
          <p:cNvSpPr/>
          <p:nvPr/>
        </p:nvSpPr>
        <p:spPr>
          <a:xfrm>
            <a:off x="8430768" y="2240280"/>
            <a:ext cx="502920" cy="502920"/>
          </a:xfrm>
          <a:prstGeom prst="ellipse">
            <a:avLst/>
          </a:prstGeom>
          <a:solidFill>
            <a:srgbClr val="F4F7FB"/>
          </a:solidFill>
          <a:ln w="12700">
            <a:solidFill>
              <a:srgbClr val="1FB8C9"/>
            </a:solidFill>
            <a:prstDash val="solid"/>
          </a:ln>
        </p:spPr>
      </p:sp>
      <p:sp>
        <p:nvSpPr>
          <p:cNvPr id="26" name="Text 24"/>
          <p:cNvSpPr/>
          <p:nvPr/>
        </p:nvSpPr>
        <p:spPr>
          <a:xfrm>
            <a:off x="8430768" y="2240280"/>
            <a:ext cx="502920" cy="502920"/>
          </a:xfrm>
          <a:prstGeom prst="rect">
            <a:avLst/>
          </a:prstGeom>
          <a:noFill/>
          <a:ln/>
        </p:spPr>
        <p:txBody>
          <a:bodyPr wrap="square" rtlCol="0" anchor="ctr"/>
          <a:lstStyle/>
          <a:p>
            <a:pPr algn="ctr" indent="0" marL="0">
              <a:buNone/>
            </a:pPr>
            <a:r>
              <a:rPr lang="en-US" sz="1300" b="1" dirty="0">
                <a:solidFill>
                  <a:srgbClr val="0B1E3F"/>
                </a:solidFill>
                <a:latin typeface="Calibri" pitchFamily="34" charset="0"/>
                <a:ea typeface="Calibri" pitchFamily="34" charset="-122"/>
                <a:cs typeface="Calibri" pitchFamily="34" charset="-120"/>
              </a:rPr>
              <a:t>03</a:t>
            </a:r>
            <a:endParaRPr lang="en-US" sz="1300" dirty="0"/>
          </a:p>
        </p:txBody>
      </p:sp>
      <p:sp>
        <p:nvSpPr>
          <p:cNvPr id="27" name="Text 25"/>
          <p:cNvSpPr/>
          <p:nvPr/>
        </p:nvSpPr>
        <p:spPr>
          <a:xfrm>
            <a:off x="9070848" y="2258568"/>
            <a:ext cx="2615184" cy="457200"/>
          </a:xfrm>
          <a:prstGeom prst="rect">
            <a:avLst/>
          </a:prstGeom>
          <a:noFill/>
          <a:ln/>
        </p:spPr>
        <p:txBody>
          <a:bodyPr wrap="square" rtlCol="0" anchor="ctr"/>
          <a:lstStyle/>
          <a:p>
            <a:pPr indent="0" marL="0">
              <a:buNone/>
            </a:pPr>
            <a:r>
              <a:rPr lang="en-US" sz="1500" b="1" dirty="0">
                <a:solidFill>
                  <a:srgbClr val="0B1E3F"/>
                </a:solidFill>
                <a:latin typeface="Calibri" pitchFamily="34" charset="0"/>
                <a:ea typeface="Calibri" pitchFamily="34" charset="-122"/>
                <a:cs typeface="Calibri" pitchFamily="34" charset="-120"/>
              </a:rPr>
              <a:t>Manual Translation Lag</a:t>
            </a:r>
            <a:endParaRPr lang="en-US" sz="1500" dirty="0"/>
          </a:p>
        </p:txBody>
      </p:sp>
      <p:sp>
        <p:nvSpPr>
          <p:cNvPr id="28" name="Text 26"/>
          <p:cNvSpPr/>
          <p:nvPr/>
        </p:nvSpPr>
        <p:spPr>
          <a:xfrm>
            <a:off x="8430768" y="2880360"/>
            <a:ext cx="3255264" cy="1143000"/>
          </a:xfrm>
          <a:prstGeom prst="rect">
            <a:avLst/>
          </a:prstGeom>
          <a:noFill/>
          <a:ln/>
        </p:spPr>
        <p:txBody>
          <a:bodyPr wrap="square" rtlCol="0" anchor="ctr"/>
          <a:lstStyle/>
          <a:p>
            <a:pPr indent="0" marL="0">
              <a:buNone/>
            </a:pPr>
            <a:r>
              <a:rPr lang="en-US" sz="1200" dirty="0">
                <a:solidFill>
                  <a:srgbClr val="5A6B7C"/>
                </a:solidFill>
                <a:latin typeface="Calibri" pitchFamily="34" charset="0"/>
                <a:ea typeface="Calibri" pitchFamily="34" charset="-122"/>
                <a:cs typeface="Calibri" pitchFamily="34" charset="-120"/>
              </a:rPr>
              <a:t>Human translation adds 10–30 minutes per ticket and blocks SLAs.</a:t>
            </a:r>
            <a:endParaRPr lang="en-US" sz="1200" dirty="0"/>
          </a:p>
        </p:txBody>
      </p:sp>
      <p:sp>
        <p:nvSpPr>
          <p:cNvPr id="29" name="Shape 27"/>
          <p:cNvSpPr/>
          <p:nvPr/>
        </p:nvSpPr>
        <p:spPr>
          <a:xfrm>
            <a:off x="457200" y="4251960"/>
            <a:ext cx="3712464" cy="2148840"/>
          </a:xfrm>
          <a:prstGeom prst="rect">
            <a:avLst/>
          </a:prstGeom>
          <a:solidFill>
            <a:srgbClr val="FFFFFF"/>
          </a:solidFill>
          <a:ln w="12700">
            <a:solidFill>
              <a:srgbClr val="D9E1EC"/>
            </a:solidFill>
            <a:prstDash val="solid"/>
          </a:ln>
        </p:spPr>
      </p:sp>
      <p:sp>
        <p:nvSpPr>
          <p:cNvPr id="30" name="Shape 28"/>
          <p:cNvSpPr/>
          <p:nvPr/>
        </p:nvSpPr>
        <p:spPr>
          <a:xfrm>
            <a:off x="457200" y="4251960"/>
            <a:ext cx="73152" cy="2148840"/>
          </a:xfrm>
          <a:prstGeom prst="rect">
            <a:avLst/>
          </a:prstGeom>
          <a:solidFill>
            <a:srgbClr val="1FB8C9"/>
          </a:solidFill>
          <a:ln w="12700">
            <a:solidFill>
              <a:srgbClr val="1FB8C9"/>
            </a:solidFill>
            <a:prstDash val="solid"/>
          </a:ln>
        </p:spPr>
      </p:sp>
      <p:sp>
        <p:nvSpPr>
          <p:cNvPr id="31" name="Shape 29"/>
          <p:cNvSpPr/>
          <p:nvPr/>
        </p:nvSpPr>
        <p:spPr>
          <a:xfrm>
            <a:off x="731520" y="4526280"/>
            <a:ext cx="502920" cy="502920"/>
          </a:xfrm>
          <a:prstGeom prst="ellipse">
            <a:avLst/>
          </a:prstGeom>
          <a:solidFill>
            <a:srgbClr val="F4F7FB"/>
          </a:solidFill>
          <a:ln w="12700">
            <a:solidFill>
              <a:srgbClr val="1FB8C9"/>
            </a:solidFill>
            <a:prstDash val="solid"/>
          </a:ln>
        </p:spPr>
      </p:sp>
      <p:sp>
        <p:nvSpPr>
          <p:cNvPr id="32" name="Text 30"/>
          <p:cNvSpPr/>
          <p:nvPr/>
        </p:nvSpPr>
        <p:spPr>
          <a:xfrm>
            <a:off x="731520" y="4526280"/>
            <a:ext cx="502920" cy="502920"/>
          </a:xfrm>
          <a:prstGeom prst="rect">
            <a:avLst/>
          </a:prstGeom>
          <a:noFill/>
          <a:ln/>
        </p:spPr>
        <p:txBody>
          <a:bodyPr wrap="square" rtlCol="0" anchor="ctr"/>
          <a:lstStyle/>
          <a:p>
            <a:pPr algn="ctr" indent="0" marL="0">
              <a:buNone/>
            </a:pPr>
            <a:r>
              <a:rPr lang="en-US" sz="1300" b="1" dirty="0">
                <a:solidFill>
                  <a:srgbClr val="0B1E3F"/>
                </a:solidFill>
                <a:latin typeface="Calibri" pitchFamily="34" charset="0"/>
                <a:ea typeface="Calibri" pitchFamily="34" charset="-122"/>
                <a:cs typeface="Calibri" pitchFamily="34" charset="-120"/>
              </a:rPr>
              <a:t>04</a:t>
            </a:r>
            <a:endParaRPr lang="en-US" sz="1300" dirty="0"/>
          </a:p>
        </p:txBody>
      </p:sp>
      <p:sp>
        <p:nvSpPr>
          <p:cNvPr id="33" name="Text 31"/>
          <p:cNvSpPr/>
          <p:nvPr/>
        </p:nvSpPr>
        <p:spPr>
          <a:xfrm>
            <a:off x="1371600" y="4544568"/>
            <a:ext cx="2615184" cy="457200"/>
          </a:xfrm>
          <a:prstGeom prst="rect">
            <a:avLst/>
          </a:prstGeom>
          <a:noFill/>
          <a:ln/>
        </p:spPr>
        <p:txBody>
          <a:bodyPr wrap="square" rtlCol="0" anchor="ctr"/>
          <a:lstStyle/>
          <a:p>
            <a:pPr indent="0" marL="0">
              <a:buNone/>
            </a:pPr>
            <a:r>
              <a:rPr lang="en-US" sz="1500" b="1" dirty="0">
                <a:solidFill>
                  <a:srgbClr val="0B1E3F"/>
                </a:solidFill>
                <a:latin typeface="Calibri" pitchFamily="34" charset="0"/>
                <a:ea typeface="Calibri" pitchFamily="34" charset="-122"/>
                <a:cs typeface="Calibri" pitchFamily="34" charset="-120"/>
              </a:rPr>
              <a:t>Mistranslated Terminology</a:t>
            </a:r>
            <a:endParaRPr lang="en-US" sz="1500" dirty="0"/>
          </a:p>
        </p:txBody>
      </p:sp>
      <p:sp>
        <p:nvSpPr>
          <p:cNvPr id="34" name="Text 32"/>
          <p:cNvSpPr/>
          <p:nvPr/>
        </p:nvSpPr>
        <p:spPr>
          <a:xfrm>
            <a:off x="731520" y="5166360"/>
            <a:ext cx="3255264" cy="1143000"/>
          </a:xfrm>
          <a:prstGeom prst="rect">
            <a:avLst/>
          </a:prstGeom>
          <a:noFill/>
          <a:ln/>
        </p:spPr>
        <p:txBody>
          <a:bodyPr wrap="square" rtlCol="0" anchor="ctr"/>
          <a:lstStyle/>
          <a:p>
            <a:pPr indent="0" marL="0">
              <a:buNone/>
            </a:pPr>
            <a:r>
              <a:rPr lang="en-US" sz="1200" dirty="0">
                <a:solidFill>
                  <a:srgbClr val="5A6B7C"/>
                </a:solidFill>
                <a:latin typeface="Calibri" pitchFamily="34" charset="0"/>
                <a:ea typeface="Calibri" pitchFamily="34" charset="-122"/>
                <a:cs typeface="Calibri" pitchFamily="34" charset="-120"/>
              </a:rPr>
              <a:t>Tools like VPN, Azure, Outlook are translated literally and lose meaning.</a:t>
            </a:r>
            <a:endParaRPr lang="en-US" sz="1200" dirty="0"/>
          </a:p>
        </p:txBody>
      </p:sp>
      <p:sp>
        <p:nvSpPr>
          <p:cNvPr id="35" name="Shape 33"/>
          <p:cNvSpPr/>
          <p:nvPr/>
        </p:nvSpPr>
        <p:spPr>
          <a:xfrm>
            <a:off x="4306824" y="4251960"/>
            <a:ext cx="3712464" cy="2148840"/>
          </a:xfrm>
          <a:prstGeom prst="rect">
            <a:avLst/>
          </a:prstGeom>
          <a:solidFill>
            <a:srgbClr val="FFFFFF"/>
          </a:solidFill>
          <a:ln w="12700">
            <a:solidFill>
              <a:srgbClr val="D9E1EC"/>
            </a:solidFill>
            <a:prstDash val="solid"/>
          </a:ln>
        </p:spPr>
      </p:sp>
      <p:sp>
        <p:nvSpPr>
          <p:cNvPr id="36" name="Shape 34"/>
          <p:cNvSpPr/>
          <p:nvPr/>
        </p:nvSpPr>
        <p:spPr>
          <a:xfrm>
            <a:off x="4306824" y="4251960"/>
            <a:ext cx="73152" cy="2148840"/>
          </a:xfrm>
          <a:prstGeom prst="rect">
            <a:avLst/>
          </a:prstGeom>
          <a:solidFill>
            <a:srgbClr val="1FB8C9"/>
          </a:solidFill>
          <a:ln w="12700">
            <a:solidFill>
              <a:srgbClr val="1FB8C9"/>
            </a:solidFill>
            <a:prstDash val="solid"/>
          </a:ln>
        </p:spPr>
      </p:sp>
      <p:sp>
        <p:nvSpPr>
          <p:cNvPr id="37" name="Shape 35"/>
          <p:cNvSpPr/>
          <p:nvPr/>
        </p:nvSpPr>
        <p:spPr>
          <a:xfrm>
            <a:off x="4581144" y="4526280"/>
            <a:ext cx="502920" cy="502920"/>
          </a:xfrm>
          <a:prstGeom prst="ellipse">
            <a:avLst/>
          </a:prstGeom>
          <a:solidFill>
            <a:srgbClr val="F4F7FB"/>
          </a:solidFill>
          <a:ln w="12700">
            <a:solidFill>
              <a:srgbClr val="1FB8C9"/>
            </a:solidFill>
            <a:prstDash val="solid"/>
          </a:ln>
        </p:spPr>
      </p:sp>
      <p:sp>
        <p:nvSpPr>
          <p:cNvPr id="38" name="Text 36"/>
          <p:cNvSpPr/>
          <p:nvPr/>
        </p:nvSpPr>
        <p:spPr>
          <a:xfrm>
            <a:off x="4581144" y="4526280"/>
            <a:ext cx="502920" cy="502920"/>
          </a:xfrm>
          <a:prstGeom prst="rect">
            <a:avLst/>
          </a:prstGeom>
          <a:noFill/>
          <a:ln/>
        </p:spPr>
        <p:txBody>
          <a:bodyPr wrap="square" rtlCol="0" anchor="ctr"/>
          <a:lstStyle/>
          <a:p>
            <a:pPr algn="ctr" indent="0" marL="0">
              <a:buNone/>
            </a:pPr>
            <a:r>
              <a:rPr lang="en-US" sz="1300" b="1" dirty="0">
                <a:solidFill>
                  <a:srgbClr val="0B1E3F"/>
                </a:solidFill>
                <a:latin typeface="Calibri" pitchFamily="34" charset="0"/>
                <a:ea typeface="Calibri" pitchFamily="34" charset="-122"/>
                <a:cs typeface="Calibri" pitchFamily="34" charset="-120"/>
              </a:rPr>
              <a:t>05</a:t>
            </a:r>
            <a:endParaRPr lang="en-US" sz="1300" dirty="0"/>
          </a:p>
        </p:txBody>
      </p:sp>
      <p:sp>
        <p:nvSpPr>
          <p:cNvPr id="39" name="Text 37"/>
          <p:cNvSpPr/>
          <p:nvPr/>
        </p:nvSpPr>
        <p:spPr>
          <a:xfrm>
            <a:off x="5221224" y="4544568"/>
            <a:ext cx="2615184" cy="457200"/>
          </a:xfrm>
          <a:prstGeom prst="rect">
            <a:avLst/>
          </a:prstGeom>
          <a:noFill/>
          <a:ln/>
        </p:spPr>
        <p:txBody>
          <a:bodyPr wrap="square" rtlCol="0" anchor="ctr"/>
          <a:lstStyle/>
          <a:p>
            <a:pPr indent="0" marL="0">
              <a:buNone/>
            </a:pPr>
            <a:r>
              <a:rPr lang="en-US" sz="1500" b="1" dirty="0">
                <a:solidFill>
                  <a:srgbClr val="0B1E3F"/>
                </a:solidFill>
                <a:latin typeface="Calibri" pitchFamily="34" charset="0"/>
                <a:ea typeface="Calibri" pitchFamily="34" charset="-122"/>
                <a:cs typeface="Calibri" pitchFamily="34" charset="-120"/>
              </a:rPr>
              <a:t>No Ticket Intelligence</a:t>
            </a:r>
            <a:endParaRPr lang="en-US" sz="1500" dirty="0"/>
          </a:p>
        </p:txBody>
      </p:sp>
      <p:sp>
        <p:nvSpPr>
          <p:cNvPr id="40" name="Text 38"/>
          <p:cNvSpPr/>
          <p:nvPr/>
        </p:nvSpPr>
        <p:spPr>
          <a:xfrm>
            <a:off x="4581144" y="5166360"/>
            <a:ext cx="3255264" cy="1143000"/>
          </a:xfrm>
          <a:prstGeom prst="rect">
            <a:avLst/>
          </a:prstGeom>
          <a:noFill/>
          <a:ln/>
        </p:spPr>
        <p:txBody>
          <a:bodyPr wrap="square" rtlCol="0" anchor="ctr"/>
          <a:lstStyle/>
          <a:p>
            <a:pPr indent="0" marL="0">
              <a:buNone/>
            </a:pPr>
            <a:r>
              <a:rPr lang="en-US" sz="1200" dirty="0">
                <a:solidFill>
                  <a:srgbClr val="5A6B7C"/>
                </a:solidFill>
                <a:latin typeface="Calibri" pitchFamily="34" charset="0"/>
                <a:ea typeface="Calibri" pitchFamily="34" charset="-122"/>
                <a:cs typeface="Calibri" pitchFamily="34" charset="-120"/>
              </a:rPr>
              <a:t>No automatic summary, structure, or context extraction.</a:t>
            </a:r>
            <a:endParaRPr lang="en-US" sz="1200" dirty="0"/>
          </a:p>
        </p:txBody>
      </p:sp>
      <p:sp>
        <p:nvSpPr>
          <p:cNvPr id="41" name="Shape 39"/>
          <p:cNvSpPr/>
          <p:nvPr/>
        </p:nvSpPr>
        <p:spPr>
          <a:xfrm>
            <a:off x="8156448" y="4251960"/>
            <a:ext cx="3712464" cy="2148840"/>
          </a:xfrm>
          <a:prstGeom prst="rect">
            <a:avLst/>
          </a:prstGeom>
          <a:solidFill>
            <a:srgbClr val="FFFFFF"/>
          </a:solidFill>
          <a:ln w="12700">
            <a:solidFill>
              <a:srgbClr val="D9E1EC"/>
            </a:solidFill>
            <a:prstDash val="solid"/>
          </a:ln>
        </p:spPr>
      </p:sp>
      <p:sp>
        <p:nvSpPr>
          <p:cNvPr id="42" name="Shape 40"/>
          <p:cNvSpPr/>
          <p:nvPr/>
        </p:nvSpPr>
        <p:spPr>
          <a:xfrm>
            <a:off x="8156448" y="4251960"/>
            <a:ext cx="73152" cy="2148840"/>
          </a:xfrm>
          <a:prstGeom prst="rect">
            <a:avLst/>
          </a:prstGeom>
          <a:solidFill>
            <a:srgbClr val="1FB8C9"/>
          </a:solidFill>
          <a:ln w="12700">
            <a:solidFill>
              <a:srgbClr val="1FB8C9"/>
            </a:solidFill>
            <a:prstDash val="solid"/>
          </a:ln>
        </p:spPr>
      </p:sp>
      <p:sp>
        <p:nvSpPr>
          <p:cNvPr id="43" name="Shape 41"/>
          <p:cNvSpPr/>
          <p:nvPr/>
        </p:nvSpPr>
        <p:spPr>
          <a:xfrm>
            <a:off x="8430768" y="4526280"/>
            <a:ext cx="502920" cy="502920"/>
          </a:xfrm>
          <a:prstGeom prst="ellipse">
            <a:avLst/>
          </a:prstGeom>
          <a:solidFill>
            <a:srgbClr val="F4F7FB"/>
          </a:solidFill>
          <a:ln w="12700">
            <a:solidFill>
              <a:srgbClr val="1FB8C9"/>
            </a:solidFill>
            <a:prstDash val="solid"/>
          </a:ln>
        </p:spPr>
      </p:sp>
      <p:sp>
        <p:nvSpPr>
          <p:cNvPr id="44" name="Text 42"/>
          <p:cNvSpPr/>
          <p:nvPr/>
        </p:nvSpPr>
        <p:spPr>
          <a:xfrm>
            <a:off x="8430768" y="4526280"/>
            <a:ext cx="502920" cy="502920"/>
          </a:xfrm>
          <a:prstGeom prst="rect">
            <a:avLst/>
          </a:prstGeom>
          <a:noFill/>
          <a:ln/>
        </p:spPr>
        <p:txBody>
          <a:bodyPr wrap="square" rtlCol="0" anchor="ctr"/>
          <a:lstStyle/>
          <a:p>
            <a:pPr algn="ctr" indent="0" marL="0">
              <a:buNone/>
            </a:pPr>
            <a:r>
              <a:rPr lang="en-US" sz="1300" b="1" dirty="0">
                <a:solidFill>
                  <a:srgbClr val="0B1E3F"/>
                </a:solidFill>
                <a:latin typeface="Calibri" pitchFamily="34" charset="0"/>
                <a:ea typeface="Calibri" pitchFamily="34" charset="-122"/>
                <a:cs typeface="Calibri" pitchFamily="34" charset="-120"/>
              </a:rPr>
              <a:t>06</a:t>
            </a:r>
            <a:endParaRPr lang="en-US" sz="1300" dirty="0"/>
          </a:p>
        </p:txBody>
      </p:sp>
      <p:sp>
        <p:nvSpPr>
          <p:cNvPr id="45" name="Text 43"/>
          <p:cNvSpPr/>
          <p:nvPr/>
        </p:nvSpPr>
        <p:spPr>
          <a:xfrm>
            <a:off x="9070848" y="4544568"/>
            <a:ext cx="2615184" cy="457200"/>
          </a:xfrm>
          <a:prstGeom prst="rect">
            <a:avLst/>
          </a:prstGeom>
          <a:noFill/>
          <a:ln/>
        </p:spPr>
        <p:txBody>
          <a:bodyPr wrap="square" rtlCol="0" anchor="ctr"/>
          <a:lstStyle/>
          <a:p>
            <a:pPr indent="0" marL="0">
              <a:buNone/>
            </a:pPr>
            <a:r>
              <a:rPr lang="en-US" sz="1500" b="1" dirty="0">
                <a:solidFill>
                  <a:srgbClr val="0B1E3F"/>
                </a:solidFill>
                <a:latin typeface="Calibri" pitchFamily="34" charset="0"/>
                <a:ea typeface="Calibri" pitchFamily="34" charset="-122"/>
                <a:cs typeface="Calibri" pitchFamily="34" charset="-120"/>
              </a:rPr>
              <a:t>Unstructured Triage</a:t>
            </a:r>
            <a:endParaRPr lang="en-US" sz="1500" dirty="0"/>
          </a:p>
        </p:txBody>
      </p:sp>
      <p:sp>
        <p:nvSpPr>
          <p:cNvPr id="46" name="Text 44"/>
          <p:cNvSpPr/>
          <p:nvPr/>
        </p:nvSpPr>
        <p:spPr>
          <a:xfrm>
            <a:off x="8430768" y="5166360"/>
            <a:ext cx="3255264" cy="1143000"/>
          </a:xfrm>
          <a:prstGeom prst="rect">
            <a:avLst/>
          </a:prstGeom>
          <a:noFill/>
          <a:ln/>
        </p:spPr>
        <p:txBody>
          <a:bodyPr wrap="square" rtlCol="0" anchor="ctr"/>
          <a:lstStyle/>
          <a:p>
            <a:pPr indent="0" marL="0">
              <a:buNone/>
            </a:pPr>
            <a:r>
              <a:rPr lang="en-US" sz="1200" dirty="0">
                <a:solidFill>
                  <a:srgbClr val="5A6B7C"/>
                </a:solidFill>
                <a:latin typeface="Calibri" pitchFamily="34" charset="0"/>
                <a:ea typeface="Calibri" pitchFamily="34" charset="-122"/>
                <a:cs typeface="Calibri" pitchFamily="34" charset="-120"/>
              </a:rPr>
              <a:t>Category and priority are assigned manually, inconsistently.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E3F"/>
          </a:solidFill>
          <a:ln/>
        </p:spPr>
      </p:sp>
      <p:sp>
        <p:nvSpPr>
          <p:cNvPr id="3" name="Shape 1"/>
          <p:cNvSpPr/>
          <p:nvPr/>
        </p:nvSpPr>
        <p:spPr>
          <a:xfrm>
            <a:off x="0" y="502920"/>
            <a:ext cx="12191695" cy="36576"/>
          </a:xfrm>
          <a:prstGeom prst="rect">
            <a:avLst/>
          </a:prstGeom>
          <a:solidFill>
            <a:srgbClr val="1FB8C9"/>
          </a:solidFill>
          <a:ln/>
        </p:spPr>
      </p:sp>
      <p:sp>
        <p:nvSpPr>
          <p:cNvPr id="4" name="Text 2"/>
          <p:cNvSpPr/>
          <p:nvPr/>
        </p:nvSpPr>
        <p:spPr>
          <a:xfrm>
            <a:off x="365760" y="0"/>
            <a:ext cx="11430000" cy="502920"/>
          </a:xfrm>
          <a:prstGeom prst="rect">
            <a:avLst/>
          </a:prstGeom>
          <a:noFill/>
          <a:ln/>
        </p:spPr>
        <p:txBody>
          <a:bodyPr wrap="square" rtlCol="0" anchor="ctr"/>
          <a:lstStyle/>
          <a:p>
            <a:pPr indent="0" marL="0">
              <a:buNone/>
            </a:pPr>
            <a:r>
              <a:rPr lang="en-US" sz="1000" b="1" spc="300" kern="0" dirty="0">
                <a:solidFill>
                  <a:srgbClr val="FFFFFF"/>
                </a:solidFill>
                <a:latin typeface="Calibri" pitchFamily="34" charset="0"/>
                <a:ea typeface="Calibri" pitchFamily="34" charset="-122"/>
                <a:cs typeface="Calibri" pitchFamily="34" charset="-120"/>
              </a:rPr>
              <a:t>MULTILINGUAL TICKET TRANSLATOR  •  TEAM 9  •  SD-04</a:t>
            </a:r>
            <a:endParaRPr lang="en-US" sz="1000" dirty="0"/>
          </a:p>
        </p:txBody>
      </p:sp>
      <p:sp>
        <p:nvSpPr>
          <p:cNvPr id="5" name="Text 3"/>
          <p:cNvSpPr/>
          <p:nvPr/>
        </p:nvSpPr>
        <p:spPr>
          <a:xfrm>
            <a:off x="457200" y="685800"/>
            <a:ext cx="11247120" cy="320040"/>
          </a:xfrm>
          <a:prstGeom prst="rect">
            <a:avLst/>
          </a:prstGeom>
          <a:noFill/>
          <a:ln/>
        </p:spPr>
        <p:txBody>
          <a:bodyPr wrap="square" rtlCol="0" anchor="ctr"/>
          <a:lstStyle/>
          <a:p>
            <a:pPr indent="0" marL="0">
              <a:buNone/>
            </a:pPr>
            <a:r>
              <a:rPr lang="en-US" sz="1100" b="1" spc="400" kern="0" dirty="0">
                <a:solidFill>
                  <a:srgbClr val="1FB8C9"/>
                </a:solidFill>
                <a:latin typeface="Calibri" pitchFamily="34" charset="0"/>
                <a:ea typeface="Calibri" pitchFamily="34" charset="-122"/>
                <a:cs typeface="Calibri" pitchFamily="34" charset="-120"/>
              </a:rPr>
              <a:t>02 — CURRENT STATE</a:t>
            </a:r>
            <a:endParaRPr lang="en-US" sz="1100" dirty="0"/>
          </a:p>
        </p:txBody>
      </p:sp>
      <p:sp>
        <p:nvSpPr>
          <p:cNvPr id="6" name="Text 4"/>
          <p:cNvSpPr/>
          <p:nvPr/>
        </p:nvSpPr>
        <p:spPr>
          <a:xfrm>
            <a:off x="457200" y="960120"/>
            <a:ext cx="11247120" cy="640080"/>
          </a:xfrm>
          <a:prstGeom prst="rect">
            <a:avLst/>
          </a:prstGeom>
          <a:noFill/>
          <a:ln/>
        </p:spPr>
        <p:txBody>
          <a:bodyPr wrap="square" rtlCol="0" anchor="ctr"/>
          <a:lstStyle/>
          <a:p>
            <a:pPr indent="0" marL="0">
              <a:buNone/>
            </a:pPr>
            <a:r>
              <a:rPr lang="en-US" sz="3000" b="1" dirty="0">
                <a:solidFill>
                  <a:srgbClr val="0B1E3F"/>
                </a:solidFill>
                <a:latin typeface="Calibri" pitchFamily="34" charset="0"/>
                <a:ea typeface="Calibri" pitchFamily="34" charset="-122"/>
                <a:cs typeface="Calibri" pitchFamily="34" charset="-120"/>
              </a:rPr>
              <a:t>Why Traditional Ticket Handling Fails</a:t>
            </a:r>
            <a:endParaRPr lang="en-US" sz="3000" dirty="0"/>
          </a:p>
        </p:txBody>
      </p:sp>
      <p:sp>
        <p:nvSpPr>
          <p:cNvPr id="7" name="Shape 5"/>
          <p:cNvSpPr/>
          <p:nvPr/>
        </p:nvSpPr>
        <p:spPr>
          <a:xfrm>
            <a:off x="457200" y="1627632"/>
            <a:ext cx="548640" cy="54864"/>
          </a:xfrm>
          <a:prstGeom prst="rect">
            <a:avLst/>
          </a:prstGeom>
          <a:solidFill>
            <a:srgbClr val="1FB8C9"/>
          </a:solidFill>
          <a:ln w="12700">
            <a:solidFill>
              <a:srgbClr val="1FB8C9"/>
            </a:solidFill>
            <a:prstDash val="solid"/>
          </a:ln>
        </p:spPr>
      </p:sp>
      <p:sp>
        <p:nvSpPr>
          <p:cNvPr id="8" name="Shape 6"/>
          <p:cNvSpPr/>
          <p:nvPr/>
        </p:nvSpPr>
        <p:spPr>
          <a:xfrm>
            <a:off x="0" y="6675120"/>
            <a:ext cx="12191695" cy="182880"/>
          </a:xfrm>
          <a:prstGeom prst="rect">
            <a:avLst/>
          </a:prstGeom>
          <a:solidFill>
            <a:srgbClr val="F4F7FB"/>
          </a:solidFill>
          <a:ln w="12700">
            <a:solidFill>
              <a:srgbClr val="F4F7FB"/>
            </a:solidFill>
            <a:prstDash val="solid"/>
          </a:ln>
        </p:spPr>
      </p:sp>
      <p:sp>
        <p:nvSpPr>
          <p:cNvPr id="9" name="Text 7"/>
          <p:cNvSpPr/>
          <p:nvPr/>
        </p:nvSpPr>
        <p:spPr>
          <a:xfrm>
            <a:off x="365760" y="6656832"/>
            <a:ext cx="7315200" cy="201168"/>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Infinite Computer Solutions • Placement Case Study</a:t>
            </a:r>
            <a:endParaRPr lang="en-US" sz="900" dirty="0"/>
          </a:p>
        </p:txBody>
      </p:sp>
      <p:sp>
        <p:nvSpPr>
          <p:cNvPr id="10" name="Text 8"/>
          <p:cNvSpPr/>
          <p:nvPr/>
        </p:nvSpPr>
        <p:spPr>
          <a:xfrm>
            <a:off x="11247120" y="6656832"/>
            <a:ext cx="640080" cy="201168"/>
          </a:xfrm>
          <a:prstGeom prst="rect">
            <a:avLst/>
          </a:prstGeom>
          <a:noFill/>
          <a:ln/>
        </p:spPr>
        <p:txBody>
          <a:bodyPr wrap="square" rtlCol="0" anchor="ctr"/>
          <a:lstStyle/>
          <a:p>
            <a:pPr algn="r" indent="0" marL="0">
              <a:buNone/>
            </a:pPr>
            <a:r>
              <a:rPr lang="en-US" sz="900" b="1" dirty="0">
                <a:solidFill>
                  <a:srgbClr val="5A6B7C"/>
                </a:solidFill>
                <a:latin typeface="Calibri" pitchFamily="34" charset="0"/>
                <a:ea typeface="Calibri" pitchFamily="34" charset="-122"/>
                <a:cs typeface="Calibri" pitchFamily="34" charset="-120"/>
              </a:rPr>
              <a:t>3 / 15</a:t>
            </a:r>
            <a:endParaRPr lang="en-US" sz="900" dirty="0"/>
          </a:p>
        </p:txBody>
      </p:sp>
      <p:sp>
        <p:nvSpPr>
          <p:cNvPr id="11" name="Shape 9"/>
          <p:cNvSpPr/>
          <p:nvPr/>
        </p:nvSpPr>
        <p:spPr>
          <a:xfrm>
            <a:off x="457200" y="1920240"/>
            <a:ext cx="7132320" cy="493776"/>
          </a:xfrm>
          <a:prstGeom prst="rect">
            <a:avLst/>
          </a:prstGeom>
          <a:solidFill>
            <a:srgbClr val="F4F7FB"/>
          </a:solidFill>
          <a:ln w="6350">
            <a:solidFill>
              <a:srgbClr val="D9E1EC"/>
            </a:solidFill>
            <a:prstDash val="solid"/>
          </a:ln>
        </p:spPr>
      </p:sp>
      <p:sp>
        <p:nvSpPr>
          <p:cNvPr id="12" name="Shape 10"/>
          <p:cNvSpPr/>
          <p:nvPr/>
        </p:nvSpPr>
        <p:spPr>
          <a:xfrm>
            <a:off x="457200" y="1920240"/>
            <a:ext cx="54864" cy="493776"/>
          </a:xfrm>
          <a:prstGeom prst="rect">
            <a:avLst/>
          </a:prstGeom>
          <a:solidFill>
            <a:srgbClr val="1FB8C9"/>
          </a:solidFill>
          <a:ln w="12700">
            <a:solidFill>
              <a:srgbClr val="1FB8C9"/>
            </a:solidFill>
            <a:prstDash val="solid"/>
          </a:ln>
        </p:spPr>
      </p:sp>
      <p:sp>
        <p:nvSpPr>
          <p:cNvPr id="13" name="Text 11"/>
          <p:cNvSpPr/>
          <p:nvPr/>
        </p:nvSpPr>
        <p:spPr>
          <a:xfrm>
            <a:off x="640080" y="1920240"/>
            <a:ext cx="457200" cy="493776"/>
          </a:xfrm>
          <a:prstGeom prst="rect">
            <a:avLst/>
          </a:prstGeom>
          <a:noFill/>
          <a:ln/>
        </p:spPr>
        <p:txBody>
          <a:bodyPr wrap="square" rtlCol="0" anchor="ctr"/>
          <a:lstStyle/>
          <a:p>
            <a:pP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14" name="Text 12"/>
          <p:cNvSpPr/>
          <p:nvPr/>
        </p:nvSpPr>
        <p:spPr>
          <a:xfrm>
            <a:off x="1097280" y="1920240"/>
            <a:ext cx="2194560" cy="493776"/>
          </a:xfrm>
          <a:prstGeom prst="rect">
            <a:avLst/>
          </a:prstGeom>
          <a:noFill/>
          <a:ln/>
        </p:spPr>
        <p:txBody>
          <a:bodyPr wrap="square" rtlCol="0" anchor="ctr"/>
          <a:lstStyle/>
          <a:p>
            <a:pPr indent="0" marL="0">
              <a:buNone/>
            </a:pPr>
            <a:r>
              <a:rPr lang="en-US" sz="1300" b="1" dirty="0">
                <a:solidFill>
                  <a:srgbClr val="0B1E3F"/>
                </a:solidFill>
                <a:latin typeface="Calibri" pitchFamily="34" charset="0"/>
                <a:ea typeface="Calibri" pitchFamily="34" charset="-122"/>
                <a:cs typeface="Calibri" pitchFamily="34" charset="-120"/>
              </a:rPr>
              <a:t>Manual Interpretation</a:t>
            </a:r>
            <a:endParaRPr lang="en-US" sz="1300" dirty="0"/>
          </a:p>
        </p:txBody>
      </p:sp>
      <p:sp>
        <p:nvSpPr>
          <p:cNvPr id="15" name="Text 13"/>
          <p:cNvSpPr/>
          <p:nvPr/>
        </p:nvSpPr>
        <p:spPr>
          <a:xfrm>
            <a:off x="3291840" y="1920240"/>
            <a:ext cx="4206240" cy="493776"/>
          </a:xfrm>
          <a:prstGeom prst="rect">
            <a:avLst/>
          </a:prstGeom>
          <a:noFill/>
          <a:ln/>
        </p:spPr>
        <p:txBody>
          <a:bodyPr wrap="square" rtlCol="0" anchor="ctr"/>
          <a:lstStyle/>
          <a:p>
            <a:pPr indent="0" marL="0">
              <a:buNone/>
            </a:pPr>
            <a:r>
              <a:rPr lang="en-US" sz="1100" dirty="0">
                <a:solidFill>
                  <a:srgbClr val="5A6B7C"/>
                </a:solidFill>
                <a:latin typeface="Calibri" pitchFamily="34" charset="0"/>
                <a:ea typeface="Calibri" pitchFamily="34" charset="-122"/>
                <a:cs typeface="Calibri" pitchFamily="34" charset="-120"/>
              </a:rPr>
              <a:t>Human-dependent translation, prone to fatigue and error.</a:t>
            </a:r>
            <a:endParaRPr lang="en-US" sz="1100" dirty="0"/>
          </a:p>
        </p:txBody>
      </p:sp>
      <p:sp>
        <p:nvSpPr>
          <p:cNvPr id="16" name="Shape 14"/>
          <p:cNvSpPr/>
          <p:nvPr/>
        </p:nvSpPr>
        <p:spPr>
          <a:xfrm>
            <a:off x="457200" y="2487168"/>
            <a:ext cx="7132320" cy="493776"/>
          </a:xfrm>
          <a:prstGeom prst="rect">
            <a:avLst/>
          </a:prstGeom>
          <a:solidFill>
            <a:srgbClr val="FFFFFF"/>
          </a:solidFill>
          <a:ln w="6350">
            <a:solidFill>
              <a:srgbClr val="D9E1EC"/>
            </a:solidFill>
            <a:prstDash val="solid"/>
          </a:ln>
        </p:spPr>
      </p:sp>
      <p:sp>
        <p:nvSpPr>
          <p:cNvPr id="17" name="Shape 15"/>
          <p:cNvSpPr/>
          <p:nvPr/>
        </p:nvSpPr>
        <p:spPr>
          <a:xfrm>
            <a:off x="457200" y="2487168"/>
            <a:ext cx="54864" cy="493776"/>
          </a:xfrm>
          <a:prstGeom prst="rect">
            <a:avLst/>
          </a:prstGeom>
          <a:solidFill>
            <a:srgbClr val="1FB8C9"/>
          </a:solidFill>
          <a:ln w="12700">
            <a:solidFill>
              <a:srgbClr val="1FB8C9"/>
            </a:solidFill>
            <a:prstDash val="solid"/>
          </a:ln>
        </p:spPr>
      </p:sp>
      <p:sp>
        <p:nvSpPr>
          <p:cNvPr id="18" name="Text 16"/>
          <p:cNvSpPr/>
          <p:nvPr/>
        </p:nvSpPr>
        <p:spPr>
          <a:xfrm>
            <a:off x="640080" y="2487168"/>
            <a:ext cx="457200" cy="493776"/>
          </a:xfrm>
          <a:prstGeom prst="rect">
            <a:avLst/>
          </a:prstGeom>
          <a:noFill/>
          <a:ln/>
        </p:spPr>
        <p:txBody>
          <a:bodyPr wrap="square" rtlCol="0" anchor="ctr"/>
          <a:lstStyle/>
          <a:p>
            <a:pP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19" name="Text 17"/>
          <p:cNvSpPr/>
          <p:nvPr/>
        </p:nvSpPr>
        <p:spPr>
          <a:xfrm>
            <a:off x="1097280" y="2487168"/>
            <a:ext cx="2194560" cy="493776"/>
          </a:xfrm>
          <a:prstGeom prst="rect">
            <a:avLst/>
          </a:prstGeom>
          <a:noFill/>
          <a:ln/>
        </p:spPr>
        <p:txBody>
          <a:bodyPr wrap="square" rtlCol="0" anchor="ctr"/>
          <a:lstStyle/>
          <a:p>
            <a:pPr indent="0" marL="0">
              <a:buNone/>
            </a:pPr>
            <a:r>
              <a:rPr lang="en-US" sz="1300" b="1" dirty="0">
                <a:solidFill>
                  <a:srgbClr val="0B1E3F"/>
                </a:solidFill>
                <a:latin typeface="Calibri" pitchFamily="34" charset="0"/>
                <a:ea typeface="Calibri" pitchFamily="34" charset="-122"/>
                <a:cs typeface="Calibri" pitchFamily="34" charset="-120"/>
              </a:rPr>
              <a:t>Language Barriers</a:t>
            </a:r>
            <a:endParaRPr lang="en-US" sz="1300" dirty="0"/>
          </a:p>
        </p:txBody>
      </p:sp>
      <p:sp>
        <p:nvSpPr>
          <p:cNvPr id="20" name="Text 18"/>
          <p:cNvSpPr/>
          <p:nvPr/>
        </p:nvSpPr>
        <p:spPr>
          <a:xfrm>
            <a:off x="3291840" y="2487168"/>
            <a:ext cx="4206240" cy="493776"/>
          </a:xfrm>
          <a:prstGeom prst="rect">
            <a:avLst/>
          </a:prstGeom>
          <a:noFill/>
          <a:ln/>
        </p:spPr>
        <p:txBody>
          <a:bodyPr wrap="square" rtlCol="0" anchor="ctr"/>
          <a:lstStyle/>
          <a:p>
            <a:pPr indent="0" marL="0">
              <a:buNone/>
            </a:pPr>
            <a:r>
              <a:rPr lang="en-US" sz="1100" dirty="0">
                <a:solidFill>
                  <a:srgbClr val="5A6B7C"/>
                </a:solidFill>
                <a:latin typeface="Calibri" pitchFamily="34" charset="0"/>
                <a:ea typeface="Calibri" pitchFamily="34" charset="-122"/>
                <a:cs typeface="Calibri" pitchFamily="34" charset="-120"/>
              </a:rPr>
              <a:t>No native handling of regional Indian languages.</a:t>
            </a:r>
            <a:endParaRPr lang="en-US" sz="1100" dirty="0"/>
          </a:p>
        </p:txBody>
      </p:sp>
      <p:sp>
        <p:nvSpPr>
          <p:cNvPr id="21" name="Shape 19"/>
          <p:cNvSpPr/>
          <p:nvPr/>
        </p:nvSpPr>
        <p:spPr>
          <a:xfrm>
            <a:off x="457200" y="3054096"/>
            <a:ext cx="7132320" cy="493776"/>
          </a:xfrm>
          <a:prstGeom prst="rect">
            <a:avLst/>
          </a:prstGeom>
          <a:solidFill>
            <a:srgbClr val="F4F7FB"/>
          </a:solidFill>
          <a:ln w="6350">
            <a:solidFill>
              <a:srgbClr val="D9E1EC"/>
            </a:solidFill>
            <a:prstDash val="solid"/>
          </a:ln>
        </p:spPr>
      </p:sp>
      <p:sp>
        <p:nvSpPr>
          <p:cNvPr id="22" name="Shape 20"/>
          <p:cNvSpPr/>
          <p:nvPr/>
        </p:nvSpPr>
        <p:spPr>
          <a:xfrm>
            <a:off x="457200" y="3054096"/>
            <a:ext cx="54864" cy="493776"/>
          </a:xfrm>
          <a:prstGeom prst="rect">
            <a:avLst/>
          </a:prstGeom>
          <a:solidFill>
            <a:srgbClr val="1FB8C9"/>
          </a:solidFill>
          <a:ln w="12700">
            <a:solidFill>
              <a:srgbClr val="1FB8C9"/>
            </a:solidFill>
            <a:prstDash val="solid"/>
          </a:ln>
        </p:spPr>
      </p:sp>
      <p:sp>
        <p:nvSpPr>
          <p:cNvPr id="23" name="Text 21"/>
          <p:cNvSpPr/>
          <p:nvPr/>
        </p:nvSpPr>
        <p:spPr>
          <a:xfrm>
            <a:off x="640080" y="3054096"/>
            <a:ext cx="457200" cy="493776"/>
          </a:xfrm>
          <a:prstGeom prst="rect">
            <a:avLst/>
          </a:prstGeom>
          <a:noFill/>
          <a:ln/>
        </p:spPr>
        <p:txBody>
          <a:bodyPr wrap="square" rtlCol="0" anchor="ctr"/>
          <a:lstStyle/>
          <a:p>
            <a:pP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24" name="Text 22"/>
          <p:cNvSpPr/>
          <p:nvPr/>
        </p:nvSpPr>
        <p:spPr>
          <a:xfrm>
            <a:off x="1097280" y="3054096"/>
            <a:ext cx="2194560" cy="493776"/>
          </a:xfrm>
          <a:prstGeom prst="rect">
            <a:avLst/>
          </a:prstGeom>
          <a:noFill/>
          <a:ln/>
        </p:spPr>
        <p:txBody>
          <a:bodyPr wrap="square" rtlCol="0" anchor="ctr"/>
          <a:lstStyle/>
          <a:p>
            <a:pPr indent="0" marL="0">
              <a:buNone/>
            </a:pPr>
            <a:r>
              <a:rPr lang="en-US" sz="1300" b="1" dirty="0">
                <a:solidFill>
                  <a:srgbClr val="0B1E3F"/>
                </a:solidFill>
                <a:latin typeface="Calibri" pitchFamily="34" charset="0"/>
                <a:ea typeface="Calibri" pitchFamily="34" charset="-122"/>
                <a:cs typeface="Calibri" pitchFamily="34" charset="-120"/>
              </a:rPr>
              <a:t>Delayed Response Times</a:t>
            </a:r>
            <a:endParaRPr lang="en-US" sz="1300" dirty="0"/>
          </a:p>
        </p:txBody>
      </p:sp>
      <p:sp>
        <p:nvSpPr>
          <p:cNvPr id="25" name="Text 23"/>
          <p:cNvSpPr/>
          <p:nvPr/>
        </p:nvSpPr>
        <p:spPr>
          <a:xfrm>
            <a:off x="3291840" y="3054096"/>
            <a:ext cx="4206240" cy="493776"/>
          </a:xfrm>
          <a:prstGeom prst="rect">
            <a:avLst/>
          </a:prstGeom>
          <a:noFill/>
          <a:ln/>
        </p:spPr>
        <p:txBody>
          <a:bodyPr wrap="square" rtlCol="0" anchor="ctr"/>
          <a:lstStyle/>
          <a:p>
            <a:pPr indent="0" marL="0">
              <a:buNone/>
            </a:pPr>
            <a:r>
              <a:rPr lang="en-US" sz="1100" dirty="0">
                <a:solidFill>
                  <a:srgbClr val="5A6B7C"/>
                </a:solidFill>
                <a:latin typeface="Calibri" pitchFamily="34" charset="0"/>
                <a:ea typeface="Calibri" pitchFamily="34" charset="-122"/>
                <a:cs typeface="Calibri" pitchFamily="34" charset="-120"/>
              </a:rPr>
              <a:t>SLA breaches caused by translation queue backlogs.</a:t>
            </a:r>
            <a:endParaRPr lang="en-US" sz="1100" dirty="0"/>
          </a:p>
        </p:txBody>
      </p:sp>
      <p:sp>
        <p:nvSpPr>
          <p:cNvPr id="26" name="Shape 24"/>
          <p:cNvSpPr/>
          <p:nvPr/>
        </p:nvSpPr>
        <p:spPr>
          <a:xfrm>
            <a:off x="457200" y="3621024"/>
            <a:ext cx="7132320" cy="493776"/>
          </a:xfrm>
          <a:prstGeom prst="rect">
            <a:avLst/>
          </a:prstGeom>
          <a:solidFill>
            <a:srgbClr val="FFFFFF"/>
          </a:solidFill>
          <a:ln w="6350">
            <a:solidFill>
              <a:srgbClr val="D9E1EC"/>
            </a:solidFill>
            <a:prstDash val="solid"/>
          </a:ln>
        </p:spPr>
      </p:sp>
      <p:sp>
        <p:nvSpPr>
          <p:cNvPr id="27" name="Shape 25"/>
          <p:cNvSpPr/>
          <p:nvPr/>
        </p:nvSpPr>
        <p:spPr>
          <a:xfrm>
            <a:off x="457200" y="3621024"/>
            <a:ext cx="54864" cy="493776"/>
          </a:xfrm>
          <a:prstGeom prst="rect">
            <a:avLst/>
          </a:prstGeom>
          <a:solidFill>
            <a:srgbClr val="1FB8C9"/>
          </a:solidFill>
          <a:ln w="12700">
            <a:solidFill>
              <a:srgbClr val="1FB8C9"/>
            </a:solidFill>
            <a:prstDash val="solid"/>
          </a:ln>
        </p:spPr>
      </p:sp>
      <p:sp>
        <p:nvSpPr>
          <p:cNvPr id="28" name="Text 26"/>
          <p:cNvSpPr/>
          <p:nvPr/>
        </p:nvSpPr>
        <p:spPr>
          <a:xfrm>
            <a:off x="640080" y="3621024"/>
            <a:ext cx="457200" cy="493776"/>
          </a:xfrm>
          <a:prstGeom prst="rect">
            <a:avLst/>
          </a:prstGeom>
          <a:noFill/>
          <a:ln/>
        </p:spPr>
        <p:txBody>
          <a:bodyPr wrap="square" rtlCol="0" anchor="ctr"/>
          <a:lstStyle/>
          <a:p>
            <a:pP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29" name="Text 27"/>
          <p:cNvSpPr/>
          <p:nvPr/>
        </p:nvSpPr>
        <p:spPr>
          <a:xfrm>
            <a:off x="1097280" y="3621024"/>
            <a:ext cx="2194560" cy="493776"/>
          </a:xfrm>
          <a:prstGeom prst="rect">
            <a:avLst/>
          </a:prstGeom>
          <a:noFill/>
          <a:ln/>
        </p:spPr>
        <p:txBody>
          <a:bodyPr wrap="square" rtlCol="0" anchor="ctr"/>
          <a:lstStyle/>
          <a:p>
            <a:pPr indent="0" marL="0">
              <a:buNone/>
            </a:pPr>
            <a:r>
              <a:rPr lang="en-US" sz="1300" b="1" dirty="0">
                <a:solidFill>
                  <a:srgbClr val="0B1E3F"/>
                </a:solidFill>
                <a:latin typeface="Calibri" pitchFamily="34" charset="0"/>
                <a:ea typeface="Calibri" pitchFamily="34" charset="-122"/>
                <a:cs typeface="Calibri" pitchFamily="34" charset="-120"/>
              </a:rPr>
              <a:t>Inconsistent Quality</a:t>
            </a:r>
            <a:endParaRPr lang="en-US" sz="1300" dirty="0"/>
          </a:p>
        </p:txBody>
      </p:sp>
      <p:sp>
        <p:nvSpPr>
          <p:cNvPr id="30" name="Text 28"/>
          <p:cNvSpPr/>
          <p:nvPr/>
        </p:nvSpPr>
        <p:spPr>
          <a:xfrm>
            <a:off x="3291840" y="3621024"/>
            <a:ext cx="4206240" cy="493776"/>
          </a:xfrm>
          <a:prstGeom prst="rect">
            <a:avLst/>
          </a:prstGeom>
          <a:noFill/>
          <a:ln/>
        </p:spPr>
        <p:txBody>
          <a:bodyPr wrap="square" rtlCol="0" anchor="ctr"/>
          <a:lstStyle/>
          <a:p>
            <a:pPr indent="0" marL="0">
              <a:buNone/>
            </a:pPr>
            <a:r>
              <a:rPr lang="en-US" sz="1100" dirty="0">
                <a:solidFill>
                  <a:srgbClr val="5A6B7C"/>
                </a:solidFill>
                <a:latin typeface="Calibri" pitchFamily="34" charset="0"/>
                <a:ea typeface="Calibri" pitchFamily="34" charset="-122"/>
                <a:cs typeface="Calibri" pitchFamily="34" charset="-120"/>
              </a:rPr>
              <a:t>Same issue described differently across tickets.</a:t>
            </a:r>
            <a:endParaRPr lang="en-US" sz="1100" dirty="0"/>
          </a:p>
        </p:txBody>
      </p:sp>
      <p:sp>
        <p:nvSpPr>
          <p:cNvPr id="31" name="Shape 29"/>
          <p:cNvSpPr/>
          <p:nvPr/>
        </p:nvSpPr>
        <p:spPr>
          <a:xfrm>
            <a:off x="457200" y="4187952"/>
            <a:ext cx="7132320" cy="493776"/>
          </a:xfrm>
          <a:prstGeom prst="rect">
            <a:avLst/>
          </a:prstGeom>
          <a:solidFill>
            <a:srgbClr val="F4F7FB"/>
          </a:solidFill>
          <a:ln w="6350">
            <a:solidFill>
              <a:srgbClr val="D9E1EC"/>
            </a:solidFill>
            <a:prstDash val="solid"/>
          </a:ln>
        </p:spPr>
      </p:sp>
      <p:sp>
        <p:nvSpPr>
          <p:cNvPr id="32" name="Shape 30"/>
          <p:cNvSpPr/>
          <p:nvPr/>
        </p:nvSpPr>
        <p:spPr>
          <a:xfrm>
            <a:off x="457200" y="4187952"/>
            <a:ext cx="54864" cy="493776"/>
          </a:xfrm>
          <a:prstGeom prst="rect">
            <a:avLst/>
          </a:prstGeom>
          <a:solidFill>
            <a:srgbClr val="1FB8C9"/>
          </a:solidFill>
          <a:ln w="12700">
            <a:solidFill>
              <a:srgbClr val="1FB8C9"/>
            </a:solidFill>
            <a:prstDash val="solid"/>
          </a:ln>
        </p:spPr>
      </p:sp>
      <p:sp>
        <p:nvSpPr>
          <p:cNvPr id="33" name="Text 31"/>
          <p:cNvSpPr/>
          <p:nvPr/>
        </p:nvSpPr>
        <p:spPr>
          <a:xfrm>
            <a:off x="640080" y="4187952"/>
            <a:ext cx="457200" cy="493776"/>
          </a:xfrm>
          <a:prstGeom prst="rect">
            <a:avLst/>
          </a:prstGeom>
          <a:noFill/>
          <a:ln/>
        </p:spPr>
        <p:txBody>
          <a:bodyPr wrap="square" rtlCol="0" anchor="ctr"/>
          <a:lstStyle/>
          <a:p>
            <a:pP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34" name="Text 32"/>
          <p:cNvSpPr/>
          <p:nvPr/>
        </p:nvSpPr>
        <p:spPr>
          <a:xfrm>
            <a:off x="1097280" y="4187952"/>
            <a:ext cx="2194560" cy="493776"/>
          </a:xfrm>
          <a:prstGeom prst="rect">
            <a:avLst/>
          </a:prstGeom>
          <a:noFill/>
          <a:ln/>
        </p:spPr>
        <p:txBody>
          <a:bodyPr wrap="square" rtlCol="0" anchor="ctr"/>
          <a:lstStyle/>
          <a:p>
            <a:pPr indent="0" marL="0">
              <a:buNone/>
            </a:pPr>
            <a:r>
              <a:rPr lang="en-US" sz="1300" b="1" dirty="0">
                <a:solidFill>
                  <a:srgbClr val="0B1E3F"/>
                </a:solidFill>
                <a:latin typeface="Calibri" pitchFamily="34" charset="0"/>
                <a:ea typeface="Calibri" pitchFamily="34" charset="-122"/>
                <a:cs typeface="Calibri" pitchFamily="34" charset="-120"/>
              </a:rPr>
              <a:t>No Summarization</a:t>
            </a:r>
            <a:endParaRPr lang="en-US" sz="1300" dirty="0"/>
          </a:p>
        </p:txBody>
      </p:sp>
      <p:sp>
        <p:nvSpPr>
          <p:cNvPr id="35" name="Text 33"/>
          <p:cNvSpPr/>
          <p:nvPr/>
        </p:nvSpPr>
        <p:spPr>
          <a:xfrm>
            <a:off x="3291840" y="4187952"/>
            <a:ext cx="4206240" cy="493776"/>
          </a:xfrm>
          <a:prstGeom prst="rect">
            <a:avLst/>
          </a:prstGeom>
          <a:noFill/>
          <a:ln/>
        </p:spPr>
        <p:txBody>
          <a:bodyPr wrap="square" rtlCol="0" anchor="ctr"/>
          <a:lstStyle/>
          <a:p>
            <a:pPr indent="0" marL="0">
              <a:buNone/>
            </a:pPr>
            <a:r>
              <a:rPr lang="en-US" sz="1100" dirty="0">
                <a:solidFill>
                  <a:srgbClr val="5A6B7C"/>
                </a:solidFill>
                <a:latin typeface="Calibri" pitchFamily="34" charset="0"/>
                <a:ea typeface="Calibri" pitchFamily="34" charset="-122"/>
                <a:cs typeface="Calibri" pitchFamily="34" charset="-120"/>
              </a:rPr>
              <a:t>Engineers re-read long tickets to extract intent.</a:t>
            </a:r>
            <a:endParaRPr lang="en-US" sz="1100" dirty="0"/>
          </a:p>
        </p:txBody>
      </p:sp>
      <p:sp>
        <p:nvSpPr>
          <p:cNvPr id="36" name="Shape 34"/>
          <p:cNvSpPr/>
          <p:nvPr/>
        </p:nvSpPr>
        <p:spPr>
          <a:xfrm>
            <a:off x="457200" y="4754880"/>
            <a:ext cx="7132320" cy="493776"/>
          </a:xfrm>
          <a:prstGeom prst="rect">
            <a:avLst/>
          </a:prstGeom>
          <a:solidFill>
            <a:srgbClr val="FFFFFF"/>
          </a:solidFill>
          <a:ln w="6350">
            <a:solidFill>
              <a:srgbClr val="D9E1EC"/>
            </a:solidFill>
            <a:prstDash val="solid"/>
          </a:ln>
        </p:spPr>
      </p:sp>
      <p:sp>
        <p:nvSpPr>
          <p:cNvPr id="37" name="Shape 35"/>
          <p:cNvSpPr/>
          <p:nvPr/>
        </p:nvSpPr>
        <p:spPr>
          <a:xfrm>
            <a:off x="457200" y="4754880"/>
            <a:ext cx="54864" cy="493776"/>
          </a:xfrm>
          <a:prstGeom prst="rect">
            <a:avLst/>
          </a:prstGeom>
          <a:solidFill>
            <a:srgbClr val="1FB8C9"/>
          </a:solidFill>
          <a:ln w="12700">
            <a:solidFill>
              <a:srgbClr val="1FB8C9"/>
            </a:solidFill>
            <a:prstDash val="solid"/>
          </a:ln>
        </p:spPr>
      </p:sp>
      <p:sp>
        <p:nvSpPr>
          <p:cNvPr id="38" name="Text 36"/>
          <p:cNvSpPr/>
          <p:nvPr/>
        </p:nvSpPr>
        <p:spPr>
          <a:xfrm>
            <a:off x="640080" y="4754880"/>
            <a:ext cx="457200" cy="493776"/>
          </a:xfrm>
          <a:prstGeom prst="rect">
            <a:avLst/>
          </a:prstGeom>
          <a:noFill/>
          <a:ln/>
        </p:spPr>
        <p:txBody>
          <a:bodyPr wrap="square" rtlCol="0" anchor="ctr"/>
          <a:lstStyle/>
          <a:p>
            <a:pP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39" name="Text 37"/>
          <p:cNvSpPr/>
          <p:nvPr/>
        </p:nvSpPr>
        <p:spPr>
          <a:xfrm>
            <a:off x="1097280" y="4754880"/>
            <a:ext cx="2194560" cy="493776"/>
          </a:xfrm>
          <a:prstGeom prst="rect">
            <a:avLst/>
          </a:prstGeom>
          <a:noFill/>
          <a:ln/>
        </p:spPr>
        <p:txBody>
          <a:bodyPr wrap="square" rtlCol="0" anchor="ctr"/>
          <a:lstStyle/>
          <a:p>
            <a:pPr indent="0" marL="0">
              <a:buNone/>
            </a:pPr>
            <a:r>
              <a:rPr lang="en-US" sz="1300" b="1" dirty="0">
                <a:solidFill>
                  <a:srgbClr val="0B1E3F"/>
                </a:solidFill>
                <a:latin typeface="Calibri" pitchFamily="34" charset="0"/>
                <a:ea typeface="Calibri" pitchFamily="34" charset="-122"/>
                <a:cs typeface="Calibri" pitchFamily="34" charset="-120"/>
              </a:rPr>
              <a:t>No Auto-Classification</a:t>
            </a:r>
            <a:endParaRPr lang="en-US" sz="1300" dirty="0"/>
          </a:p>
        </p:txBody>
      </p:sp>
      <p:sp>
        <p:nvSpPr>
          <p:cNvPr id="40" name="Text 38"/>
          <p:cNvSpPr/>
          <p:nvPr/>
        </p:nvSpPr>
        <p:spPr>
          <a:xfrm>
            <a:off x="3291840" y="4754880"/>
            <a:ext cx="4206240" cy="493776"/>
          </a:xfrm>
          <a:prstGeom prst="rect">
            <a:avLst/>
          </a:prstGeom>
          <a:noFill/>
          <a:ln/>
        </p:spPr>
        <p:txBody>
          <a:bodyPr wrap="square" rtlCol="0" anchor="ctr"/>
          <a:lstStyle/>
          <a:p>
            <a:pPr indent="0" marL="0">
              <a:buNone/>
            </a:pPr>
            <a:r>
              <a:rPr lang="en-US" sz="1100" dirty="0">
                <a:solidFill>
                  <a:srgbClr val="5A6B7C"/>
                </a:solidFill>
                <a:latin typeface="Calibri" pitchFamily="34" charset="0"/>
                <a:ea typeface="Calibri" pitchFamily="34" charset="-122"/>
                <a:cs typeface="Calibri" pitchFamily="34" charset="-120"/>
              </a:rPr>
              <a:t>Category and priority depend on agent judgment.</a:t>
            </a:r>
            <a:endParaRPr lang="en-US" sz="1100" dirty="0"/>
          </a:p>
        </p:txBody>
      </p:sp>
      <p:sp>
        <p:nvSpPr>
          <p:cNvPr id="41" name="Shape 39"/>
          <p:cNvSpPr/>
          <p:nvPr/>
        </p:nvSpPr>
        <p:spPr>
          <a:xfrm>
            <a:off x="457200" y="5321808"/>
            <a:ext cx="7132320" cy="493776"/>
          </a:xfrm>
          <a:prstGeom prst="rect">
            <a:avLst/>
          </a:prstGeom>
          <a:solidFill>
            <a:srgbClr val="F4F7FB"/>
          </a:solidFill>
          <a:ln w="6350">
            <a:solidFill>
              <a:srgbClr val="D9E1EC"/>
            </a:solidFill>
            <a:prstDash val="solid"/>
          </a:ln>
        </p:spPr>
      </p:sp>
      <p:sp>
        <p:nvSpPr>
          <p:cNvPr id="42" name="Shape 40"/>
          <p:cNvSpPr/>
          <p:nvPr/>
        </p:nvSpPr>
        <p:spPr>
          <a:xfrm>
            <a:off x="457200" y="5321808"/>
            <a:ext cx="54864" cy="493776"/>
          </a:xfrm>
          <a:prstGeom prst="rect">
            <a:avLst/>
          </a:prstGeom>
          <a:solidFill>
            <a:srgbClr val="1FB8C9"/>
          </a:solidFill>
          <a:ln w="12700">
            <a:solidFill>
              <a:srgbClr val="1FB8C9"/>
            </a:solidFill>
            <a:prstDash val="solid"/>
          </a:ln>
        </p:spPr>
      </p:sp>
      <p:sp>
        <p:nvSpPr>
          <p:cNvPr id="43" name="Text 41"/>
          <p:cNvSpPr/>
          <p:nvPr/>
        </p:nvSpPr>
        <p:spPr>
          <a:xfrm>
            <a:off x="640080" y="5321808"/>
            <a:ext cx="457200" cy="493776"/>
          </a:xfrm>
          <a:prstGeom prst="rect">
            <a:avLst/>
          </a:prstGeom>
          <a:noFill/>
          <a:ln/>
        </p:spPr>
        <p:txBody>
          <a:bodyPr wrap="square" rtlCol="0" anchor="ctr"/>
          <a:lstStyle/>
          <a:p>
            <a:pP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44" name="Text 42"/>
          <p:cNvSpPr/>
          <p:nvPr/>
        </p:nvSpPr>
        <p:spPr>
          <a:xfrm>
            <a:off x="1097280" y="5321808"/>
            <a:ext cx="2194560" cy="493776"/>
          </a:xfrm>
          <a:prstGeom prst="rect">
            <a:avLst/>
          </a:prstGeom>
          <a:noFill/>
          <a:ln/>
        </p:spPr>
        <p:txBody>
          <a:bodyPr wrap="square" rtlCol="0" anchor="ctr"/>
          <a:lstStyle/>
          <a:p>
            <a:pPr indent="0" marL="0">
              <a:buNone/>
            </a:pPr>
            <a:r>
              <a:rPr lang="en-US" sz="1300" b="1" dirty="0">
                <a:solidFill>
                  <a:srgbClr val="0B1E3F"/>
                </a:solidFill>
                <a:latin typeface="Calibri" pitchFamily="34" charset="0"/>
                <a:ea typeface="Calibri" pitchFamily="34" charset="-122"/>
                <a:cs typeface="Calibri" pitchFamily="34" charset="-120"/>
              </a:rPr>
              <a:t>High Operational Cost</a:t>
            </a:r>
            <a:endParaRPr lang="en-US" sz="1300" dirty="0"/>
          </a:p>
        </p:txBody>
      </p:sp>
      <p:sp>
        <p:nvSpPr>
          <p:cNvPr id="45" name="Text 43"/>
          <p:cNvSpPr/>
          <p:nvPr/>
        </p:nvSpPr>
        <p:spPr>
          <a:xfrm>
            <a:off x="3291840" y="5321808"/>
            <a:ext cx="4206240" cy="493776"/>
          </a:xfrm>
          <a:prstGeom prst="rect">
            <a:avLst/>
          </a:prstGeom>
          <a:noFill/>
          <a:ln/>
        </p:spPr>
        <p:txBody>
          <a:bodyPr wrap="square" rtlCol="0" anchor="ctr"/>
          <a:lstStyle/>
          <a:p>
            <a:pPr indent="0" marL="0">
              <a:buNone/>
            </a:pPr>
            <a:r>
              <a:rPr lang="en-US" sz="1100" dirty="0">
                <a:solidFill>
                  <a:srgbClr val="5A6B7C"/>
                </a:solidFill>
                <a:latin typeface="Calibri" pitchFamily="34" charset="0"/>
                <a:ea typeface="Calibri" pitchFamily="34" charset="-122"/>
                <a:cs typeface="Calibri" pitchFamily="34" charset="-120"/>
              </a:rPr>
              <a:t>Bilingual staff and rework inflate cost-per-ticket.</a:t>
            </a:r>
            <a:endParaRPr lang="en-US" sz="1100" dirty="0"/>
          </a:p>
        </p:txBody>
      </p:sp>
      <p:sp>
        <p:nvSpPr>
          <p:cNvPr id="46" name="Shape 44"/>
          <p:cNvSpPr/>
          <p:nvPr/>
        </p:nvSpPr>
        <p:spPr>
          <a:xfrm>
            <a:off x="7818120" y="1920240"/>
            <a:ext cx="3931920" cy="4114800"/>
          </a:xfrm>
          <a:prstGeom prst="rect">
            <a:avLst/>
          </a:prstGeom>
          <a:solidFill>
            <a:srgbClr val="0B1E3F"/>
          </a:solidFill>
          <a:ln w="12700">
            <a:solidFill>
              <a:srgbClr val="0B1E3F"/>
            </a:solidFill>
            <a:prstDash val="solid"/>
          </a:ln>
        </p:spPr>
      </p:sp>
      <p:sp>
        <p:nvSpPr>
          <p:cNvPr id="47" name="Shape 45"/>
          <p:cNvSpPr/>
          <p:nvPr/>
        </p:nvSpPr>
        <p:spPr>
          <a:xfrm>
            <a:off x="7818120" y="1920240"/>
            <a:ext cx="3931920" cy="73152"/>
          </a:xfrm>
          <a:prstGeom prst="rect">
            <a:avLst/>
          </a:prstGeom>
          <a:solidFill>
            <a:srgbClr val="1FB8C9"/>
          </a:solidFill>
          <a:ln w="12700">
            <a:solidFill>
              <a:srgbClr val="1FB8C9"/>
            </a:solidFill>
            <a:prstDash val="solid"/>
          </a:ln>
        </p:spPr>
      </p:sp>
      <p:sp>
        <p:nvSpPr>
          <p:cNvPr id="48" name="Text 46"/>
          <p:cNvSpPr/>
          <p:nvPr/>
        </p:nvSpPr>
        <p:spPr>
          <a:xfrm>
            <a:off x="8001000" y="2103120"/>
            <a:ext cx="3657600" cy="320040"/>
          </a:xfrm>
          <a:prstGeom prst="rect">
            <a:avLst/>
          </a:prstGeom>
          <a:noFill/>
          <a:ln/>
        </p:spPr>
        <p:txBody>
          <a:bodyPr wrap="square" rtlCol="0" anchor="ctr"/>
          <a:lstStyle/>
          <a:p>
            <a:pPr indent="0" marL="0">
              <a:buNone/>
            </a:pPr>
            <a:r>
              <a:rPr lang="en-US" sz="1100" b="1" spc="400" kern="0" dirty="0">
                <a:solidFill>
                  <a:srgbClr val="1FB8C9"/>
                </a:solidFill>
                <a:latin typeface="Calibri" pitchFamily="34" charset="0"/>
                <a:ea typeface="Calibri" pitchFamily="34" charset="-122"/>
                <a:cs typeface="Calibri" pitchFamily="34" charset="-120"/>
              </a:rPr>
              <a:t>THE HIDDEN COST</a:t>
            </a:r>
            <a:endParaRPr lang="en-US" sz="1100" dirty="0"/>
          </a:p>
        </p:txBody>
      </p:sp>
      <p:sp>
        <p:nvSpPr>
          <p:cNvPr id="49" name="Text 47"/>
          <p:cNvSpPr/>
          <p:nvPr/>
        </p:nvSpPr>
        <p:spPr>
          <a:xfrm>
            <a:off x="8001000" y="2468880"/>
            <a:ext cx="3657600" cy="914400"/>
          </a:xfrm>
          <a:prstGeom prst="rect">
            <a:avLst/>
          </a:prstGeom>
          <a:noFill/>
          <a:ln/>
        </p:spPr>
        <p:txBody>
          <a:bodyPr wrap="square"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30 min</a:t>
            </a:r>
            <a:endParaRPr lang="en-US" sz="4800" dirty="0"/>
          </a:p>
        </p:txBody>
      </p:sp>
      <p:sp>
        <p:nvSpPr>
          <p:cNvPr id="50" name="Text 48"/>
          <p:cNvSpPr/>
          <p:nvPr/>
        </p:nvSpPr>
        <p:spPr>
          <a:xfrm>
            <a:off x="8001000" y="3383280"/>
            <a:ext cx="3657600" cy="548640"/>
          </a:xfrm>
          <a:prstGeom prst="rect">
            <a:avLst/>
          </a:prstGeom>
          <a:noFill/>
          <a:ln/>
        </p:spPr>
        <p:txBody>
          <a:bodyPr wrap="square" rtlCol="0" anchor="ctr"/>
          <a:lstStyle/>
          <a:p>
            <a:pPr indent="0" marL="0">
              <a:buNone/>
            </a:pPr>
            <a:r>
              <a:rPr lang="en-US" sz="1200" dirty="0">
                <a:solidFill>
                  <a:srgbClr val="C7D3E8"/>
                </a:solidFill>
                <a:latin typeface="Calibri" pitchFamily="34" charset="0"/>
                <a:ea typeface="Calibri" pitchFamily="34" charset="-122"/>
                <a:cs typeface="Calibri" pitchFamily="34" charset="-120"/>
              </a:rPr>
              <a:t>average manual translation overhead per multilingual ticket</a:t>
            </a:r>
            <a:endParaRPr lang="en-US" sz="1200" dirty="0"/>
          </a:p>
        </p:txBody>
      </p:sp>
      <p:sp>
        <p:nvSpPr>
          <p:cNvPr id="51" name="Shape 49"/>
          <p:cNvSpPr/>
          <p:nvPr/>
        </p:nvSpPr>
        <p:spPr>
          <a:xfrm>
            <a:off x="8001000" y="4069080"/>
            <a:ext cx="914400" cy="0"/>
          </a:xfrm>
          <a:prstGeom prst="line">
            <a:avLst/>
          </a:prstGeom>
          <a:noFill/>
          <a:ln w="25400">
            <a:solidFill>
              <a:srgbClr val="1FB8C9"/>
            </a:solidFill>
            <a:prstDash val="solid"/>
          </a:ln>
        </p:spPr>
      </p:sp>
      <p:sp>
        <p:nvSpPr>
          <p:cNvPr id="52" name="Text 50"/>
          <p:cNvSpPr/>
          <p:nvPr/>
        </p:nvSpPr>
        <p:spPr>
          <a:xfrm>
            <a:off x="8001000" y="4160520"/>
            <a:ext cx="3657600" cy="73152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3×</a:t>
            </a:r>
            <a:endParaRPr lang="en-US" sz="3600" dirty="0"/>
          </a:p>
        </p:txBody>
      </p:sp>
      <p:sp>
        <p:nvSpPr>
          <p:cNvPr id="53" name="Text 51"/>
          <p:cNvSpPr/>
          <p:nvPr/>
        </p:nvSpPr>
        <p:spPr>
          <a:xfrm>
            <a:off x="8001000" y="4937760"/>
            <a:ext cx="3657600" cy="822960"/>
          </a:xfrm>
          <a:prstGeom prst="rect">
            <a:avLst/>
          </a:prstGeom>
          <a:noFill/>
          <a:ln/>
        </p:spPr>
        <p:txBody>
          <a:bodyPr wrap="square" rtlCol="0" anchor="ctr"/>
          <a:lstStyle/>
          <a:p>
            <a:pPr indent="0" marL="0">
              <a:buNone/>
            </a:pPr>
            <a:r>
              <a:rPr lang="en-US" sz="1200" dirty="0">
                <a:solidFill>
                  <a:srgbClr val="C7D3E8"/>
                </a:solidFill>
                <a:latin typeface="Calibri" pitchFamily="34" charset="0"/>
                <a:ea typeface="Calibri" pitchFamily="34" charset="-122"/>
                <a:cs typeface="Calibri" pitchFamily="34" charset="-120"/>
              </a:rPr>
              <a:t>higher cost-per-ticket when bilingual staff handle triage manually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E3F"/>
          </a:solidFill>
          <a:ln/>
        </p:spPr>
      </p:sp>
      <p:sp>
        <p:nvSpPr>
          <p:cNvPr id="3" name="Shape 1"/>
          <p:cNvSpPr/>
          <p:nvPr/>
        </p:nvSpPr>
        <p:spPr>
          <a:xfrm>
            <a:off x="0" y="502920"/>
            <a:ext cx="12191695" cy="36576"/>
          </a:xfrm>
          <a:prstGeom prst="rect">
            <a:avLst/>
          </a:prstGeom>
          <a:solidFill>
            <a:srgbClr val="1FB8C9"/>
          </a:solidFill>
          <a:ln/>
        </p:spPr>
      </p:sp>
      <p:sp>
        <p:nvSpPr>
          <p:cNvPr id="4" name="Text 2"/>
          <p:cNvSpPr/>
          <p:nvPr/>
        </p:nvSpPr>
        <p:spPr>
          <a:xfrm>
            <a:off x="365760" y="0"/>
            <a:ext cx="11430000" cy="502920"/>
          </a:xfrm>
          <a:prstGeom prst="rect">
            <a:avLst/>
          </a:prstGeom>
          <a:noFill/>
          <a:ln/>
        </p:spPr>
        <p:txBody>
          <a:bodyPr wrap="square" rtlCol="0" anchor="ctr"/>
          <a:lstStyle/>
          <a:p>
            <a:pPr indent="0" marL="0">
              <a:buNone/>
            </a:pPr>
            <a:r>
              <a:rPr lang="en-US" sz="1000" b="1" spc="300" kern="0" dirty="0">
                <a:solidFill>
                  <a:srgbClr val="FFFFFF"/>
                </a:solidFill>
                <a:latin typeface="Calibri" pitchFamily="34" charset="0"/>
                <a:ea typeface="Calibri" pitchFamily="34" charset="-122"/>
                <a:cs typeface="Calibri" pitchFamily="34" charset="-120"/>
              </a:rPr>
              <a:t>MULTILINGUAL TICKET TRANSLATOR  •  TEAM 9  •  SD-04</a:t>
            </a:r>
            <a:endParaRPr lang="en-US" sz="1000" dirty="0"/>
          </a:p>
        </p:txBody>
      </p:sp>
      <p:sp>
        <p:nvSpPr>
          <p:cNvPr id="5" name="Text 3"/>
          <p:cNvSpPr/>
          <p:nvPr/>
        </p:nvSpPr>
        <p:spPr>
          <a:xfrm>
            <a:off x="457200" y="685800"/>
            <a:ext cx="11247120" cy="320040"/>
          </a:xfrm>
          <a:prstGeom prst="rect">
            <a:avLst/>
          </a:prstGeom>
          <a:noFill/>
          <a:ln/>
        </p:spPr>
        <p:txBody>
          <a:bodyPr wrap="square" rtlCol="0" anchor="ctr"/>
          <a:lstStyle/>
          <a:p>
            <a:pPr indent="0" marL="0">
              <a:buNone/>
            </a:pPr>
            <a:r>
              <a:rPr lang="en-US" sz="1100" b="1" spc="400" kern="0" dirty="0">
                <a:solidFill>
                  <a:srgbClr val="1FB8C9"/>
                </a:solidFill>
                <a:latin typeface="Calibri" pitchFamily="34" charset="0"/>
                <a:ea typeface="Calibri" pitchFamily="34" charset="-122"/>
                <a:cs typeface="Calibri" pitchFamily="34" charset="-120"/>
              </a:rPr>
              <a:t>03 — OUR SOLUTION</a:t>
            </a:r>
            <a:endParaRPr lang="en-US" sz="1100" dirty="0"/>
          </a:p>
        </p:txBody>
      </p:sp>
      <p:sp>
        <p:nvSpPr>
          <p:cNvPr id="6" name="Text 4"/>
          <p:cNvSpPr/>
          <p:nvPr/>
        </p:nvSpPr>
        <p:spPr>
          <a:xfrm>
            <a:off x="457200" y="960120"/>
            <a:ext cx="11247120" cy="640080"/>
          </a:xfrm>
          <a:prstGeom prst="rect">
            <a:avLst/>
          </a:prstGeom>
          <a:noFill/>
          <a:ln/>
        </p:spPr>
        <p:txBody>
          <a:bodyPr wrap="square" rtlCol="0" anchor="ctr"/>
          <a:lstStyle/>
          <a:p>
            <a:pPr indent="0" marL="0">
              <a:buNone/>
            </a:pPr>
            <a:r>
              <a:rPr lang="en-US" sz="3000" b="1" dirty="0">
                <a:solidFill>
                  <a:srgbClr val="0B1E3F"/>
                </a:solidFill>
                <a:latin typeface="Calibri" pitchFamily="34" charset="0"/>
                <a:ea typeface="Calibri" pitchFamily="34" charset="-122"/>
                <a:cs typeface="Calibri" pitchFamily="34" charset="-120"/>
              </a:rPr>
              <a:t>AI-Powered Multilingual Ticket Processing</a:t>
            </a:r>
            <a:endParaRPr lang="en-US" sz="3000" dirty="0"/>
          </a:p>
        </p:txBody>
      </p:sp>
      <p:sp>
        <p:nvSpPr>
          <p:cNvPr id="7" name="Shape 5"/>
          <p:cNvSpPr/>
          <p:nvPr/>
        </p:nvSpPr>
        <p:spPr>
          <a:xfrm>
            <a:off x="457200" y="1627632"/>
            <a:ext cx="548640" cy="54864"/>
          </a:xfrm>
          <a:prstGeom prst="rect">
            <a:avLst/>
          </a:prstGeom>
          <a:solidFill>
            <a:srgbClr val="1FB8C9"/>
          </a:solidFill>
          <a:ln w="12700">
            <a:solidFill>
              <a:srgbClr val="1FB8C9"/>
            </a:solidFill>
            <a:prstDash val="solid"/>
          </a:ln>
        </p:spPr>
      </p:sp>
      <p:sp>
        <p:nvSpPr>
          <p:cNvPr id="8" name="Shape 6"/>
          <p:cNvSpPr/>
          <p:nvPr/>
        </p:nvSpPr>
        <p:spPr>
          <a:xfrm>
            <a:off x="0" y="6675120"/>
            <a:ext cx="12191695" cy="182880"/>
          </a:xfrm>
          <a:prstGeom prst="rect">
            <a:avLst/>
          </a:prstGeom>
          <a:solidFill>
            <a:srgbClr val="F4F7FB"/>
          </a:solidFill>
          <a:ln w="12700">
            <a:solidFill>
              <a:srgbClr val="F4F7FB"/>
            </a:solidFill>
            <a:prstDash val="solid"/>
          </a:ln>
        </p:spPr>
      </p:sp>
      <p:sp>
        <p:nvSpPr>
          <p:cNvPr id="9" name="Text 7"/>
          <p:cNvSpPr/>
          <p:nvPr/>
        </p:nvSpPr>
        <p:spPr>
          <a:xfrm>
            <a:off x="365760" y="6656832"/>
            <a:ext cx="7315200" cy="201168"/>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Infinite Computer Solutions • Placement Case Study</a:t>
            </a:r>
            <a:endParaRPr lang="en-US" sz="900" dirty="0"/>
          </a:p>
        </p:txBody>
      </p:sp>
      <p:sp>
        <p:nvSpPr>
          <p:cNvPr id="10" name="Text 8"/>
          <p:cNvSpPr/>
          <p:nvPr/>
        </p:nvSpPr>
        <p:spPr>
          <a:xfrm>
            <a:off x="11247120" y="6656832"/>
            <a:ext cx="640080" cy="201168"/>
          </a:xfrm>
          <a:prstGeom prst="rect">
            <a:avLst/>
          </a:prstGeom>
          <a:noFill/>
          <a:ln/>
        </p:spPr>
        <p:txBody>
          <a:bodyPr wrap="square" rtlCol="0" anchor="ctr"/>
          <a:lstStyle/>
          <a:p>
            <a:pPr algn="r" indent="0" marL="0">
              <a:buNone/>
            </a:pPr>
            <a:r>
              <a:rPr lang="en-US" sz="900" b="1" dirty="0">
                <a:solidFill>
                  <a:srgbClr val="5A6B7C"/>
                </a:solidFill>
                <a:latin typeface="Calibri" pitchFamily="34" charset="0"/>
                <a:ea typeface="Calibri" pitchFamily="34" charset="-122"/>
                <a:cs typeface="Calibri" pitchFamily="34" charset="-120"/>
              </a:rPr>
              <a:t>4 / 15</a:t>
            </a:r>
            <a:endParaRPr lang="en-US" sz="900" dirty="0"/>
          </a:p>
        </p:txBody>
      </p:sp>
      <p:sp>
        <p:nvSpPr>
          <p:cNvPr id="11" name="Shape 9"/>
          <p:cNvSpPr/>
          <p:nvPr/>
        </p:nvSpPr>
        <p:spPr>
          <a:xfrm>
            <a:off x="457200" y="1920240"/>
            <a:ext cx="3712464" cy="1645920"/>
          </a:xfrm>
          <a:prstGeom prst="rect">
            <a:avLst/>
          </a:prstGeom>
          <a:solidFill>
            <a:srgbClr val="FFFFFF"/>
          </a:solidFill>
          <a:ln w="12700">
            <a:solidFill>
              <a:srgbClr val="D9E1EC"/>
            </a:solidFill>
            <a:prstDash val="solid"/>
          </a:ln>
        </p:spPr>
      </p:sp>
      <p:sp>
        <p:nvSpPr>
          <p:cNvPr id="12" name="Shape 10"/>
          <p:cNvSpPr/>
          <p:nvPr/>
        </p:nvSpPr>
        <p:spPr>
          <a:xfrm>
            <a:off x="457200" y="3511296"/>
            <a:ext cx="3712464" cy="54864"/>
          </a:xfrm>
          <a:prstGeom prst="rect">
            <a:avLst/>
          </a:prstGeom>
          <a:solidFill>
            <a:srgbClr val="1FB8C9"/>
          </a:solidFill>
          <a:ln w="12700">
            <a:solidFill>
              <a:srgbClr val="1FB8C9"/>
            </a:solidFill>
            <a:prstDash val="solid"/>
          </a:ln>
        </p:spPr>
      </p:sp>
      <p:sp>
        <p:nvSpPr>
          <p:cNvPr id="13" name="Shape 11"/>
          <p:cNvSpPr/>
          <p:nvPr/>
        </p:nvSpPr>
        <p:spPr>
          <a:xfrm>
            <a:off x="685800" y="2148840"/>
            <a:ext cx="640080" cy="640080"/>
          </a:xfrm>
          <a:prstGeom prst="roundRect">
            <a:avLst>
              <a:gd name="adj" fmla="val 14286"/>
            </a:avLst>
          </a:prstGeom>
          <a:solidFill>
            <a:srgbClr val="0B1E3F"/>
          </a:solidFill>
          <a:ln w="12700">
            <a:solidFill>
              <a:srgbClr val="0B1E3F"/>
            </a:solidFill>
            <a:prstDash val="solid"/>
          </a:ln>
        </p:spPr>
      </p:sp>
      <p:sp>
        <p:nvSpPr>
          <p:cNvPr id="14" name="Text 12"/>
          <p:cNvSpPr/>
          <p:nvPr/>
        </p:nvSpPr>
        <p:spPr>
          <a:xfrm>
            <a:off x="685800" y="2148840"/>
            <a:ext cx="640080" cy="640080"/>
          </a:xfrm>
          <a:prstGeom prst="rect">
            <a:avLst/>
          </a:prstGeom>
          <a:noFill/>
          <a:ln/>
        </p:spPr>
        <p:txBody>
          <a:bodyPr wrap="square" rtlCol="0" anchor="ctr"/>
          <a:lstStyle/>
          <a:p>
            <a:pPr algn="ctr" indent="0" marL="0">
              <a:buNone/>
            </a:pPr>
            <a:r>
              <a:rPr lang="en-US" sz="2200" dirty="0">
                <a:solidFill>
                  <a:srgbClr val="FFFFFF"/>
                </a:solidFill>
              </a:rPr>
              <a:t>🤖</a:t>
            </a:r>
            <a:endParaRPr lang="en-US" sz="2200" dirty="0"/>
          </a:p>
        </p:txBody>
      </p:sp>
      <p:sp>
        <p:nvSpPr>
          <p:cNvPr id="15" name="Text 13"/>
          <p:cNvSpPr/>
          <p:nvPr/>
        </p:nvSpPr>
        <p:spPr>
          <a:xfrm>
            <a:off x="1463040" y="2194560"/>
            <a:ext cx="2615184" cy="457200"/>
          </a:xfrm>
          <a:prstGeom prst="rect">
            <a:avLst/>
          </a:prstGeom>
          <a:noFill/>
          <a:ln/>
        </p:spPr>
        <p:txBody>
          <a:bodyPr wrap="square" rtlCol="0" anchor="ctr"/>
          <a:lstStyle/>
          <a:p>
            <a:pPr indent="0" marL="0">
              <a:buNone/>
            </a:pPr>
            <a:r>
              <a:rPr lang="en-US" sz="1400" b="1" dirty="0">
                <a:solidFill>
                  <a:srgbClr val="0B1E3F"/>
                </a:solidFill>
                <a:latin typeface="Calibri" pitchFamily="34" charset="0"/>
                <a:ea typeface="Calibri" pitchFamily="34" charset="-122"/>
                <a:cs typeface="Calibri" pitchFamily="34" charset="-120"/>
              </a:rPr>
              <a:t>AI Ticket Agent</a:t>
            </a:r>
            <a:endParaRPr lang="en-US" sz="1400" dirty="0"/>
          </a:p>
        </p:txBody>
      </p:sp>
      <p:sp>
        <p:nvSpPr>
          <p:cNvPr id="16" name="Text 14"/>
          <p:cNvSpPr/>
          <p:nvPr/>
        </p:nvSpPr>
        <p:spPr>
          <a:xfrm>
            <a:off x="731520" y="2880360"/>
            <a:ext cx="3255264" cy="640080"/>
          </a:xfrm>
          <a:prstGeom prst="rect">
            <a:avLst/>
          </a:prstGeom>
          <a:noFill/>
          <a:ln/>
        </p:spPr>
        <p:txBody>
          <a:bodyPr wrap="square" rtlCol="0" anchor="ctr"/>
          <a:lstStyle/>
          <a:p>
            <a:pPr indent="0" marL="0">
              <a:buNone/>
            </a:pPr>
            <a:r>
              <a:rPr lang="en-US" sz="1100" dirty="0">
                <a:solidFill>
                  <a:srgbClr val="5A6B7C"/>
                </a:solidFill>
                <a:latin typeface="Calibri" pitchFamily="34" charset="0"/>
                <a:ea typeface="Calibri" pitchFamily="34" charset="-122"/>
                <a:cs typeface="Calibri" pitchFamily="34" charset="-120"/>
              </a:rPr>
              <a:t>LLM-based ticket understanding and enrichment.</a:t>
            </a:r>
            <a:endParaRPr lang="en-US" sz="1100" dirty="0"/>
          </a:p>
        </p:txBody>
      </p:sp>
      <p:sp>
        <p:nvSpPr>
          <p:cNvPr id="17" name="Shape 15"/>
          <p:cNvSpPr/>
          <p:nvPr/>
        </p:nvSpPr>
        <p:spPr>
          <a:xfrm>
            <a:off x="4306824" y="1920240"/>
            <a:ext cx="3712464" cy="1645920"/>
          </a:xfrm>
          <a:prstGeom prst="rect">
            <a:avLst/>
          </a:prstGeom>
          <a:solidFill>
            <a:srgbClr val="FFFFFF"/>
          </a:solidFill>
          <a:ln w="12700">
            <a:solidFill>
              <a:srgbClr val="D9E1EC"/>
            </a:solidFill>
            <a:prstDash val="solid"/>
          </a:ln>
        </p:spPr>
      </p:sp>
      <p:sp>
        <p:nvSpPr>
          <p:cNvPr id="18" name="Shape 16"/>
          <p:cNvSpPr/>
          <p:nvPr/>
        </p:nvSpPr>
        <p:spPr>
          <a:xfrm>
            <a:off x="4306824" y="3511296"/>
            <a:ext cx="3712464" cy="54864"/>
          </a:xfrm>
          <a:prstGeom prst="rect">
            <a:avLst/>
          </a:prstGeom>
          <a:solidFill>
            <a:srgbClr val="1FB8C9"/>
          </a:solidFill>
          <a:ln w="12700">
            <a:solidFill>
              <a:srgbClr val="1FB8C9"/>
            </a:solidFill>
            <a:prstDash val="solid"/>
          </a:ln>
        </p:spPr>
      </p:sp>
      <p:sp>
        <p:nvSpPr>
          <p:cNvPr id="19" name="Shape 17"/>
          <p:cNvSpPr/>
          <p:nvPr/>
        </p:nvSpPr>
        <p:spPr>
          <a:xfrm>
            <a:off x="4535424" y="2148840"/>
            <a:ext cx="640080" cy="640080"/>
          </a:xfrm>
          <a:prstGeom prst="roundRect">
            <a:avLst>
              <a:gd name="adj" fmla="val 14286"/>
            </a:avLst>
          </a:prstGeom>
          <a:solidFill>
            <a:srgbClr val="0B1E3F"/>
          </a:solidFill>
          <a:ln w="12700">
            <a:solidFill>
              <a:srgbClr val="0B1E3F"/>
            </a:solidFill>
            <a:prstDash val="solid"/>
          </a:ln>
        </p:spPr>
      </p:sp>
      <p:sp>
        <p:nvSpPr>
          <p:cNvPr id="20" name="Text 18"/>
          <p:cNvSpPr/>
          <p:nvPr/>
        </p:nvSpPr>
        <p:spPr>
          <a:xfrm>
            <a:off x="4535424" y="2148840"/>
            <a:ext cx="640080" cy="640080"/>
          </a:xfrm>
          <a:prstGeom prst="rect">
            <a:avLst/>
          </a:prstGeom>
          <a:noFill/>
          <a:ln/>
        </p:spPr>
        <p:txBody>
          <a:bodyPr wrap="square" rtlCol="0" anchor="ctr"/>
          <a:lstStyle/>
          <a:p>
            <a:pPr algn="ctr" indent="0" marL="0">
              <a:buNone/>
            </a:pPr>
            <a:r>
              <a:rPr lang="en-US" sz="2200" dirty="0">
                <a:solidFill>
                  <a:srgbClr val="FFFFFF"/>
                </a:solidFill>
              </a:rPr>
              <a:t>🌐</a:t>
            </a:r>
            <a:endParaRPr lang="en-US" sz="2200" dirty="0"/>
          </a:p>
        </p:txBody>
      </p:sp>
      <p:sp>
        <p:nvSpPr>
          <p:cNvPr id="21" name="Text 19"/>
          <p:cNvSpPr/>
          <p:nvPr/>
        </p:nvSpPr>
        <p:spPr>
          <a:xfrm>
            <a:off x="5312664" y="2194560"/>
            <a:ext cx="2615184" cy="457200"/>
          </a:xfrm>
          <a:prstGeom prst="rect">
            <a:avLst/>
          </a:prstGeom>
          <a:noFill/>
          <a:ln/>
        </p:spPr>
        <p:txBody>
          <a:bodyPr wrap="square" rtlCol="0" anchor="ctr"/>
          <a:lstStyle/>
          <a:p>
            <a:pPr indent="0" marL="0">
              <a:buNone/>
            </a:pPr>
            <a:r>
              <a:rPr lang="en-US" sz="1400" b="1" dirty="0">
                <a:solidFill>
                  <a:srgbClr val="0B1E3F"/>
                </a:solidFill>
                <a:latin typeface="Calibri" pitchFamily="34" charset="0"/>
                <a:ea typeface="Calibri" pitchFamily="34" charset="-122"/>
                <a:cs typeface="Calibri" pitchFamily="34" charset="-120"/>
              </a:rPr>
              <a:t>Language Detection</a:t>
            </a:r>
            <a:endParaRPr lang="en-US" sz="1400" dirty="0"/>
          </a:p>
        </p:txBody>
      </p:sp>
      <p:sp>
        <p:nvSpPr>
          <p:cNvPr id="22" name="Text 20"/>
          <p:cNvSpPr/>
          <p:nvPr/>
        </p:nvSpPr>
        <p:spPr>
          <a:xfrm>
            <a:off x="4581144" y="2880360"/>
            <a:ext cx="3255264" cy="640080"/>
          </a:xfrm>
          <a:prstGeom prst="rect">
            <a:avLst/>
          </a:prstGeom>
          <a:noFill/>
          <a:ln/>
        </p:spPr>
        <p:txBody>
          <a:bodyPr wrap="square" rtlCol="0" anchor="ctr"/>
          <a:lstStyle/>
          <a:p>
            <a:pPr indent="0" marL="0">
              <a:buNone/>
            </a:pPr>
            <a:r>
              <a:rPr lang="en-US" sz="1100" dirty="0">
                <a:solidFill>
                  <a:srgbClr val="5A6B7C"/>
                </a:solidFill>
                <a:latin typeface="Calibri" pitchFamily="34" charset="0"/>
                <a:ea typeface="Calibri" pitchFamily="34" charset="-122"/>
                <a:cs typeface="Calibri" pitchFamily="34" charset="-120"/>
              </a:rPr>
              <a:t>Auto-detects Telugu, Hindi, Tamil, Kannada, English.</a:t>
            </a:r>
            <a:endParaRPr lang="en-US" sz="1100" dirty="0"/>
          </a:p>
        </p:txBody>
      </p:sp>
      <p:sp>
        <p:nvSpPr>
          <p:cNvPr id="23" name="Shape 21"/>
          <p:cNvSpPr/>
          <p:nvPr/>
        </p:nvSpPr>
        <p:spPr>
          <a:xfrm>
            <a:off x="8156448" y="1920240"/>
            <a:ext cx="3712464" cy="1645920"/>
          </a:xfrm>
          <a:prstGeom prst="rect">
            <a:avLst/>
          </a:prstGeom>
          <a:solidFill>
            <a:srgbClr val="FFFFFF"/>
          </a:solidFill>
          <a:ln w="12700">
            <a:solidFill>
              <a:srgbClr val="D9E1EC"/>
            </a:solidFill>
            <a:prstDash val="solid"/>
          </a:ln>
        </p:spPr>
      </p:sp>
      <p:sp>
        <p:nvSpPr>
          <p:cNvPr id="24" name="Shape 22"/>
          <p:cNvSpPr/>
          <p:nvPr/>
        </p:nvSpPr>
        <p:spPr>
          <a:xfrm>
            <a:off x="8156448" y="3511296"/>
            <a:ext cx="3712464" cy="54864"/>
          </a:xfrm>
          <a:prstGeom prst="rect">
            <a:avLst/>
          </a:prstGeom>
          <a:solidFill>
            <a:srgbClr val="1FB8C9"/>
          </a:solidFill>
          <a:ln w="12700">
            <a:solidFill>
              <a:srgbClr val="1FB8C9"/>
            </a:solidFill>
            <a:prstDash val="solid"/>
          </a:ln>
        </p:spPr>
      </p:sp>
      <p:sp>
        <p:nvSpPr>
          <p:cNvPr id="25" name="Shape 23"/>
          <p:cNvSpPr/>
          <p:nvPr/>
        </p:nvSpPr>
        <p:spPr>
          <a:xfrm>
            <a:off x="8385048" y="2148840"/>
            <a:ext cx="640080" cy="640080"/>
          </a:xfrm>
          <a:prstGeom prst="roundRect">
            <a:avLst>
              <a:gd name="adj" fmla="val 14286"/>
            </a:avLst>
          </a:prstGeom>
          <a:solidFill>
            <a:srgbClr val="0B1E3F"/>
          </a:solidFill>
          <a:ln w="12700">
            <a:solidFill>
              <a:srgbClr val="0B1E3F"/>
            </a:solidFill>
            <a:prstDash val="solid"/>
          </a:ln>
        </p:spPr>
      </p:sp>
      <p:sp>
        <p:nvSpPr>
          <p:cNvPr id="26" name="Text 24"/>
          <p:cNvSpPr/>
          <p:nvPr/>
        </p:nvSpPr>
        <p:spPr>
          <a:xfrm>
            <a:off x="8385048" y="2148840"/>
            <a:ext cx="640080" cy="640080"/>
          </a:xfrm>
          <a:prstGeom prst="rect">
            <a:avLst/>
          </a:prstGeom>
          <a:noFill/>
          <a:ln/>
        </p:spPr>
        <p:txBody>
          <a:bodyPr wrap="square" rtlCol="0" anchor="ctr"/>
          <a:lstStyle/>
          <a:p>
            <a:pPr algn="ctr" indent="0" marL="0">
              <a:buNone/>
            </a:pPr>
            <a:r>
              <a:rPr lang="en-US" sz="2200" dirty="0">
                <a:solidFill>
                  <a:srgbClr val="FFFFFF"/>
                </a:solidFill>
              </a:rPr>
              <a:t>🔒</a:t>
            </a:r>
            <a:endParaRPr lang="en-US" sz="2200" dirty="0"/>
          </a:p>
        </p:txBody>
      </p:sp>
      <p:sp>
        <p:nvSpPr>
          <p:cNvPr id="27" name="Text 25"/>
          <p:cNvSpPr/>
          <p:nvPr/>
        </p:nvSpPr>
        <p:spPr>
          <a:xfrm>
            <a:off x="9162288" y="2194560"/>
            <a:ext cx="2615184" cy="457200"/>
          </a:xfrm>
          <a:prstGeom prst="rect">
            <a:avLst/>
          </a:prstGeom>
          <a:noFill/>
          <a:ln/>
        </p:spPr>
        <p:txBody>
          <a:bodyPr wrap="square" rtlCol="0" anchor="ctr"/>
          <a:lstStyle/>
          <a:p>
            <a:pPr indent="0" marL="0">
              <a:buNone/>
            </a:pPr>
            <a:r>
              <a:rPr lang="en-US" sz="1400" b="1" dirty="0">
                <a:solidFill>
                  <a:srgbClr val="0B1E3F"/>
                </a:solidFill>
                <a:latin typeface="Calibri" pitchFamily="34" charset="0"/>
                <a:ea typeface="Calibri" pitchFamily="34" charset="-122"/>
                <a:cs typeface="Calibri" pitchFamily="34" charset="-120"/>
              </a:rPr>
              <a:t>Glossary-Aware Translate</a:t>
            </a:r>
            <a:endParaRPr lang="en-US" sz="1400" dirty="0"/>
          </a:p>
        </p:txBody>
      </p:sp>
      <p:sp>
        <p:nvSpPr>
          <p:cNvPr id="28" name="Text 26"/>
          <p:cNvSpPr/>
          <p:nvPr/>
        </p:nvSpPr>
        <p:spPr>
          <a:xfrm>
            <a:off x="8430768" y="2880360"/>
            <a:ext cx="3255264" cy="640080"/>
          </a:xfrm>
          <a:prstGeom prst="rect">
            <a:avLst/>
          </a:prstGeom>
          <a:noFill/>
          <a:ln/>
        </p:spPr>
        <p:txBody>
          <a:bodyPr wrap="square" rtlCol="0" anchor="ctr"/>
          <a:lstStyle/>
          <a:p>
            <a:pPr indent="0" marL="0">
              <a:buNone/>
            </a:pPr>
            <a:r>
              <a:rPr lang="en-US" sz="1100" dirty="0">
                <a:solidFill>
                  <a:srgbClr val="5A6B7C"/>
                </a:solidFill>
                <a:latin typeface="Calibri" pitchFamily="34" charset="0"/>
                <a:ea typeface="Calibri" pitchFamily="34" charset="-122"/>
                <a:cs typeface="Calibri" pitchFamily="34" charset="-120"/>
              </a:rPr>
              <a:t>Protects VPN, Azure, Outlook and other IT terms.</a:t>
            </a:r>
            <a:endParaRPr lang="en-US" sz="1100" dirty="0"/>
          </a:p>
        </p:txBody>
      </p:sp>
      <p:sp>
        <p:nvSpPr>
          <p:cNvPr id="29" name="Shape 27"/>
          <p:cNvSpPr/>
          <p:nvPr/>
        </p:nvSpPr>
        <p:spPr>
          <a:xfrm>
            <a:off x="457200" y="3703320"/>
            <a:ext cx="3712464" cy="1645920"/>
          </a:xfrm>
          <a:prstGeom prst="rect">
            <a:avLst/>
          </a:prstGeom>
          <a:solidFill>
            <a:srgbClr val="FFFFFF"/>
          </a:solidFill>
          <a:ln w="12700">
            <a:solidFill>
              <a:srgbClr val="D9E1EC"/>
            </a:solidFill>
            <a:prstDash val="solid"/>
          </a:ln>
        </p:spPr>
      </p:sp>
      <p:sp>
        <p:nvSpPr>
          <p:cNvPr id="30" name="Shape 28"/>
          <p:cNvSpPr/>
          <p:nvPr/>
        </p:nvSpPr>
        <p:spPr>
          <a:xfrm>
            <a:off x="457200" y="5294376"/>
            <a:ext cx="3712464" cy="54864"/>
          </a:xfrm>
          <a:prstGeom prst="rect">
            <a:avLst/>
          </a:prstGeom>
          <a:solidFill>
            <a:srgbClr val="1FB8C9"/>
          </a:solidFill>
          <a:ln w="12700">
            <a:solidFill>
              <a:srgbClr val="1FB8C9"/>
            </a:solidFill>
            <a:prstDash val="solid"/>
          </a:ln>
        </p:spPr>
      </p:sp>
      <p:sp>
        <p:nvSpPr>
          <p:cNvPr id="31" name="Shape 29"/>
          <p:cNvSpPr/>
          <p:nvPr/>
        </p:nvSpPr>
        <p:spPr>
          <a:xfrm>
            <a:off x="685800" y="3931920"/>
            <a:ext cx="640080" cy="640080"/>
          </a:xfrm>
          <a:prstGeom prst="roundRect">
            <a:avLst>
              <a:gd name="adj" fmla="val 14286"/>
            </a:avLst>
          </a:prstGeom>
          <a:solidFill>
            <a:srgbClr val="0B1E3F"/>
          </a:solidFill>
          <a:ln w="12700">
            <a:solidFill>
              <a:srgbClr val="0B1E3F"/>
            </a:solidFill>
            <a:prstDash val="solid"/>
          </a:ln>
        </p:spPr>
      </p:sp>
      <p:sp>
        <p:nvSpPr>
          <p:cNvPr id="32" name="Text 30"/>
          <p:cNvSpPr/>
          <p:nvPr/>
        </p:nvSpPr>
        <p:spPr>
          <a:xfrm>
            <a:off x="685800" y="3931920"/>
            <a:ext cx="640080" cy="640080"/>
          </a:xfrm>
          <a:prstGeom prst="rect">
            <a:avLst/>
          </a:prstGeom>
          <a:noFill/>
          <a:ln/>
        </p:spPr>
        <p:txBody>
          <a:bodyPr wrap="square" rtlCol="0" anchor="ctr"/>
          <a:lstStyle/>
          <a:p>
            <a:pPr algn="ctr" indent="0" marL="0">
              <a:buNone/>
            </a:pPr>
            <a:r>
              <a:rPr lang="en-US" sz="2200" dirty="0">
                <a:solidFill>
                  <a:srgbClr val="FFFFFF"/>
                </a:solidFill>
              </a:rPr>
              <a:t>🏷️</a:t>
            </a:r>
            <a:endParaRPr lang="en-US" sz="2200" dirty="0"/>
          </a:p>
        </p:txBody>
      </p:sp>
      <p:sp>
        <p:nvSpPr>
          <p:cNvPr id="33" name="Text 31"/>
          <p:cNvSpPr/>
          <p:nvPr/>
        </p:nvSpPr>
        <p:spPr>
          <a:xfrm>
            <a:off x="1463040" y="3977640"/>
            <a:ext cx="2615184" cy="457200"/>
          </a:xfrm>
          <a:prstGeom prst="rect">
            <a:avLst/>
          </a:prstGeom>
          <a:noFill/>
          <a:ln/>
        </p:spPr>
        <p:txBody>
          <a:bodyPr wrap="square" rtlCol="0" anchor="ctr"/>
          <a:lstStyle/>
          <a:p>
            <a:pPr indent="0" marL="0">
              <a:buNone/>
            </a:pPr>
            <a:r>
              <a:rPr lang="en-US" sz="1400" b="1" dirty="0">
                <a:solidFill>
                  <a:srgbClr val="0B1E3F"/>
                </a:solidFill>
                <a:latin typeface="Calibri" pitchFamily="34" charset="0"/>
                <a:ea typeface="Calibri" pitchFamily="34" charset="-122"/>
                <a:cs typeface="Calibri" pitchFamily="34" charset="-120"/>
              </a:rPr>
              <a:t>Auto Categorization</a:t>
            </a:r>
            <a:endParaRPr lang="en-US" sz="1400" dirty="0"/>
          </a:p>
        </p:txBody>
      </p:sp>
      <p:sp>
        <p:nvSpPr>
          <p:cNvPr id="34" name="Text 32"/>
          <p:cNvSpPr/>
          <p:nvPr/>
        </p:nvSpPr>
        <p:spPr>
          <a:xfrm>
            <a:off x="731520" y="4663440"/>
            <a:ext cx="3255264" cy="640080"/>
          </a:xfrm>
          <a:prstGeom prst="rect">
            <a:avLst/>
          </a:prstGeom>
          <a:noFill/>
          <a:ln/>
        </p:spPr>
        <p:txBody>
          <a:bodyPr wrap="square" rtlCol="0" anchor="ctr"/>
          <a:lstStyle/>
          <a:p>
            <a:pPr indent="0" marL="0">
              <a:buNone/>
            </a:pPr>
            <a:r>
              <a:rPr lang="en-US" sz="1100" dirty="0">
                <a:solidFill>
                  <a:srgbClr val="5A6B7C"/>
                </a:solidFill>
                <a:latin typeface="Calibri" pitchFamily="34" charset="0"/>
                <a:ea typeface="Calibri" pitchFamily="34" charset="-122"/>
                <a:cs typeface="Calibri" pitchFamily="34" charset="-120"/>
              </a:rPr>
              <a:t>Software / Hardware / Network / Access tagging.</a:t>
            </a:r>
            <a:endParaRPr lang="en-US" sz="1100" dirty="0"/>
          </a:p>
        </p:txBody>
      </p:sp>
      <p:sp>
        <p:nvSpPr>
          <p:cNvPr id="35" name="Shape 33"/>
          <p:cNvSpPr/>
          <p:nvPr/>
        </p:nvSpPr>
        <p:spPr>
          <a:xfrm>
            <a:off x="4306824" y="3703320"/>
            <a:ext cx="3712464" cy="1645920"/>
          </a:xfrm>
          <a:prstGeom prst="rect">
            <a:avLst/>
          </a:prstGeom>
          <a:solidFill>
            <a:srgbClr val="FFFFFF"/>
          </a:solidFill>
          <a:ln w="12700">
            <a:solidFill>
              <a:srgbClr val="D9E1EC"/>
            </a:solidFill>
            <a:prstDash val="solid"/>
          </a:ln>
        </p:spPr>
      </p:sp>
      <p:sp>
        <p:nvSpPr>
          <p:cNvPr id="36" name="Shape 34"/>
          <p:cNvSpPr/>
          <p:nvPr/>
        </p:nvSpPr>
        <p:spPr>
          <a:xfrm>
            <a:off x="4306824" y="5294376"/>
            <a:ext cx="3712464" cy="54864"/>
          </a:xfrm>
          <a:prstGeom prst="rect">
            <a:avLst/>
          </a:prstGeom>
          <a:solidFill>
            <a:srgbClr val="1FB8C9"/>
          </a:solidFill>
          <a:ln w="12700">
            <a:solidFill>
              <a:srgbClr val="1FB8C9"/>
            </a:solidFill>
            <a:prstDash val="solid"/>
          </a:ln>
        </p:spPr>
      </p:sp>
      <p:sp>
        <p:nvSpPr>
          <p:cNvPr id="37" name="Shape 35"/>
          <p:cNvSpPr/>
          <p:nvPr/>
        </p:nvSpPr>
        <p:spPr>
          <a:xfrm>
            <a:off x="4535424" y="3931920"/>
            <a:ext cx="640080" cy="640080"/>
          </a:xfrm>
          <a:prstGeom prst="roundRect">
            <a:avLst>
              <a:gd name="adj" fmla="val 14286"/>
            </a:avLst>
          </a:prstGeom>
          <a:solidFill>
            <a:srgbClr val="0B1E3F"/>
          </a:solidFill>
          <a:ln w="12700">
            <a:solidFill>
              <a:srgbClr val="0B1E3F"/>
            </a:solidFill>
            <a:prstDash val="solid"/>
          </a:ln>
        </p:spPr>
      </p:sp>
      <p:sp>
        <p:nvSpPr>
          <p:cNvPr id="38" name="Text 36"/>
          <p:cNvSpPr/>
          <p:nvPr/>
        </p:nvSpPr>
        <p:spPr>
          <a:xfrm>
            <a:off x="4535424" y="3931920"/>
            <a:ext cx="640080" cy="640080"/>
          </a:xfrm>
          <a:prstGeom prst="rect">
            <a:avLst/>
          </a:prstGeom>
          <a:noFill/>
          <a:ln/>
        </p:spPr>
        <p:txBody>
          <a:bodyPr wrap="square" rtlCol="0" anchor="ctr"/>
          <a:lstStyle/>
          <a:p>
            <a:pPr algn="ctr" indent="0" marL="0">
              <a:buNone/>
            </a:pPr>
            <a:r>
              <a:rPr lang="en-US" sz="2200" dirty="0">
                <a:solidFill>
                  <a:srgbClr val="FFFFFF"/>
                </a:solidFill>
              </a:rPr>
              <a:t>⚡</a:t>
            </a:r>
            <a:endParaRPr lang="en-US" sz="2200" dirty="0"/>
          </a:p>
        </p:txBody>
      </p:sp>
      <p:sp>
        <p:nvSpPr>
          <p:cNvPr id="39" name="Text 37"/>
          <p:cNvSpPr/>
          <p:nvPr/>
        </p:nvSpPr>
        <p:spPr>
          <a:xfrm>
            <a:off x="5312664" y="3977640"/>
            <a:ext cx="2615184" cy="457200"/>
          </a:xfrm>
          <a:prstGeom prst="rect">
            <a:avLst/>
          </a:prstGeom>
          <a:noFill/>
          <a:ln/>
        </p:spPr>
        <p:txBody>
          <a:bodyPr wrap="square" rtlCol="0" anchor="ctr"/>
          <a:lstStyle/>
          <a:p>
            <a:pPr indent="0" marL="0">
              <a:buNone/>
            </a:pPr>
            <a:r>
              <a:rPr lang="en-US" sz="1400" b="1" dirty="0">
                <a:solidFill>
                  <a:srgbClr val="0B1E3F"/>
                </a:solidFill>
                <a:latin typeface="Calibri" pitchFamily="34" charset="0"/>
                <a:ea typeface="Calibri" pitchFamily="34" charset="-122"/>
                <a:cs typeface="Calibri" pitchFamily="34" charset="-120"/>
              </a:rPr>
              <a:t>Priority Assignment</a:t>
            </a:r>
            <a:endParaRPr lang="en-US" sz="1400" dirty="0"/>
          </a:p>
        </p:txBody>
      </p:sp>
      <p:sp>
        <p:nvSpPr>
          <p:cNvPr id="40" name="Text 38"/>
          <p:cNvSpPr/>
          <p:nvPr/>
        </p:nvSpPr>
        <p:spPr>
          <a:xfrm>
            <a:off x="4581144" y="4663440"/>
            <a:ext cx="3255264" cy="640080"/>
          </a:xfrm>
          <a:prstGeom prst="rect">
            <a:avLst/>
          </a:prstGeom>
          <a:noFill/>
          <a:ln/>
        </p:spPr>
        <p:txBody>
          <a:bodyPr wrap="square" rtlCol="0" anchor="ctr"/>
          <a:lstStyle/>
          <a:p>
            <a:pPr indent="0" marL="0">
              <a:buNone/>
            </a:pPr>
            <a:r>
              <a:rPr lang="en-US" sz="1100" dirty="0">
                <a:solidFill>
                  <a:srgbClr val="5A6B7C"/>
                </a:solidFill>
                <a:latin typeface="Calibri" pitchFamily="34" charset="0"/>
                <a:ea typeface="Calibri" pitchFamily="34" charset="-122"/>
                <a:cs typeface="Calibri" pitchFamily="34" charset="-120"/>
              </a:rPr>
              <a:t>High / Medium / Low based on intent + keywords.</a:t>
            </a:r>
            <a:endParaRPr lang="en-US" sz="1100" dirty="0"/>
          </a:p>
        </p:txBody>
      </p:sp>
      <p:sp>
        <p:nvSpPr>
          <p:cNvPr id="41" name="Shape 39"/>
          <p:cNvSpPr/>
          <p:nvPr/>
        </p:nvSpPr>
        <p:spPr>
          <a:xfrm>
            <a:off x="8156448" y="3703320"/>
            <a:ext cx="3712464" cy="1645920"/>
          </a:xfrm>
          <a:prstGeom prst="rect">
            <a:avLst/>
          </a:prstGeom>
          <a:solidFill>
            <a:srgbClr val="FFFFFF"/>
          </a:solidFill>
          <a:ln w="12700">
            <a:solidFill>
              <a:srgbClr val="D9E1EC"/>
            </a:solidFill>
            <a:prstDash val="solid"/>
          </a:ln>
        </p:spPr>
      </p:sp>
      <p:sp>
        <p:nvSpPr>
          <p:cNvPr id="42" name="Shape 40"/>
          <p:cNvSpPr/>
          <p:nvPr/>
        </p:nvSpPr>
        <p:spPr>
          <a:xfrm>
            <a:off x="8156448" y="5294376"/>
            <a:ext cx="3712464" cy="54864"/>
          </a:xfrm>
          <a:prstGeom prst="rect">
            <a:avLst/>
          </a:prstGeom>
          <a:solidFill>
            <a:srgbClr val="1FB8C9"/>
          </a:solidFill>
          <a:ln w="12700">
            <a:solidFill>
              <a:srgbClr val="1FB8C9"/>
            </a:solidFill>
            <a:prstDash val="solid"/>
          </a:ln>
        </p:spPr>
      </p:sp>
      <p:sp>
        <p:nvSpPr>
          <p:cNvPr id="43" name="Shape 41"/>
          <p:cNvSpPr/>
          <p:nvPr/>
        </p:nvSpPr>
        <p:spPr>
          <a:xfrm>
            <a:off x="8385048" y="3931920"/>
            <a:ext cx="640080" cy="640080"/>
          </a:xfrm>
          <a:prstGeom prst="roundRect">
            <a:avLst>
              <a:gd name="adj" fmla="val 14286"/>
            </a:avLst>
          </a:prstGeom>
          <a:solidFill>
            <a:srgbClr val="0B1E3F"/>
          </a:solidFill>
          <a:ln w="12700">
            <a:solidFill>
              <a:srgbClr val="0B1E3F"/>
            </a:solidFill>
            <a:prstDash val="solid"/>
          </a:ln>
        </p:spPr>
      </p:sp>
      <p:sp>
        <p:nvSpPr>
          <p:cNvPr id="44" name="Text 42"/>
          <p:cNvSpPr/>
          <p:nvPr/>
        </p:nvSpPr>
        <p:spPr>
          <a:xfrm>
            <a:off x="8385048" y="3931920"/>
            <a:ext cx="640080" cy="640080"/>
          </a:xfrm>
          <a:prstGeom prst="rect">
            <a:avLst/>
          </a:prstGeom>
          <a:noFill/>
          <a:ln/>
        </p:spPr>
        <p:txBody>
          <a:bodyPr wrap="square" rtlCol="0" anchor="ctr"/>
          <a:lstStyle/>
          <a:p>
            <a:pPr algn="ctr" indent="0" marL="0">
              <a:buNone/>
            </a:pPr>
            <a:r>
              <a:rPr lang="en-US" sz="2200" dirty="0">
                <a:solidFill>
                  <a:srgbClr val="FFFFFF"/>
                </a:solidFill>
              </a:rPr>
              <a:t>↔️</a:t>
            </a:r>
            <a:endParaRPr lang="en-US" sz="2200" dirty="0"/>
          </a:p>
        </p:txBody>
      </p:sp>
      <p:sp>
        <p:nvSpPr>
          <p:cNvPr id="45" name="Text 43"/>
          <p:cNvSpPr/>
          <p:nvPr/>
        </p:nvSpPr>
        <p:spPr>
          <a:xfrm>
            <a:off x="9162288" y="3977640"/>
            <a:ext cx="2615184" cy="457200"/>
          </a:xfrm>
          <a:prstGeom prst="rect">
            <a:avLst/>
          </a:prstGeom>
          <a:noFill/>
          <a:ln/>
        </p:spPr>
        <p:txBody>
          <a:bodyPr wrap="square" rtlCol="0" anchor="ctr"/>
          <a:lstStyle/>
          <a:p>
            <a:pPr indent="0" marL="0">
              <a:buNone/>
            </a:pPr>
            <a:r>
              <a:rPr lang="en-US" sz="1400" b="1" dirty="0">
                <a:solidFill>
                  <a:srgbClr val="0B1E3F"/>
                </a:solidFill>
                <a:latin typeface="Calibri" pitchFamily="34" charset="0"/>
                <a:ea typeface="Calibri" pitchFamily="34" charset="-122"/>
                <a:cs typeface="Calibri" pitchFamily="34" charset="-120"/>
              </a:rPr>
              <a:t>Bidirectional Comms</a:t>
            </a:r>
            <a:endParaRPr lang="en-US" sz="1400" dirty="0"/>
          </a:p>
        </p:txBody>
      </p:sp>
      <p:sp>
        <p:nvSpPr>
          <p:cNvPr id="46" name="Text 44"/>
          <p:cNvSpPr/>
          <p:nvPr/>
        </p:nvSpPr>
        <p:spPr>
          <a:xfrm>
            <a:off x="8430768" y="4663440"/>
            <a:ext cx="3255264" cy="640080"/>
          </a:xfrm>
          <a:prstGeom prst="rect">
            <a:avLst/>
          </a:prstGeom>
          <a:noFill/>
          <a:ln/>
        </p:spPr>
        <p:txBody>
          <a:bodyPr wrap="square" rtlCol="0" anchor="ctr"/>
          <a:lstStyle/>
          <a:p>
            <a:pPr indent="0" marL="0">
              <a:buNone/>
            </a:pPr>
            <a:r>
              <a:rPr lang="en-US" sz="1100" dirty="0">
                <a:solidFill>
                  <a:srgbClr val="5A6B7C"/>
                </a:solidFill>
                <a:latin typeface="Calibri" pitchFamily="34" charset="0"/>
                <a:ea typeface="Calibri" pitchFamily="34" charset="-122"/>
                <a:cs typeface="Calibri" pitchFamily="34" charset="-120"/>
              </a:rPr>
              <a:t>Replies translated back to the original language.</a:t>
            </a:r>
            <a:endParaRPr lang="en-US" sz="1100" dirty="0"/>
          </a:p>
        </p:txBody>
      </p:sp>
      <p:sp>
        <p:nvSpPr>
          <p:cNvPr id="47" name="Shape 45"/>
          <p:cNvSpPr/>
          <p:nvPr/>
        </p:nvSpPr>
        <p:spPr>
          <a:xfrm>
            <a:off x="457200" y="5349240"/>
            <a:ext cx="11247120" cy="1051560"/>
          </a:xfrm>
          <a:prstGeom prst="rect">
            <a:avLst/>
          </a:prstGeom>
          <a:solidFill>
            <a:srgbClr val="F4F7FB"/>
          </a:solidFill>
          <a:ln w="12700">
            <a:solidFill>
              <a:srgbClr val="D9E1EC"/>
            </a:solidFill>
            <a:prstDash val="solid"/>
          </a:ln>
        </p:spPr>
      </p:sp>
      <p:sp>
        <p:nvSpPr>
          <p:cNvPr id="48" name="Text 46"/>
          <p:cNvSpPr/>
          <p:nvPr/>
        </p:nvSpPr>
        <p:spPr>
          <a:xfrm>
            <a:off x="640080" y="5422392"/>
            <a:ext cx="3657600" cy="274320"/>
          </a:xfrm>
          <a:prstGeom prst="rect">
            <a:avLst/>
          </a:prstGeom>
          <a:noFill/>
          <a:ln/>
        </p:spPr>
        <p:txBody>
          <a:bodyPr wrap="square" rtlCol="0" anchor="ctr"/>
          <a:lstStyle/>
          <a:p>
            <a:pPr indent="0" marL="0">
              <a:buNone/>
            </a:pPr>
            <a:r>
              <a:rPr lang="en-US" sz="1000" b="1" spc="300" kern="0" dirty="0">
                <a:solidFill>
                  <a:srgbClr val="5A6B7C"/>
                </a:solidFill>
                <a:latin typeface="Calibri" pitchFamily="34" charset="0"/>
                <a:ea typeface="Calibri" pitchFamily="34" charset="-122"/>
                <a:cs typeface="Calibri" pitchFamily="34" charset="-120"/>
              </a:rPr>
              <a:t>END-TO-END FLOW</a:t>
            </a:r>
            <a:endParaRPr lang="en-US" sz="1000" dirty="0"/>
          </a:p>
        </p:txBody>
      </p:sp>
      <p:sp>
        <p:nvSpPr>
          <p:cNvPr id="49" name="Shape 47"/>
          <p:cNvSpPr/>
          <p:nvPr/>
        </p:nvSpPr>
        <p:spPr>
          <a:xfrm>
            <a:off x="640080" y="5760720"/>
            <a:ext cx="1417320" cy="457200"/>
          </a:xfrm>
          <a:prstGeom prst="roundRect">
            <a:avLst>
              <a:gd name="adj" fmla="val 10000"/>
            </a:avLst>
          </a:prstGeom>
          <a:solidFill>
            <a:srgbClr val="0B1E3F"/>
          </a:solidFill>
          <a:ln w="12700">
            <a:solidFill>
              <a:srgbClr val="0B1E3F"/>
            </a:solidFill>
            <a:prstDash val="solid"/>
          </a:ln>
        </p:spPr>
      </p:sp>
      <p:sp>
        <p:nvSpPr>
          <p:cNvPr id="50" name="Text 48"/>
          <p:cNvSpPr/>
          <p:nvPr/>
        </p:nvSpPr>
        <p:spPr>
          <a:xfrm>
            <a:off x="640080" y="5760720"/>
            <a:ext cx="141732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Ingest</a:t>
            </a:r>
            <a:endParaRPr lang="en-US" sz="1100" dirty="0"/>
          </a:p>
        </p:txBody>
      </p:sp>
      <p:sp>
        <p:nvSpPr>
          <p:cNvPr id="51" name="Text 49"/>
          <p:cNvSpPr/>
          <p:nvPr/>
        </p:nvSpPr>
        <p:spPr>
          <a:xfrm>
            <a:off x="1984248" y="5760720"/>
            <a:ext cx="182880" cy="457200"/>
          </a:xfrm>
          <a:prstGeom prst="rect">
            <a:avLst/>
          </a:prstGeom>
          <a:noFill/>
          <a:ln/>
        </p:spPr>
        <p:txBody>
          <a:bodyPr wrap="square" rtlCol="0" anchor="ctr"/>
          <a:lstStyle/>
          <a:p>
            <a:pPr algn="ctr" indent="0" marL="0">
              <a:buNone/>
            </a:pPr>
            <a:r>
              <a:rPr lang="en-US" sz="1400" b="1" dirty="0">
                <a:solidFill>
                  <a:srgbClr val="1FB8C9"/>
                </a:solidFill>
              </a:rPr>
              <a:t>▸</a:t>
            </a:r>
            <a:endParaRPr lang="en-US" sz="1400" dirty="0"/>
          </a:p>
        </p:txBody>
      </p:sp>
      <p:sp>
        <p:nvSpPr>
          <p:cNvPr id="52" name="Shape 50"/>
          <p:cNvSpPr/>
          <p:nvPr/>
        </p:nvSpPr>
        <p:spPr>
          <a:xfrm>
            <a:off x="2148840" y="5760720"/>
            <a:ext cx="1417320" cy="457200"/>
          </a:xfrm>
          <a:prstGeom prst="roundRect">
            <a:avLst>
              <a:gd name="adj" fmla="val 10000"/>
            </a:avLst>
          </a:prstGeom>
          <a:solidFill>
            <a:srgbClr val="FFFFFF"/>
          </a:solidFill>
          <a:ln w="12700">
            <a:solidFill>
              <a:srgbClr val="0B1E3F"/>
            </a:solidFill>
            <a:prstDash val="solid"/>
          </a:ln>
        </p:spPr>
      </p:sp>
      <p:sp>
        <p:nvSpPr>
          <p:cNvPr id="53" name="Text 51"/>
          <p:cNvSpPr/>
          <p:nvPr/>
        </p:nvSpPr>
        <p:spPr>
          <a:xfrm>
            <a:off x="2148840" y="5760720"/>
            <a:ext cx="1417320" cy="457200"/>
          </a:xfrm>
          <a:prstGeom prst="rect">
            <a:avLst/>
          </a:prstGeom>
          <a:noFill/>
          <a:ln/>
        </p:spPr>
        <p:txBody>
          <a:bodyPr wrap="square" rtlCol="0" anchor="ctr"/>
          <a:lstStyle/>
          <a:p>
            <a:pPr algn="ctr" indent="0" marL="0">
              <a:buNone/>
            </a:pPr>
            <a:r>
              <a:rPr lang="en-US" sz="1100" b="1" dirty="0">
                <a:solidFill>
                  <a:srgbClr val="0B1E3F"/>
                </a:solidFill>
                <a:latin typeface="Calibri" pitchFamily="34" charset="0"/>
                <a:ea typeface="Calibri" pitchFamily="34" charset="-122"/>
                <a:cs typeface="Calibri" pitchFamily="34" charset="-120"/>
              </a:rPr>
              <a:t>Understand</a:t>
            </a:r>
            <a:endParaRPr lang="en-US" sz="1100" dirty="0"/>
          </a:p>
        </p:txBody>
      </p:sp>
      <p:sp>
        <p:nvSpPr>
          <p:cNvPr id="54" name="Text 52"/>
          <p:cNvSpPr/>
          <p:nvPr/>
        </p:nvSpPr>
        <p:spPr>
          <a:xfrm>
            <a:off x="3493008" y="5760720"/>
            <a:ext cx="182880" cy="457200"/>
          </a:xfrm>
          <a:prstGeom prst="rect">
            <a:avLst/>
          </a:prstGeom>
          <a:noFill/>
          <a:ln/>
        </p:spPr>
        <p:txBody>
          <a:bodyPr wrap="square" rtlCol="0" anchor="ctr"/>
          <a:lstStyle/>
          <a:p>
            <a:pPr algn="ctr" indent="0" marL="0">
              <a:buNone/>
            </a:pPr>
            <a:r>
              <a:rPr lang="en-US" sz="1400" b="1" dirty="0">
                <a:solidFill>
                  <a:srgbClr val="1FB8C9"/>
                </a:solidFill>
              </a:rPr>
              <a:t>▸</a:t>
            </a:r>
            <a:endParaRPr lang="en-US" sz="1400" dirty="0"/>
          </a:p>
        </p:txBody>
      </p:sp>
      <p:sp>
        <p:nvSpPr>
          <p:cNvPr id="55" name="Shape 53"/>
          <p:cNvSpPr/>
          <p:nvPr/>
        </p:nvSpPr>
        <p:spPr>
          <a:xfrm>
            <a:off x="3657600" y="5760720"/>
            <a:ext cx="1417320" cy="457200"/>
          </a:xfrm>
          <a:prstGeom prst="roundRect">
            <a:avLst>
              <a:gd name="adj" fmla="val 10000"/>
            </a:avLst>
          </a:prstGeom>
          <a:solidFill>
            <a:srgbClr val="FFFFFF"/>
          </a:solidFill>
          <a:ln w="12700">
            <a:solidFill>
              <a:srgbClr val="0B1E3F"/>
            </a:solidFill>
            <a:prstDash val="solid"/>
          </a:ln>
        </p:spPr>
      </p:sp>
      <p:sp>
        <p:nvSpPr>
          <p:cNvPr id="56" name="Text 54"/>
          <p:cNvSpPr/>
          <p:nvPr/>
        </p:nvSpPr>
        <p:spPr>
          <a:xfrm>
            <a:off x="3657600" y="5760720"/>
            <a:ext cx="1417320" cy="457200"/>
          </a:xfrm>
          <a:prstGeom prst="rect">
            <a:avLst/>
          </a:prstGeom>
          <a:noFill/>
          <a:ln/>
        </p:spPr>
        <p:txBody>
          <a:bodyPr wrap="square" rtlCol="0" anchor="ctr"/>
          <a:lstStyle/>
          <a:p>
            <a:pPr algn="ctr" indent="0" marL="0">
              <a:buNone/>
            </a:pPr>
            <a:r>
              <a:rPr lang="en-US" sz="1100" b="1" dirty="0">
                <a:solidFill>
                  <a:srgbClr val="0B1E3F"/>
                </a:solidFill>
                <a:latin typeface="Calibri" pitchFamily="34" charset="0"/>
                <a:ea typeface="Calibri" pitchFamily="34" charset="-122"/>
                <a:cs typeface="Calibri" pitchFamily="34" charset="-120"/>
              </a:rPr>
              <a:t>Enrich</a:t>
            </a:r>
            <a:endParaRPr lang="en-US" sz="1100" dirty="0"/>
          </a:p>
        </p:txBody>
      </p:sp>
      <p:sp>
        <p:nvSpPr>
          <p:cNvPr id="57" name="Text 55"/>
          <p:cNvSpPr/>
          <p:nvPr/>
        </p:nvSpPr>
        <p:spPr>
          <a:xfrm>
            <a:off x="5001768" y="5760720"/>
            <a:ext cx="182880" cy="457200"/>
          </a:xfrm>
          <a:prstGeom prst="rect">
            <a:avLst/>
          </a:prstGeom>
          <a:noFill/>
          <a:ln/>
        </p:spPr>
        <p:txBody>
          <a:bodyPr wrap="square" rtlCol="0" anchor="ctr"/>
          <a:lstStyle/>
          <a:p>
            <a:pPr algn="ctr" indent="0" marL="0">
              <a:buNone/>
            </a:pPr>
            <a:r>
              <a:rPr lang="en-US" sz="1400" b="1" dirty="0">
                <a:solidFill>
                  <a:srgbClr val="1FB8C9"/>
                </a:solidFill>
              </a:rPr>
              <a:t>▸</a:t>
            </a:r>
            <a:endParaRPr lang="en-US" sz="1400" dirty="0"/>
          </a:p>
        </p:txBody>
      </p:sp>
      <p:sp>
        <p:nvSpPr>
          <p:cNvPr id="58" name="Shape 56"/>
          <p:cNvSpPr/>
          <p:nvPr/>
        </p:nvSpPr>
        <p:spPr>
          <a:xfrm>
            <a:off x="5166360" y="5760720"/>
            <a:ext cx="1417320" cy="457200"/>
          </a:xfrm>
          <a:prstGeom prst="roundRect">
            <a:avLst>
              <a:gd name="adj" fmla="val 10000"/>
            </a:avLst>
          </a:prstGeom>
          <a:solidFill>
            <a:srgbClr val="FFFFFF"/>
          </a:solidFill>
          <a:ln w="12700">
            <a:solidFill>
              <a:srgbClr val="0B1E3F"/>
            </a:solidFill>
            <a:prstDash val="solid"/>
          </a:ln>
        </p:spPr>
      </p:sp>
      <p:sp>
        <p:nvSpPr>
          <p:cNvPr id="59" name="Text 57"/>
          <p:cNvSpPr/>
          <p:nvPr/>
        </p:nvSpPr>
        <p:spPr>
          <a:xfrm>
            <a:off x="5166360" y="5760720"/>
            <a:ext cx="1417320" cy="457200"/>
          </a:xfrm>
          <a:prstGeom prst="rect">
            <a:avLst/>
          </a:prstGeom>
          <a:noFill/>
          <a:ln/>
        </p:spPr>
        <p:txBody>
          <a:bodyPr wrap="square" rtlCol="0" anchor="ctr"/>
          <a:lstStyle/>
          <a:p>
            <a:pPr algn="ctr" indent="0" marL="0">
              <a:buNone/>
            </a:pPr>
            <a:r>
              <a:rPr lang="en-US" sz="1100" b="1" dirty="0">
                <a:solidFill>
                  <a:srgbClr val="0B1E3F"/>
                </a:solidFill>
                <a:latin typeface="Calibri" pitchFamily="34" charset="0"/>
                <a:ea typeface="Calibri" pitchFamily="34" charset="-122"/>
                <a:cs typeface="Calibri" pitchFamily="34" charset="-120"/>
              </a:rPr>
              <a:t>Translate</a:t>
            </a:r>
            <a:endParaRPr lang="en-US" sz="1100" dirty="0"/>
          </a:p>
        </p:txBody>
      </p:sp>
      <p:sp>
        <p:nvSpPr>
          <p:cNvPr id="60" name="Text 58"/>
          <p:cNvSpPr/>
          <p:nvPr/>
        </p:nvSpPr>
        <p:spPr>
          <a:xfrm>
            <a:off x="6510528" y="5760720"/>
            <a:ext cx="182880" cy="457200"/>
          </a:xfrm>
          <a:prstGeom prst="rect">
            <a:avLst/>
          </a:prstGeom>
          <a:noFill/>
          <a:ln/>
        </p:spPr>
        <p:txBody>
          <a:bodyPr wrap="square" rtlCol="0" anchor="ctr"/>
          <a:lstStyle/>
          <a:p>
            <a:pPr algn="ctr" indent="0" marL="0">
              <a:buNone/>
            </a:pPr>
            <a:r>
              <a:rPr lang="en-US" sz="1400" b="1" dirty="0">
                <a:solidFill>
                  <a:srgbClr val="1FB8C9"/>
                </a:solidFill>
              </a:rPr>
              <a:t>▸</a:t>
            </a:r>
            <a:endParaRPr lang="en-US" sz="1400" dirty="0"/>
          </a:p>
        </p:txBody>
      </p:sp>
      <p:sp>
        <p:nvSpPr>
          <p:cNvPr id="61" name="Shape 59"/>
          <p:cNvSpPr/>
          <p:nvPr/>
        </p:nvSpPr>
        <p:spPr>
          <a:xfrm>
            <a:off x="6675120" y="5760720"/>
            <a:ext cx="1417320" cy="457200"/>
          </a:xfrm>
          <a:prstGeom prst="roundRect">
            <a:avLst>
              <a:gd name="adj" fmla="val 10000"/>
            </a:avLst>
          </a:prstGeom>
          <a:solidFill>
            <a:srgbClr val="FFFFFF"/>
          </a:solidFill>
          <a:ln w="12700">
            <a:solidFill>
              <a:srgbClr val="0B1E3F"/>
            </a:solidFill>
            <a:prstDash val="solid"/>
          </a:ln>
        </p:spPr>
      </p:sp>
      <p:sp>
        <p:nvSpPr>
          <p:cNvPr id="62" name="Text 60"/>
          <p:cNvSpPr/>
          <p:nvPr/>
        </p:nvSpPr>
        <p:spPr>
          <a:xfrm>
            <a:off x="6675120" y="5760720"/>
            <a:ext cx="1417320" cy="457200"/>
          </a:xfrm>
          <a:prstGeom prst="rect">
            <a:avLst/>
          </a:prstGeom>
          <a:noFill/>
          <a:ln/>
        </p:spPr>
        <p:txBody>
          <a:bodyPr wrap="square" rtlCol="0" anchor="ctr"/>
          <a:lstStyle/>
          <a:p>
            <a:pPr algn="ctr" indent="0" marL="0">
              <a:buNone/>
            </a:pPr>
            <a:r>
              <a:rPr lang="en-US" sz="1100" b="1" dirty="0">
                <a:solidFill>
                  <a:srgbClr val="0B1E3F"/>
                </a:solidFill>
                <a:latin typeface="Calibri" pitchFamily="34" charset="0"/>
                <a:ea typeface="Calibri" pitchFamily="34" charset="-122"/>
                <a:cs typeface="Calibri" pitchFamily="34" charset="-120"/>
              </a:rPr>
              <a:t>Engineer Reply</a:t>
            </a:r>
            <a:endParaRPr lang="en-US" sz="1100" dirty="0"/>
          </a:p>
        </p:txBody>
      </p:sp>
      <p:sp>
        <p:nvSpPr>
          <p:cNvPr id="63" name="Text 61"/>
          <p:cNvSpPr/>
          <p:nvPr/>
        </p:nvSpPr>
        <p:spPr>
          <a:xfrm>
            <a:off x="8019288" y="5760720"/>
            <a:ext cx="182880" cy="457200"/>
          </a:xfrm>
          <a:prstGeom prst="rect">
            <a:avLst/>
          </a:prstGeom>
          <a:noFill/>
          <a:ln/>
        </p:spPr>
        <p:txBody>
          <a:bodyPr wrap="square" rtlCol="0" anchor="ctr"/>
          <a:lstStyle/>
          <a:p>
            <a:pPr algn="ctr" indent="0" marL="0">
              <a:buNone/>
            </a:pPr>
            <a:r>
              <a:rPr lang="en-US" sz="1400" b="1" dirty="0">
                <a:solidFill>
                  <a:srgbClr val="1FB8C9"/>
                </a:solidFill>
              </a:rPr>
              <a:t>▸</a:t>
            </a:r>
            <a:endParaRPr lang="en-US" sz="1400" dirty="0"/>
          </a:p>
        </p:txBody>
      </p:sp>
      <p:sp>
        <p:nvSpPr>
          <p:cNvPr id="64" name="Shape 62"/>
          <p:cNvSpPr/>
          <p:nvPr/>
        </p:nvSpPr>
        <p:spPr>
          <a:xfrm>
            <a:off x="8183880" y="5760720"/>
            <a:ext cx="1417320" cy="457200"/>
          </a:xfrm>
          <a:prstGeom prst="roundRect">
            <a:avLst>
              <a:gd name="adj" fmla="val 10000"/>
            </a:avLst>
          </a:prstGeom>
          <a:solidFill>
            <a:srgbClr val="FFFFFF"/>
          </a:solidFill>
          <a:ln w="12700">
            <a:solidFill>
              <a:srgbClr val="0B1E3F"/>
            </a:solidFill>
            <a:prstDash val="solid"/>
          </a:ln>
        </p:spPr>
      </p:sp>
      <p:sp>
        <p:nvSpPr>
          <p:cNvPr id="65" name="Text 63"/>
          <p:cNvSpPr/>
          <p:nvPr/>
        </p:nvSpPr>
        <p:spPr>
          <a:xfrm>
            <a:off x="8183880" y="5760720"/>
            <a:ext cx="1417320" cy="457200"/>
          </a:xfrm>
          <a:prstGeom prst="rect">
            <a:avLst/>
          </a:prstGeom>
          <a:noFill/>
          <a:ln/>
        </p:spPr>
        <p:txBody>
          <a:bodyPr wrap="square" rtlCol="0" anchor="ctr"/>
          <a:lstStyle/>
          <a:p>
            <a:pPr algn="ctr" indent="0" marL="0">
              <a:buNone/>
            </a:pPr>
            <a:r>
              <a:rPr lang="en-US" sz="1100" b="1" dirty="0">
                <a:solidFill>
                  <a:srgbClr val="0B1E3F"/>
                </a:solidFill>
                <a:latin typeface="Calibri" pitchFamily="34" charset="0"/>
                <a:ea typeface="Calibri" pitchFamily="34" charset="-122"/>
                <a:cs typeface="Calibri" pitchFamily="34" charset="-120"/>
              </a:rPr>
              <a:t>Translate Back</a:t>
            </a:r>
            <a:endParaRPr lang="en-US" sz="1100" dirty="0"/>
          </a:p>
        </p:txBody>
      </p:sp>
      <p:sp>
        <p:nvSpPr>
          <p:cNvPr id="66" name="Text 64"/>
          <p:cNvSpPr/>
          <p:nvPr/>
        </p:nvSpPr>
        <p:spPr>
          <a:xfrm>
            <a:off x="9528048" y="5760720"/>
            <a:ext cx="182880" cy="457200"/>
          </a:xfrm>
          <a:prstGeom prst="rect">
            <a:avLst/>
          </a:prstGeom>
          <a:noFill/>
          <a:ln/>
        </p:spPr>
        <p:txBody>
          <a:bodyPr wrap="square" rtlCol="0" anchor="ctr"/>
          <a:lstStyle/>
          <a:p>
            <a:pPr algn="ctr" indent="0" marL="0">
              <a:buNone/>
            </a:pPr>
            <a:r>
              <a:rPr lang="en-US" sz="1400" b="1" dirty="0">
                <a:solidFill>
                  <a:srgbClr val="1FB8C9"/>
                </a:solidFill>
              </a:rPr>
              <a:t>▸</a:t>
            </a:r>
            <a:endParaRPr lang="en-US" sz="1400" dirty="0"/>
          </a:p>
        </p:txBody>
      </p:sp>
      <p:sp>
        <p:nvSpPr>
          <p:cNvPr id="67" name="Shape 65"/>
          <p:cNvSpPr/>
          <p:nvPr/>
        </p:nvSpPr>
        <p:spPr>
          <a:xfrm>
            <a:off x="9692640" y="5760720"/>
            <a:ext cx="1417320" cy="457200"/>
          </a:xfrm>
          <a:prstGeom prst="roundRect">
            <a:avLst>
              <a:gd name="adj" fmla="val 10000"/>
            </a:avLst>
          </a:prstGeom>
          <a:solidFill>
            <a:srgbClr val="1FB8C9"/>
          </a:solidFill>
          <a:ln w="12700">
            <a:solidFill>
              <a:srgbClr val="0B1E3F"/>
            </a:solidFill>
            <a:prstDash val="solid"/>
          </a:ln>
        </p:spPr>
      </p:sp>
      <p:sp>
        <p:nvSpPr>
          <p:cNvPr id="68" name="Text 66"/>
          <p:cNvSpPr/>
          <p:nvPr/>
        </p:nvSpPr>
        <p:spPr>
          <a:xfrm>
            <a:off x="9692640" y="5760720"/>
            <a:ext cx="141732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Audit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E3F"/>
          </a:solidFill>
          <a:ln/>
        </p:spPr>
      </p:sp>
      <p:sp>
        <p:nvSpPr>
          <p:cNvPr id="3" name="Shape 1"/>
          <p:cNvSpPr/>
          <p:nvPr/>
        </p:nvSpPr>
        <p:spPr>
          <a:xfrm>
            <a:off x="0" y="502920"/>
            <a:ext cx="12191695" cy="36576"/>
          </a:xfrm>
          <a:prstGeom prst="rect">
            <a:avLst/>
          </a:prstGeom>
          <a:solidFill>
            <a:srgbClr val="1FB8C9"/>
          </a:solidFill>
          <a:ln/>
        </p:spPr>
      </p:sp>
      <p:sp>
        <p:nvSpPr>
          <p:cNvPr id="4" name="Text 2"/>
          <p:cNvSpPr/>
          <p:nvPr/>
        </p:nvSpPr>
        <p:spPr>
          <a:xfrm>
            <a:off x="365760" y="0"/>
            <a:ext cx="11430000" cy="502920"/>
          </a:xfrm>
          <a:prstGeom prst="rect">
            <a:avLst/>
          </a:prstGeom>
          <a:noFill/>
          <a:ln/>
        </p:spPr>
        <p:txBody>
          <a:bodyPr wrap="square" rtlCol="0" anchor="ctr"/>
          <a:lstStyle/>
          <a:p>
            <a:pPr indent="0" marL="0">
              <a:buNone/>
            </a:pPr>
            <a:r>
              <a:rPr lang="en-US" sz="1000" b="1" spc="300" kern="0" dirty="0">
                <a:solidFill>
                  <a:srgbClr val="FFFFFF"/>
                </a:solidFill>
                <a:latin typeface="Calibri" pitchFamily="34" charset="0"/>
                <a:ea typeface="Calibri" pitchFamily="34" charset="-122"/>
                <a:cs typeface="Calibri" pitchFamily="34" charset="-120"/>
              </a:rPr>
              <a:t>MULTILINGUAL TICKET TRANSLATOR  •  TEAM 9  •  SD-04</a:t>
            </a:r>
            <a:endParaRPr lang="en-US" sz="1000" dirty="0"/>
          </a:p>
        </p:txBody>
      </p:sp>
      <p:sp>
        <p:nvSpPr>
          <p:cNvPr id="5" name="Text 3"/>
          <p:cNvSpPr/>
          <p:nvPr/>
        </p:nvSpPr>
        <p:spPr>
          <a:xfrm>
            <a:off x="457200" y="685800"/>
            <a:ext cx="11247120" cy="320040"/>
          </a:xfrm>
          <a:prstGeom prst="rect">
            <a:avLst/>
          </a:prstGeom>
          <a:noFill/>
          <a:ln/>
        </p:spPr>
        <p:txBody>
          <a:bodyPr wrap="square" rtlCol="0" anchor="ctr"/>
          <a:lstStyle/>
          <a:p>
            <a:pPr indent="0" marL="0">
              <a:buNone/>
            </a:pPr>
            <a:r>
              <a:rPr lang="en-US" sz="1100" b="1" spc="400" kern="0" dirty="0">
                <a:solidFill>
                  <a:srgbClr val="1FB8C9"/>
                </a:solidFill>
                <a:latin typeface="Calibri" pitchFamily="34" charset="0"/>
                <a:ea typeface="Calibri" pitchFamily="34" charset="-122"/>
                <a:cs typeface="Calibri" pitchFamily="34" charset="-120"/>
              </a:rPr>
              <a:t>04 — ARCHITECTURE</a:t>
            </a:r>
            <a:endParaRPr lang="en-US" sz="1100" dirty="0"/>
          </a:p>
        </p:txBody>
      </p:sp>
      <p:sp>
        <p:nvSpPr>
          <p:cNvPr id="6" name="Text 4"/>
          <p:cNvSpPr/>
          <p:nvPr/>
        </p:nvSpPr>
        <p:spPr>
          <a:xfrm>
            <a:off x="457200" y="960120"/>
            <a:ext cx="11247120" cy="640080"/>
          </a:xfrm>
          <a:prstGeom prst="rect">
            <a:avLst/>
          </a:prstGeom>
          <a:noFill/>
          <a:ln/>
        </p:spPr>
        <p:txBody>
          <a:bodyPr wrap="square" rtlCol="0" anchor="ctr"/>
          <a:lstStyle/>
          <a:p>
            <a:pPr indent="0" marL="0">
              <a:buNone/>
            </a:pPr>
            <a:r>
              <a:rPr lang="en-US" sz="3000" b="1" dirty="0">
                <a:solidFill>
                  <a:srgbClr val="0B1E3F"/>
                </a:solidFill>
                <a:latin typeface="Calibri" pitchFamily="34" charset="0"/>
                <a:ea typeface="Calibri" pitchFamily="34" charset="-122"/>
                <a:cs typeface="Calibri" pitchFamily="34" charset="-120"/>
              </a:rPr>
              <a:t>Complete System Architecture</a:t>
            </a:r>
            <a:endParaRPr lang="en-US" sz="3000" dirty="0"/>
          </a:p>
        </p:txBody>
      </p:sp>
      <p:sp>
        <p:nvSpPr>
          <p:cNvPr id="7" name="Shape 5"/>
          <p:cNvSpPr/>
          <p:nvPr/>
        </p:nvSpPr>
        <p:spPr>
          <a:xfrm>
            <a:off x="457200" y="1627632"/>
            <a:ext cx="548640" cy="54864"/>
          </a:xfrm>
          <a:prstGeom prst="rect">
            <a:avLst/>
          </a:prstGeom>
          <a:solidFill>
            <a:srgbClr val="1FB8C9"/>
          </a:solidFill>
          <a:ln w="12700">
            <a:solidFill>
              <a:srgbClr val="1FB8C9"/>
            </a:solidFill>
            <a:prstDash val="solid"/>
          </a:ln>
        </p:spPr>
      </p:sp>
      <p:sp>
        <p:nvSpPr>
          <p:cNvPr id="8" name="Shape 6"/>
          <p:cNvSpPr/>
          <p:nvPr/>
        </p:nvSpPr>
        <p:spPr>
          <a:xfrm>
            <a:off x="0" y="6675120"/>
            <a:ext cx="12191695" cy="182880"/>
          </a:xfrm>
          <a:prstGeom prst="rect">
            <a:avLst/>
          </a:prstGeom>
          <a:solidFill>
            <a:srgbClr val="F4F7FB"/>
          </a:solidFill>
          <a:ln w="12700">
            <a:solidFill>
              <a:srgbClr val="F4F7FB"/>
            </a:solidFill>
            <a:prstDash val="solid"/>
          </a:ln>
        </p:spPr>
      </p:sp>
      <p:sp>
        <p:nvSpPr>
          <p:cNvPr id="9" name="Text 7"/>
          <p:cNvSpPr/>
          <p:nvPr/>
        </p:nvSpPr>
        <p:spPr>
          <a:xfrm>
            <a:off x="365760" y="6656832"/>
            <a:ext cx="7315200" cy="201168"/>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Infinite Computer Solutions • Placement Case Study</a:t>
            </a:r>
            <a:endParaRPr lang="en-US" sz="900" dirty="0"/>
          </a:p>
        </p:txBody>
      </p:sp>
      <p:sp>
        <p:nvSpPr>
          <p:cNvPr id="10" name="Text 8"/>
          <p:cNvSpPr/>
          <p:nvPr/>
        </p:nvSpPr>
        <p:spPr>
          <a:xfrm>
            <a:off x="11247120" y="6656832"/>
            <a:ext cx="640080" cy="201168"/>
          </a:xfrm>
          <a:prstGeom prst="rect">
            <a:avLst/>
          </a:prstGeom>
          <a:noFill/>
          <a:ln/>
        </p:spPr>
        <p:txBody>
          <a:bodyPr wrap="square" rtlCol="0" anchor="ctr"/>
          <a:lstStyle/>
          <a:p>
            <a:pPr algn="r" indent="0" marL="0">
              <a:buNone/>
            </a:pPr>
            <a:r>
              <a:rPr lang="en-US" sz="900" b="1" dirty="0">
                <a:solidFill>
                  <a:srgbClr val="5A6B7C"/>
                </a:solidFill>
                <a:latin typeface="Calibri" pitchFamily="34" charset="0"/>
                <a:ea typeface="Calibri" pitchFamily="34" charset="-122"/>
                <a:cs typeface="Calibri" pitchFamily="34" charset="-120"/>
              </a:rPr>
              <a:t>5 / 15</a:t>
            </a:r>
            <a:endParaRPr lang="en-US" sz="900" dirty="0"/>
          </a:p>
        </p:txBody>
      </p:sp>
      <p:sp>
        <p:nvSpPr>
          <p:cNvPr id="11" name="Shape 9"/>
          <p:cNvSpPr/>
          <p:nvPr/>
        </p:nvSpPr>
        <p:spPr>
          <a:xfrm>
            <a:off x="457200" y="1874520"/>
            <a:ext cx="2194560" cy="4617720"/>
          </a:xfrm>
          <a:prstGeom prst="rect">
            <a:avLst/>
          </a:prstGeom>
          <a:solidFill>
            <a:srgbClr val="F4F7FB"/>
          </a:solidFill>
          <a:ln w="12700">
            <a:solidFill>
              <a:srgbClr val="D9E1EC"/>
            </a:solidFill>
            <a:prstDash val="solid"/>
          </a:ln>
        </p:spPr>
      </p:sp>
      <p:sp>
        <p:nvSpPr>
          <p:cNvPr id="12" name="Shape 10"/>
          <p:cNvSpPr/>
          <p:nvPr/>
        </p:nvSpPr>
        <p:spPr>
          <a:xfrm>
            <a:off x="457200" y="1874520"/>
            <a:ext cx="2194560" cy="365760"/>
          </a:xfrm>
          <a:prstGeom prst="rect">
            <a:avLst/>
          </a:prstGeom>
          <a:solidFill>
            <a:srgbClr val="0B1E3F"/>
          </a:solidFill>
          <a:ln w="12700">
            <a:solidFill>
              <a:srgbClr val="0B1E3F"/>
            </a:solidFill>
            <a:prstDash val="solid"/>
          </a:ln>
        </p:spPr>
      </p:sp>
      <p:sp>
        <p:nvSpPr>
          <p:cNvPr id="13" name="Text 11"/>
          <p:cNvSpPr/>
          <p:nvPr/>
        </p:nvSpPr>
        <p:spPr>
          <a:xfrm>
            <a:off x="457200" y="1874520"/>
            <a:ext cx="2194560" cy="365760"/>
          </a:xfrm>
          <a:prstGeom prst="rect">
            <a:avLst/>
          </a:prstGeom>
          <a:noFill/>
          <a:ln/>
        </p:spPr>
        <p:txBody>
          <a:bodyPr wrap="square"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INPUT LAYER</a:t>
            </a:r>
            <a:endParaRPr lang="en-US" sz="1100" dirty="0"/>
          </a:p>
        </p:txBody>
      </p:sp>
      <p:sp>
        <p:nvSpPr>
          <p:cNvPr id="14" name="Shape 12"/>
          <p:cNvSpPr/>
          <p:nvPr/>
        </p:nvSpPr>
        <p:spPr>
          <a:xfrm>
            <a:off x="2743200" y="1874520"/>
            <a:ext cx="5943600" cy="4617720"/>
          </a:xfrm>
          <a:prstGeom prst="rect">
            <a:avLst/>
          </a:prstGeom>
          <a:solidFill>
            <a:srgbClr val="F4F7FB"/>
          </a:solidFill>
          <a:ln w="12700">
            <a:solidFill>
              <a:srgbClr val="D9E1EC"/>
            </a:solidFill>
            <a:prstDash val="solid"/>
          </a:ln>
        </p:spPr>
      </p:sp>
      <p:sp>
        <p:nvSpPr>
          <p:cNvPr id="15" name="Shape 13"/>
          <p:cNvSpPr/>
          <p:nvPr/>
        </p:nvSpPr>
        <p:spPr>
          <a:xfrm>
            <a:off x="2743200" y="1874520"/>
            <a:ext cx="5943600" cy="365760"/>
          </a:xfrm>
          <a:prstGeom prst="rect">
            <a:avLst/>
          </a:prstGeom>
          <a:solidFill>
            <a:srgbClr val="1FB8C9"/>
          </a:solidFill>
          <a:ln w="12700">
            <a:solidFill>
              <a:srgbClr val="1FB8C9"/>
            </a:solidFill>
            <a:prstDash val="solid"/>
          </a:ln>
        </p:spPr>
      </p:sp>
      <p:sp>
        <p:nvSpPr>
          <p:cNvPr id="16" name="Text 14"/>
          <p:cNvSpPr/>
          <p:nvPr/>
        </p:nvSpPr>
        <p:spPr>
          <a:xfrm>
            <a:off x="2743200" y="1874520"/>
            <a:ext cx="5943600" cy="365760"/>
          </a:xfrm>
          <a:prstGeom prst="rect">
            <a:avLst/>
          </a:prstGeom>
          <a:noFill/>
          <a:ln/>
        </p:spPr>
        <p:txBody>
          <a:bodyPr wrap="square"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AI AGENTIC CORE</a:t>
            </a:r>
            <a:endParaRPr lang="en-US" sz="1100" dirty="0"/>
          </a:p>
        </p:txBody>
      </p:sp>
      <p:sp>
        <p:nvSpPr>
          <p:cNvPr id="17" name="Shape 15"/>
          <p:cNvSpPr/>
          <p:nvPr/>
        </p:nvSpPr>
        <p:spPr>
          <a:xfrm>
            <a:off x="8778240" y="1874520"/>
            <a:ext cx="2971800" cy="4617720"/>
          </a:xfrm>
          <a:prstGeom prst="rect">
            <a:avLst/>
          </a:prstGeom>
          <a:solidFill>
            <a:srgbClr val="F4F7FB"/>
          </a:solidFill>
          <a:ln w="12700">
            <a:solidFill>
              <a:srgbClr val="D9E1EC"/>
            </a:solidFill>
            <a:prstDash val="solid"/>
          </a:ln>
        </p:spPr>
      </p:sp>
      <p:sp>
        <p:nvSpPr>
          <p:cNvPr id="18" name="Shape 16"/>
          <p:cNvSpPr/>
          <p:nvPr/>
        </p:nvSpPr>
        <p:spPr>
          <a:xfrm>
            <a:off x="8778240" y="1874520"/>
            <a:ext cx="2971800" cy="365760"/>
          </a:xfrm>
          <a:prstGeom prst="rect">
            <a:avLst/>
          </a:prstGeom>
          <a:solidFill>
            <a:srgbClr val="6C7BFF"/>
          </a:solidFill>
          <a:ln w="12700">
            <a:solidFill>
              <a:srgbClr val="6C7BFF"/>
            </a:solidFill>
            <a:prstDash val="solid"/>
          </a:ln>
        </p:spPr>
      </p:sp>
      <p:sp>
        <p:nvSpPr>
          <p:cNvPr id="19" name="Text 17"/>
          <p:cNvSpPr/>
          <p:nvPr/>
        </p:nvSpPr>
        <p:spPr>
          <a:xfrm>
            <a:off x="8778240" y="1874520"/>
            <a:ext cx="2971800" cy="365760"/>
          </a:xfrm>
          <a:prstGeom prst="rect">
            <a:avLst/>
          </a:prstGeom>
          <a:noFill/>
          <a:ln/>
        </p:spPr>
        <p:txBody>
          <a:bodyPr wrap="square"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OUTPUT &amp; AUDIT</a:t>
            </a:r>
            <a:endParaRPr lang="en-US" sz="1100" dirty="0"/>
          </a:p>
        </p:txBody>
      </p:sp>
      <p:sp>
        <p:nvSpPr>
          <p:cNvPr id="20" name="Shape 18"/>
          <p:cNvSpPr/>
          <p:nvPr/>
        </p:nvSpPr>
        <p:spPr>
          <a:xfrm>
            <a:off x="640080" y="2377440"/>
            <a:ext cx="1828800" cy="777240"/>
          </a:xfrm>
          <a:prstGeom prst="roundRect">
            <a:avLst>
              <a:gd name="adj" fmla="val 7059"/>
            </a:avLst>
          </a:prstGeom>
          <a:solidFill>
            <a:srgbClr val="FFFFFF"/>
          </a:solidFill>
          <a:ln w="12700">
            <a:solidFill>
              <a:srgbClr val="0B1E3F"/>
            </a:solidFill>
            <a:prstDash val="solid"/>
          </a:ln>
        </p:spPr>
      </p:sp>
      <p:sp>
        <p:nvSpPr>
          <p:cNvPr id="21" name="Text 19"/>
          <p:cNvSpPr/>
          <p:nvPr/>
        </p:nvSpPr>
        <p:spPr>
          <a:xfrm>
            <a:off x="685800" y="2423160"/>
            <a:ext cx="1737360" cy="427482"/>
          </a:xfrm>
          <a:prstGeom prst="rect">
            <a:avLst/>
          </a:prstGeom>
          <a:noFill/>
          <a:ln/>
        </p:spPr>
        <p:txBody>
          <a:bodyPr wrap="square" rtlCol="0" anchor="ctr"/>
          <a:lstStyle/>
          <a:p>
            <a:pPr algn="ctr" indent="0" marL="0">
              <a:buNone/>
            </a:pPr>
            <a:r>
              <a:rPr lang="en-US" sz="1100" b="1" dirty="0">
                <a:solidFill>
                  <a:srgbClr val="0B1E3F"/>
                </a:solidFill>
                <a:latin typeface="Calibri" pitchFamily="34" charset="0"/>
                <a:ea typeface="Calibri" pitchFamily="34" charset="-122"/>
                <a:cs typeface="Calibri" pitchFamily="34" charset="-120"/>
              </a:rPr>
              <a:t>Customer Ticket</a:t>
            </a:r>
            <a:endParaRPr lang="en-US" sz="1100" dirty="0"/>
          </a:p>
        </p:txBody>
      </p:sp>
      <p:sp>
        <p:nvSpPr>
          <p:cNvPr id="22" name="Text 20"/>
          <p:cNvSpPr/>
          <p:nvPr/>
        </p:nvSpPr>
        <p:spPr>
          <a:xfrm>
            <a:off x="685800" y="2804922"/>
            <a:ext cx="1737360" cy="349758"/>
          </a:xfrm>
          <a:prstGeom prst="rect">
            <a:avLst/>
          </a:prstGeom>
          <a:noFill/>
          <a:ln/>
        </p:spPr>
        <p:txBody>
          <a:bodyPr wrap="square" rtlCol="0" anchor="ctr"/>
          <a:lstStyle/>
          <a:p>
            <a:pPr algn="ctr" indent="0" marL="0">
              <a:buNone/>
            </a:pPr>
            <a:r>
              <a:rPr lang="en-US" sz="800" i="1" dirty="0">
                <a:solidFill>
                  <a:srgbClr val="5A6B7C"/>
                </a:solidFill>
                <a:latin typeface="Calibri" pitchFamily="34" charset="0"/>
                <a:ea typeface="Calibri" pitchFamily="34" charset="-122"/>
                <a:cs typeface="Calibri" pitchFamily="34" charset="-120"/>
              </a:rPr>
              <a:t>multilingual text</a:t>
            </a:r>
            <a:endParaRPr lang="en-US" sz="800" dirty="0"/>
          </a:p>
        </p:txBody>
      </p:sp>
      <p:sp>
        <p:nvSpPr>
          <p:cNvPr id="23" name="Shape 21"/>
          <p:cNvSpPr/>
          <p:nvPr/>
        </p:nvSpPr>
        <p:spPr>
          <a:xfrm>
            <a:off x="640080" y="3520440"/>
            <a:ext cx="1828800" cy="640080"/>
          </a:xfrm>
          <a:prstGeom prst="roundRect">
            <a:avLst>
              <a:gd name="adj" fmla="val 8571"/>
            </a:avLst>
          </a:prstGeom>
          <a:solidFill>
            <a:srgbClr val="FFFFFF"/>
          </a:solidFill>
          <a:ln w="12700">
            <a:solidFill>
              <a:srgbClr val="0B1E3F"/>
            </a:solidFill>
            <a:prstDash val="solid"/>
          </a:ln>
        </p:spPr>
      </p:sp>
      <p:sp>
        <p:nvSpPr>
          <p:cNvPr id="24" name="Text 22"/>
          <p:cNvSpPr/>
          <p:nvPr/>
        </p:nvSpPr>
        <p:spPr>
          <a:xfrm>
            <a:off x="685800" y="3566160"/>
            <a:ext cx="1737360" cy="352044"/>
          </a:xfrm>
          <a:prstGeom prst="rect">
            <a:avLst/>
          </a:prstGeom>
          <a:noFill/>
          <a:ln/>
        </p:spPr>
        <p:txBody>
          <a:bodyPr wrap="square" rtlCol="0" anchor="ctr"/>
          <a:lstStyle/>
          <a:p>
            <a:pPr algn="ctr" indent="0" marL="0">
              <a:buNone/>
            </a:pPr>
            <a:r>
              <a:rPr lang="en-US" sz="1100" b="1" dirty="0">
                <a:solidFill>
                  <a:srgbClr val="0B1E3F"/>
                </a:solidFill>
                <a:latin typeface="Calibri" pitchFamily="34" charset="0"/>
                <a:ea typeface="Calibri" pitchFamily="34" charset="-122"/>
                <a:cs typeface="Calibri" pitchFamily="34" charset="-120"/>
              </a:rPr>
              <a:t>Streamlit UI</a:t>
            </a:r>
            <a:endParaRPr lang="en-US" sz="1100" dirty="0"/>
          </a:p>
        </p:txBody>
      </p:sp>
      <p:sp>
        <p:nvSpPr>
          <p:cNvPr id="25" name="Text 23"/>
          <p:cNvSpPr/>
          <p:nvPr/>
        </p:nvSpPr>
        <p:spPr>
          <a:xfrm>
            <a:off x="685800" y="3872484"/>
            <a:ext cx="1737360" cy="288036"/>
          </a:xfrm>
          <a:prstGeom prst="rect">
            <a:avLst/>
          </a:prstGeom>
          <a:noFill/>
          <a:ln/>
        </p:spPr>
        <p:txBody>
          <a:bodyPr wrap="square" rtlCol="0" anchor="ctr"/>
          <a:lstStyle/>
          <a:p>
            <a:pPr algn="ctr" indent="0" marL="0">
              <a:buNone/>
            </a:pPr>
            <a:r>
              <a:rPr lang="en-US" sz="800" i="1" dirty="0">
                <a:solidFill>
                  <a:srgbClr val="5A6B7C"/>
                </a:solidFill>
                <a:latin typeface="Calibri" pitchFamily="34" charset="0"/>
                <a:ea typeface="Calibri" pitchFamily="34" charset="-122"/>
                <a:cs typeface="Calibri" pitchFamily="34" charset="-120"/>
              </a:rPr>
              <a:t>single / batch</a:t>
            </a:r>
            <a:endParaRPr lang="en-US" sz="800" dirty="0"/>
          </a:p>
        </p:txBody>
      </p:sp>
      <p:sp>
        <p:nvSpPr>
          <p:cNvPr id="26" name="Shape 24"/>
          <p:cNvSpPr/>
          <p:nvPr/>
        </p:nvSpPr>
        <p:spPr>
          <a:xfrm>
            <a:off x="1554480" y="3154680"/>
            <a:ext cx="0" cy="365760"/>
          </a:xfrm>
          <a:prstGeom prst="line">
            <a:avLst/>
          </a:prstGeom>
          <a:noFill/>
          <a:ln w="19050">
            <a:solidFill>
              <a:srgbClr val="0B1E3F"/>
            </a:solidFill>
            <a:prstDash val="solid"/>
            <a:tailEnd type="triangle"/>
          </a:ln>
        </p:spPr>
      </p:sp>
      <p:sp>
        <p:nvSpPr>
          <p:cNvPr id="27" name="Shape 25"/>
          <p:cNvSpPr/>
          <p:nvPr/>
        </p:nvSpPr>
        <p:spPr>
          <a:xfrm>
            <a:off x="640080" y="4526280"/>
            <a:ext cx="1828800" cy="640080"/>
          </a:xfrm>
          <a:prstGeom prst="roundRect">
            <a:avLst>
              <a:gd name="adj" fmla="val 8571"/>
            </a:avLst>
          </a:prstGeom>
          <a:solidFill>
            <a:srgbClr val="FFFFFF"/>
          </a:solidFill>
          <a:ln w="12700">
            <a:solidFill>
              <a:srgbClr val="0B1E3F"/>
            </a:solidFill>
            <a:prstDash val="solid"/>
          </a:ln>
        </p:spPr>
      </p:sp>
      <p:sp>
        <p:nvSpPr>
          <p:cNvPr id="28" name="Text 26"/>
          <p:cNvSpPr/>
          <p:nvPr/>
        </p:nvSpPr>
        <p:spPr>
          <a:xfrm>
            <a:off x="685800" y="4572000"/>
            <a:ext cx="1737360" cy="352044"/>
          </a:xfrm>
          <a:prstGeom prst="rect">
            <a:avLst/>
          </a:prstGeom>
          <a:noFill/>
          <a:ln/>
        </p:spPr>
        <p:txBody>
          <a:bodyPr wrap="square" rtlCol="0" anchor="ctr"/>
          <a:lstStyle/>
          <a:p>
            <a:pPr algn="ctr" indent="0" marL="0">
              <a:buNone/>
            </a:pPr>
            <a:r>
              <a:rPr lang="en-US" sz="1100" b="1" dirty="0">
                <a:solidFill>
                  <a:srgbClr val="0B1E3F"/>
                </a:solidFill>
                <a:latin typeface="Calibri" pitchFamily="34" charset="0"/>
                <a:ea typeface="Calibri" pitchFamily="34" charset="-122"/>
                <a:cs typeface="Calibri" pitchFamily="34" charset="-120"/>
              </a:rPr>
              <a:t>JSON Config</a:t>
            </a:r>
            <a:endParaRPr lang="en-US" sz="1100" dirty="0"/>
          </a:p>
        </p:txBody>
      </p:sp>
      <p:sp>
        <p:nvSpPr>
          <p:cNvPr id="29" name="Text 27"/>
          <p:cNvSpPr/>
          <p:nvPr/>
        </p:nvSpPr>
        <p:spPr>
          <a:xfrm>
            <a:off x="685800" y="4878324"/>
            <a:ext cx="1737360" cy="288036"/>
          </a:xfrm>
          <a:prstGeom prst="rect">
            <a:avLst/>
          </a:prstGeom>
          <a:noFill/>
          <a:ln/>
        </p:spPr>
        <p:txBody>
          <a:bodyPr wrap="square" rtlCol="0" anchor="ctr"/>
          <a:lstStyle/>
          <a:p>
            <a:pPr algn="ctr" indent="0" marL="0">
              <a:buNone/>
            </a:pPr>
            <a:r>
              <a:rPr lang="en-US" sz="800" i="1" dirty="0">
                <a:solidFill>
                  <a:srgbClr val="5A6B7C"/>
                </a:solidFill>
                <a:latin typeface="Calibri" pitchFamily="34" charset="0"/>
                <a:ea typeface="Calibri" pitchFamily="34" charset="-122"/>
                <a:cs typeface="Calibri" pitchFamily="34" charset="-120"/>
              </a:rPr>
              <a:t>glossary, prompts</a:t>
            </a:r>
            <a:endParaRPr lang="en-US" sz="800" dirty="0"/>
          </a:p>
        </p:txBody>
      </p:sp>
      <p:sp>
        <p:nvSpPr>
          <p:cNvPr id="30" name="Shape 28"/>
          <p:cNvSpPr/>
          <p:nvPr/>
        </p:nvSpPr>
        <p:spPr>
          <a:xfrm>
            <a:off x="3246120" y="2331720"/>
            <a:ext cx="3200400" cy="457200"/>
          </a:xfrm>
          <a:prstGeom prst="roundRect">
            <a:avLst>
              <a:gd name="adj" fmla="val 12000"/>
            </a:avLst>
          </a:prstGeom>
          <a:solidFill>
            <a:srgbClr val="0B1E3F"/>
          </a:solidFill>
          <a:ln w="12700">
            <a:solidFill>
              <a:srgbClr val="0B1E3F"/>
            </a:solidFill>
            <a:prstDash val="solid"/>
          </a:ln>
        </p:spPr>
      </p:sp>
      <p:sp>
        <p:nvSpPr>
          <p:cNvPr id="31" name="Text 29"/>
          <p:cNvSpPr/>
          <p:nvPr/>
        </p:nvSpPr>
        <p:spPr>
          <a:xfrm>
            <a:off x="3291840" y="2377440"/>
            <a:ext cx="3108960" cy="2514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AI Agent (OpenRouter)</a:t>
            </a:r>
            <a:endParaRPr lang="en-US" sz="1100" dirty="0"/>
          </a:p>
        </p:txBody>
      </p:sp>
      <p:sp>
        <p:nvSpPr>
          <p:cNvPr id="32" name="Text 30"/>
          <p:cNvSpPr/>
          <p:nvPr/>
        </p:nvSpPr>
        <p:spPr>
          <a:xfrm>
            <a:off x="6583680" y="2331720"/>
            <a:ext cx="1783080" cy="457200"/>
          </a:xfrm>
          <a:prstGeom prst="rect">
            <a:avLst/>
          </a:prstGeom>
          <a:noFill/>
          <a:ln/>
        </p:spPr>
        <p:txBody>
          <a:bodyPr wrap="square" rtlCol="0" anchor="ctr"/>
          <a:lstStyle/>
          <a:p>
            <a:pPr indent="0" marL="0">
              <a:buNone/>
            </a:pPr>
            <a:r>
              <a:rPr lang="en-US" sz="1000" i="1" dirty="0">
                <a:solidFill>
                  <a:srgbClr val="6C7BFF"/>
                </a:solidFill>
                <a:latin typeface="Calibri" pitchFamily="34" charset="0"/>
                <a:ea typeface="Calibri" pitchFamily="34" charset="-122"/>
                <a:cs typeface="Calibri" pitchFamily="34" charset="-120"/>
              </a:rPr>
              <a:t>nex-agi / nex-n2-pro</a:t>
            </a:r>
            <a:endParaRPr lang="en-US" sz="1000" dirty="0"/>
          </a:p>
        </p:txBody>
      </p:sp>
      <p:sp>
        <p:nvSpPr>
          <p:cNvPr id="33" name="Shape 31"/>
          <p:cNvSpPr/>
          <p:nvPr/>
        </p:nvSpPr>
        <p:spPr>
          <a:xfrm>
            <a:off x="3246120" y="2862072"/>
            <a:ext cx="3200400" cy="457200"/>
          </a:xfrm>
          <a:prstGeom prst="roundRect">
            <a:avLst>
              <a:gd name="adj" fmla="val 12000"/>
            </a:avLst>
          </a:prstGeom>
          <a:solidFill>
            <a:srgbClr val="FFFFFF"/>
          </a:solidFill>
          <a:ln w="12700">
            <a:solidFill>
              <a:srgbClr val="0B1E3F"/>
            </a:solidFill>
            <a:prstDash val="solid"/>
          </a:ln>
        </p:spPr>
      </p:sp>
      <p:sp>
        <p:nvSpPr>
          <p:cNvPr id="34" name="Text 32"/>
          <p:cNvSpPr/>
          <p:nvPr/>
        </p:nvSpPr>
        <p:spPr>
          <a:xfrm>
            <a:off x="3291840" y="2907792"/>
            <a:ext cx="3108960" cy="251460"/>
          </a:xfrm>
          <a:prstGeom prst="rect">
            <a:avLst/>
          </a:prstGeom>
          <a:noFill/>
          <a:ln/>
        </p:spPr>
        <p:txBody>
          <a:bodyPr wrap="square" rtlCol="0" anchor="ctr"/>
          <a:lstStyle/>
          <a:p>
            <a:pPr algn="ctr" indent="0" marL="0">
              <a:buNone/>
            </a:pPr>
            <a:r>
              <a:rPr lang="en-US" sz="1100" b="1" dirty="0">
                <a:solidFill>
                  <a:srgbClr val="0B1E3F"/>
                </a:solidFill>
                <a:latin typeface="Calibri" pitchFamily="34" charset="0"/>
                <a:ea typeface="Calibri" pitchFamily="34" charset="-122"/>
                <a:cs typeface="Calibri" pitchFamily="34" charset="-120"/>
              </a:rPr>
              <a:t>Ticket Improvement</a:t>
            </a:r>
            <a:endParaRPr lang="en-US" sz="1100" dirty="0"/>
          </a:p>
        </p:txBody>
      </p:sp>
      <p:sp>
        <p:nvSpPr>
          <p:cNvPr id="35" name="Text 33"/>
          <p:cNvSpPr/>
          <p:nvPr/>
        </p:nvSpPr>
        <p:spPr>
          <a:xfrm>
            <a:off x="6583680" y="2862072"/>
            <a:ext cx="1783080" cy="457200"/>
          </a:xfrm>
          <a:prstGeom prst="rect">
            <a:avLst/>
          </a:prstGeom>
          <a:noFill/>
          <a:ln/>
        </p:spPr>
        <p:txBody>
          <a:bodyPr wrap="square" rtlCol="0" anchor="ctr"/>
          <a:lstStyle/>
          <a:p>
            <a:pPr indent="0" marL="0">
              <a:buNone/>
            </a:pPr>
            <a:r>
              <a:rPr lang="en-US" sz="1000" i="1" dirty="0">
                <a:solidFill>
                  <a:srgbClr val="5A6B7C"/>
                </a:solidFill>
                <a:latin typeface="Calibri" pitchFamily="34" charset="0"/>
                <a:ea typeface="Calibri" pitchFamily="34" charset="-122"/>
                <a:cs typeface="Calibri" pitchFamily="34" charset="-120"/>
              </a:rPr>
              <a:t>cleanup + enrich</a:t>
            </a:r>
            <a:endParaRPr lang="en-US" sz="1000" dirty="0"/>
          </a:p>
        </p:txBody>
      </p:sp>
      <p:sp>
        <p:nvSpPr>
          <p:cNvPr id="36" name="Shape 34"/>
          <p:cNvSpPr/>
          <p:nvPr/>
        </p:nvSpPr>
        <p:spPr>
          <a:xfrm>
            <a:off x="4846320" y="2788920"/>
            <a:ext cx="0" cy="73152"/>
          </a:xfrm>
          <a:prstGeom prst="line">
            <a:avLst/>
          </a:prstGeom>
          <a:noFill/>
          <a:ln w="19050">
            <a:solidFill>
              <a:srgbClr val="0B1E3F"/>
            </a:solidFill>
            <a:prstDash val="solid"/>
            <a:tailEnd type="triangle"/>
          </a:ln>
        </p:spPr>
      </p:sp>
      <p:sp>
        <p:nvSpPr>
          <p:cNvPr id="37" name="Shape 35"/>
          <p:cNvSpPr/>
          <p:nvPr/>
        </p:nvSpPr>
        <p:spPr>
          <a:xfrm>
            <a:off x="3246120" y="3392424"/>
            <a:ext cx="3200400" cy="457200"/>
          </a:xfrm>
          <a:prstGeom prst="roundRect">
            <a:avLst>
              <a:gd name="adj" fmla="val 12000"/>
            </a:avLst>
          </a:prstGeom>
          <a:solidFill>
            <a:srgbClr val="FFFFFF"/>
          </a:solidFill>
          <a:ln w="12700">
            <a:solidFill>
              <a:srgbClr val="0B1E3F"/>
            </a:solidFill>
            <a:prstDash val="solid"/>
          </a:ln>
        </p:spPr>
      </p:sp>
      <p:sp>
        <p:nvSpPr>
          <p:cNvPr id="38" name="Text 36"/>
          <p:cNvSpPr/>
          <p:nvPr/>
        </p:nvSpPr>
        <p:spPr>
          <a:xfrm>
            <a:off x="3291840" y="3438144"/>
            <a:ext cx="3108960" cy="251460"/>
          </a:xfrm>
          <a:prstGeom prst="rect">
            <a:avLst/>
          </a:prstGeom>
          <a:noFill/>
          <a:ln/>
        </p:spPr>
        <p:txBody>
          <a:bodyPr wrap="square" rtlCol="0" anchor="ctr"/>
          <a:lstStyle/>
          <a:p>
            <a:pPr algn="ctr" indent="0" marL="0">
              <a:buNone/>
            </a:pPr>
            <a:r>
              <a:rPr lang="en-US" sz="1100" b="1" dirty="0">
                <a:solidFill>
                  <a:srgbClr val="0B1E3F"/>
                </a:solidFill>
                <a:latin typeface="Calibri" pitchFamily="34" charset="0"/>
                <a:ea typeface="Calibri" pitchFamily="34" charset="-122"/>
                <a:cs typeface="Calibri" pitchFamily="34" charset="-120"/>
              </a:rPr>
              <a:t>Summary Generation</a:t>
            </a:r>
            <a:endParaRPr lang="en-US" sz="1100" dirty="0"/>
          </a:p>
        </p:txBody>
      </p:sp>
      <p:sp>
        <p:nvSpPr>
          <p:cNvPr id="39" name="Text 37"/>
          <p:cNvSpPr/>
          <p:nvPr/>
        </p:nvSpPr>
        <p:spPr>
          <a:xfrm>
            <a:off x="6583680" y="3392424"/>
            <a:ext cx="1783080" cy="457200"/>
          </a:xfrm>
          <a:prstGeom prst="rect">
            <a:avLst/>
          </a:prstGeom>
          <a:noFill/>
          <a:ln/>
        </p:spPr>
        <p:txBody>
          <a:bodyPr wrap="square" rtlCol="0" anchor="ctr"/>
          <a:lstStyle/>
          <a:p>
            <a:pPr indent="0" marL="0">
              <a:buNone/>
            </a:pPr>
            <a:r>
              <a:rPr lang="en-US" sz="1000" i="1" dirty="0">
                <a:solidFill>
                  <a:srgbClr val="5A6B7C"/>
                </a:solidFill>
                <a:latin typeface="Calibri" pitchFamily="34" charset="0"/>
                <a:ea typeface="Calibri" pitchFamily="34" charset="-122"/>
                <a:cs typeface="Calibri" pitchFamily="34" charset="-120"/>
              </a:rPr>
              <a:t>one-line intent</a:t>
            </a:r>
            <a:endParaRPr lang="en-US" sz="1000" dirty="0"/>
          </a:p>
        </p:txBody>
      </p:sp>
      <p:sp>
        <p:nvSpPr>
          <p:cNvPr id="40" name="Shape 38"/>
          <p:cNvSpPr/>
          <p:nvPr/>
        </p:nvSpPr>
        <p:spPr>
          <a:xfrm>
            <a:off x="4846320" y="3319272"/>
            <a:ext cx="0" cy="73152"/>
          </a:xfrm>
          <a:prstGeom prst="line">
            <a:avLst/>
          </a:prstGeom>
          <a:noFill/>
          <a:ln w="19050">
            <a:solidFill>
              <a:srgbClr val="0B1E3F"/>
            </a:solidFill>
            <a:prstDash val="solid"/>
            <a:tailEnd type="triangle"/>
          </a:ln>
        </p:spPr>
      </p:sp>
      <p:sp>
        <p:nvSpPr>
          <p:cNvPr id="41" name="Shape 39"/>
          <p:cNvSpPr/>
          <p:nvPr/>
        </p:nvSpPr>
        <p:spPr>
          <a:xfrm>
            <a:off x="3246120" y="3922776"/>
            <a:ext cx="3200400" cy="457200"/>
          </a:xfrm>
          <a:prstGeom prst="roundRect">
            <a:avLst>
              <a:gd name="adj" fmla="val 12000"/>
            </a:avLst>
          </a:prstGeom>
          <a:solidFill>
            <a:srgbClr val="FFFFFF"/>
          </a:solidFill>
          <a:ln w="12700">
            <a:solidFill>
              <a:srgbClr val="0B1E3F"/>
            </a:solidFill>
            <a:prstDash val="solid"/>
          </a:ln>
        </p:spPr>
      </p:sp>
      <p:sp>
        <p:nvSpPr>
          <p:cNvPr id="42" name="Text 40"/>
          <p:cNvSpPr/>
          <p:nvPr/>
        </p:nvSpPr>
        <p:spPr>
          <a:xfrm>
            <a:off x="3291840" y="3968496"/>
            <a:ext cx="3108960" cy="251460"/>
          </a:xfrm>
          <a:prstGeom prst="rect">
            <a:avLst/>
          </a:prstGeom>
          <a:noFill/>
          <a:ln/>
        </p:spPr>
        <p:txBody>
          <a:bodyPr wrap="square" rtlCol="0" anchor="ctr"/>
          <a:lstStyle/>
          <a:p>
            <a:pPr algn="ctr" indent="0" marL="0">
              <a:buNone/>
            </a:pPr>
            <a:r>
              <a:rPr lang="en-US" sz="1100" b="1" dirty="0">
                <a:solidFill>
                  <a:srgbClr val="0B1E3F"/>
                </a:solidFill>
                <a:latin typeface="Calibri" pitchFamily="34" charset="0"/>
                <a:ea typeface="Calibri" pitchFamily="34" charset="-122"/>
                <a:cs typeface="Calibri" pitchFamily="34" charset="-120"/>
              </a:rPr>
              <a:t>Category + Priority</a:t>
            </a:r>
            <a:endParaRPr lang="en-US" sz="1100" dirty="0"/>
          </a:p>
        </p:txBody>
      </p:sp>
      <p:sp>
        <p:nvSpPr>
          <p:cNvPr id="43" name="Text 41"/>
          <p:cNvSpPr/>
          <p:nvPr/>
        </p:nvSpPr>
        <p:spPr>
          <a:xfrm>
            <a:off x="6583680" y="3922776"/>
            <a:ext cx="1783080" cy="457200"/>
          </a:xfrm>
          <a:prstGeom prst="rect">
            <a:avLst/>
          </a:prstGeom>
          <a:noFill/>
          <a:ln/>
        </p:spPr>
        <p:txBody>
          <a:bodyPr wrap="square" rtlCol="0" anchor="ctr"/>
          <a:lstStyle/>
          <a:p>
            <a:pPr indent="0" marL="0">
              <a:buNone/>
            </a:pPr>
            <a:r>
              <a:rPr lang="en-US" sz="1000" i="1" dirty="0">
                <a:solidFill>
                  <a:srgbClr val="5A6B7C"/>
                </a:solidFill>
                <a:latin typeface="Calibri" pitchFamily="34" charset="0"/>
                <a:ea typeface="Calibri" pitchFamily="34" charset="-122"/>
                <a:cs typeface="Calibri" pitchFamily="34" charset="-120"/>
              </a:rPr>
              <a:t>schema-validated</a:t>
            </a:r>
            <a:endParaRPr lang="en-US" sz="1000" dirty="0"/>
          </a:p>
        </p:txBody>
      </p:sp>
      <p:sp>
        <p:nvSpPr>
          <p:cNvPr id="44" name="Shape 42"/>
          <p:cNvSpPr/>
          <p:nvPr/>
        </p:nvSpPr>
        <p:spPr>
          <a:xfrm>
            <a:off x="4846320" y="3849624"/>
            <a:ext cx="0" cy="73152"/>
          </a:xfrm>
          <a:prstGeom prst="line">
            <a:avLst/>
          </a:prstGeom>
          <a:noFill/>
          <a:ln w="19050">
            <a:solidFill>
              <a:srgbClr val="0B1E3F"/>
            </a:solidFill>
            <a:prstDash val="solid"/>
            <a:tailEnd type="triangle"/>
          </a:ln>
        </p:spPr>
      </p:sp>
      <p:sp>
        <p:nvSpPr>
          <p:cNvPr id="45" name="Shape 43"/>
          <p:cNvSpPr/>
          <p:nvPr/>
        </p:nvSpPr>
        <p:spPr>
          <a:xfrm>
            <a:off x="3246120" y="4453128"/>
            <a:ext cx="3200400" cy="457200"/>
          </a:xfrm>
          <a:prstGeom prst="roundRect">
            <a:avLst>
              <a:gd name="adj" fmla="val 12000"/>
            </a:avLst>
          </a:prstGeom>
          <a:solidFill>
            <a:srgbClr val="FFFFFF"/>
          </a:solidFill>
          <a:ln w="12700">
            <a:solidFill>
              <a:srgbClr val="0B1E3F"/>
            </a:solidFill>
            <a:prstDash val="solid"/>
          </a:ln>
        </p:spPr>
      </p:sp>
      <p:sp>
        <p:nvSpPr>
          <p:cNvPr id="46" name="Text 44"/>
          <p:cNvSpPr/>
          <p:nvPr/>
        </p:nvSpPr>
        <p:spPr>
          <a:xfrm>
            <a:off x="3291840" y="4498848"/>
            <a:ext cx="3108960" cy="251460"/>
          </a:xfrm>
          <a:prstGeom prst="rect">
            <a:avLst/>
          </a:prstGeom>
          <a:noFill/>
          <a:ln/>
        </p:spPr>
        <p:txBody>
          <a:bodyPr wrap="square" rtlCol="0" anchor="ctr"/>
          <a:lstStyle/>
          <a:p>
            <a:pPr algn="ctr" indent="0" marL="0">
              <a:buNone/>
            </a:pPr>
            <a:r>
              <a:rPr lang="en-US" sz="1100" b="1" dirty="0">
                <a:solidFill>
                  <a:srgbClr val="0B1E3F"/>
                </a:solidFill>
                <a:latin typeface="Calibri" pitchFamily="34" charset="0"/>
                <a:ea typeface="Calibri" pitchFamily="34" charset="-122"/>
                <a:cs typeface="Calibri" pitchFamily="34" charset="-120"/>
              </a:rPr>
              <a:t>Language Detection</a:t>
            </a:r>
            <a:endParaRPr lang="en-US" sz="1100" dirty="0"/>
          </a:p>
        </p:txBody>
      </p:sp>
      <p:sp>
        <p:nvSpPr>
          <p:cNvPr id="47" name="Text 45"/>
          <p:cNvSpPr/>
          <p:nvPr/>
        </p:nvSpPr>
        <p:spPr>
          <a:xfrm>
            <a:off x="6583680" y="4453128"/>
            <a:ext cx="1783080" cy="457200"/>
          </a:xfrm>
          <a:prstGeom prst="rect">
            <a:avLst/>
          </a:prstGeom>
          <a:noFill/>
          <a:ln/>
        </p:spPr>
        <p:txBody>
          <a:bodyPr wrap="square" rtlCol="0" anchor="ctr"/>
          <a:lstStyle/>
          <a:p>
            <a:pPr indent="0" marL="0">
              <a:buNone/>
            </a:pPr>
            <a:r>
              <a:rPr lang="en-US" sz="1000" i="1" dirty="0">
                <a:solidFill>
                  <a:srgbClr val="5A6B7C"/>
                </a:solidFill>
                <a:latin typeface="Calibri" pitchFamily="34" charset="0"/>
                <a:ea typeface="Calibri" pitchFamily="34" charset="-122"/>
                <a:cs typeface="Calibri" pitchFamily="34" charset="-120"/>
              </a:rPr>
              <a:t>langdetect</a:t>
            </a:r>
            <a:endParaRPr lang="en-US" sz="1000" dirty="0"/>
          </a:p>
        </p:txBody>
      </p:sp>
      <p:sp>
        <p:nvSpPr>
          <p:cNvPr id="48" name="Shape 46"/>
          <p:cNvSpPr/>
          <p:nvPr/>
        </p:nvSpPr>
        <p:spPr>
          <a:xfrm>
            <a:off x="4846320" y="4379976"/>
            <a:ext cx="0" cy="73152"/>
          </a:xfrm>
          <a:prstGeom prst="line">
            <a:avLst/>
          </a:prstGeom>
          <a:noFill/>
          <a:ln w="19050">
            <a:solidFill>
              <a:srgbClr val="0B1E3F"/>
            </a:solidFill>
            <a:prstDash val="solid"/>
            <a:tailEnd type="triangle"/>
          </a:ln>
        </p:spPr>
      </p:sp>
      <p:sp>
        <p:nvSpPr>
          <p:cNvPr id="49" name="Shape 47"/>
          <p:cNvSpPr/>
          <p:nvPr/>
        </p:nvSpPr>
        <p:spPr>
          <a:xfrm>
            <a:off x="3246120" y="4983480"/>
            <a:ext cx="3200400" cy="457200"/>
          </a:xfrm>
          <a:prstGeom prst="roundRect">
            <a:avLst>
              <a:gd name="adj" fmla="val 12000"/>
            </a:avLst>
          </a:prstGeom>
          <a:solidFill>
            <a:srgbClr val="FFFFFF"/>
          </a:solidFill>
          <a:ln w="12700">
            <a:solidFill>
              <a:srgbClr val="0B1E3F"/>
            </a:solidFill>
            <a:prstDash val="solid"/>
          </a:ln>
        </p:spPr>
      </p:sp>
      <p:sp>
        <p:nvSpPr>
          <p:cNvPr id="50" name="Text 48"/>
          <p:cNvSpPr/>
          <p:nvPr/>
        </p:nvSpPr>
        <p:spPr>
          <a:xfrm>
            <a:off x="3291840" y="5029200"/>
            <a:ext cx="3108960" cy="251460"/>
          </a:xfrm>
          <a:prstGeom prst="rect">
            <a:avLst/>
          </a:prstGeom>
          <a:noFill/>
          <a:ln/>
        </p:spPr>
        <p:txBody>
          <a:bodyPr wrap="square" rtlCol="0" anchor="ctr"/>
          <a:lstStyle/>
          <a:p>
            <a:pPr algn="ctr" indent="0" marL="0">
              <a:buNone/>
            </a:pPr>
            <a:r>
              <a:rPr lang="en-US" sz="1100" b="1" dirty="0">
                <a:solidFill>
                  <a:srgbClr val="0B1E3F"/>
                </a:solidFill>
                <a:latin typeface="Calibri" pitchFamily="34" charset="0"/>
                <a:ea typeface="Calibri" pitchFamily="34" charset="-122"/>
                <a:cs typeface="Calibri" pitchFamily="34" charset="-120"/>
              </a:rPr>
              <a:t>Glossary Protection</a:t>
            </a:r>
            <a:endParaRPr lang="en-US" sz="1100" dirty="0"/>
          </a:p>
        </p:txBody>
      </p:sp>
      <p:sp>
        <p:nvSpPr>
          <p:cNvPr id="51" name="Text 49"/>
          <p:cNvSpPr/>
          <p:nvPr/>
        </p:nvSpPr>
        <p:spPr>
          <a:xfrm>
            <a:off x="6583680" y="4983480"/>
            <a:ext cx="1783080" cy="457200"/>
          </a:xfrm>
          <a:prstGeom prst="rect">
            <a:avLst/>
          </a:prstGeom>
          <a:noFill/>
          <a:ln/>
        </p:spPr>
        <p:txBody>
          <a:bodyPr wrap="square" rtlCol="0" anchor="ctr"/>
          <a:lstStyle/>
          <a:p>
            <a:pPr indent="0" marL="0">
              <a:buNone/>
            </a:pPr>
            <a:r>
              <a:rPr lang="en-US" sz="1000" i="1" dirty="0">
                <a:solidFill>
                  <a:srgbClr val="5A6B7C"/>
                </a:solidFill>
                <a:latin typeface="Calibri" pitchFamily="34" charset="0"/>
                <a:ea typeface="Calibri" pitchFamily="34" charset="-122"/>
                <a:cs typeface="Calibri" pitchFamily="34" charset="-120"/>
              </a:rPr>
              <a:t>##TERM_n## masking</a:t>
            </a:r>
            <a:endParaRPr lang="en-US" sz="1000" dirty="0"/>
          </a:p>
        </p:txBody>
      </p:sp>
      <p:sp>
        <p:nvSpPr>
          <p:cNvPr id="52" name="Shape 50"/>
          <p:cNvSpPr/>
          <p:nvPr/>
        </p:nvSpPr>
        <p:spPr>
          <a:xfrm>
            <a:off x="4846320" y="4910328"/>
            <a:ext cx="0" cy="73152"/>
          </a:xfrm>
          <a:prstGeom prst="line">
            <a:avLst/>
          </a:prstGeom>
          <a:noFill/>
          <a:ln w="19050">
            <a:solidFill>
              <a:srgbClr val="0B1E3F"/>
            </a:solidFill>
            <a:prstDash val="solid"/>
            <a:tailEnd type="triangle"/>
          </a:ln>
        </p:spPr>
      </p:sp>
      <p:sp>
        <p:nvSpPr>
          <p:cNvPr id="53" name="Shape 51"/>
          <p:cNvSpPr/>
          <p:nvPr/>
        </p:nvSpPr>
        <p:spPr>
          <a:xfrm>
            <a:off x="3246120" y="5513832"/>
            <a:ext cx="3200400" cy="457200"/>
          </a:xfrm>
          <a:prstGeom prst="roundRect">
            <a:avLst>
              <a:gd name="adj" fmla="val 12000"/>
            </a:avLst>
          </a:prstGeom>
          <a:solidFill>
            <a:srgbClr val="FFFFFF"/>
          </a:solidFill>
          <a:ln w="12700">
            <a:solidFill>
              <a:srgbClr val="0B1E3F"/>
            </a:solidFill>
            <a:prstDash val="solid"/>
          </a:ln>
        </p:spPr>
      </p:sp>
      <p:sp>
        <p:nvSpPr>
          <p:cNvPr id="54" name="Text 52"/>
          <p:cNvSpPr/>
          <p:nvPr/>
        </p:nvSpPr>
        <p:spPr>
          <a:xfrm>
            <a:off x="3291840" y="5559552"/>
            <a:ext cx="3108960" cy="251460"/>
          </a:xfrm>
          <a:prstGeom prst="rect">
            <a:avLst/>
          </a:prstGeom>
          <a:noFill/>
          <a:ln/>
        </p:spPr>
        <p:txBody>
          <a:bodyPr wrap="square" rtlCol="0" anchor="ctr"/>
          <a:lstStyle/>
          <a:p>
            <a:pPr algn="ctr" indent="0" marL="0">
              <a:buNone/>
            </a:pPr>
            <a:r>
              <a:rPr lang="en-US" sz="1100" b="1" dirty="0">
                <a:solidFill>
                  <a:srgbClr val="0B1E3F"/>
                </a:solidFill>
                <a:latin typeface="Calibri" pitchFamily="34" charset="0"/>
                <a:ea typeface="Calibri" pitchFamily="34" charset="-122"/>
                <a:cs typeface="Calibri" pitchFamily="34" charset="-120"/>
              </a:rPr>
              <a:t>Translation → English</a:t>
            </a:r>
            <a:endParaRPr lang="en-US" sz="1100" dirty="0"/>
          </a:p>
        </p:txBody>
      </p:sp>
      <p:sp>
        <p:nvSpPr>
          <p:cNvPr id="55" name="Text 53"/>
          <p:cNvSpPr/>
          <p:nvPr/>
        </p:nvSpPr>
        <p:spPr>
          <a:xfrm>
            <a:off x="6583680" y="5513832"/>
            <a:ext cx="1783080" cy="457200"/>
          </a:xfrm>
          <a:prstGeom prst="rect">
            <a:avLst/>
          </a:prstGeom>
          <a:noFill/>
          <a:ln/>
        </p:spPr>
        <p:txBody>
          <a:bodyPr wrap="square" rtlCol="0" anchor="ctr"/>
          <a:lstStyle/>
          <a:p>
            <a:pPr indent="0" marL="0">
              <a:buNone/>
            </a:pPr>
            <a:r>
              <a:rPr lang="en-US" sz="1000" i="1" dirty="0">
                <a:solidFill>
                  <a:srgbClr val="5A6B7C"/>
                </a:solidFill>
                <a:latin typeface="Calibri" pitchFamily="34" charset="0"/>
                <a:ea typeface="Calibri" pitchFamily="34" charset="-122"/>
                <a:cs typeface="Calibri" pitchFamily="34" charset="-120"/>
              </a:rPr>
              <a:t>deep-translator</a:t>
            </a:r>
            <a:endParaRPr lang="en-US" sz="1000" dirty="0"/>
          </a:p>
        </p:txBody>
      </p:sp>
      <p:sp>
        <p:nvSpPr>
          <p:cNvPr id="56" name="Shape 54"/>
          <p:cNvSpPr/>
          <p:nvPr/>
        </p:nvSpPr>
        <p:spPr>
          <a:xfrm>
            <a:off x="4846320" y="5440680"/>
            <a:ext cx="0" cy="73152"/>
          </a:xfrm>
          <a:prstGeom prst="line">
            <a:avLst/>
          </a:prstGeom>
          <a:noFill/>
          <a:ln w="19050">
            <a:solidFill>
              <a:srgbClr val="0B1E3F"/>
            </a:solidFill>
            <a:prstDash val="solid"/>
            <a:tailEnd type="triangle"/>
          </a:ln>
        </p:spPr>
      </p:sp>
      <p:sp>
        <p:nvSpPr>
          <p:cNvPr id="57" name="Shape 55"/>
          <p:cNvSpPr/>
          <p:nvPr/>
        </p:nvSpPr>
        <p:spPr>
          <a:xfrm>
            <a:off x="2468880" y="2743200"/>
            <a:ext cx="777240" cy="-182880"/>
          </a:xfrm>
          <a:prstGeom prst="line">
            <a:avLst/>
          </a:prstGeom>
          <a:noFill/>
          <a:ln w="19050">
            <a:solidFill>
              <a:srgbClr val="0B1E3F"/>
            </a:solidFill>
            <a:prstDash val="solid"/>
            <a:tailEnd type="triangle"/>
          </a:ln>
        </p:spPr>
      </p:sp>
      <p:sp>
        <p:nvSpPr>
          <p:cNvPr id="58" name="Shape 56"/>
          <p:cNvSpPr/>
          <p:nvPr/>
        </p:nvSpPr>
        <p:spPr>
          <a:xfrm>
            <a:off x="7360920" y="4114800"/>
            <a:ext cx="1554480" cy="0"/>
          </a:xfrm>
          <a:prstGeom prst="line">
            <a:avLst/>
          </a:prstGeom>
          <a:noFill/>
          <a:ln w="19050">
            <a:solidFill>
              <a:srgbClr val="0B1E3F"/>
            </a:solidFill>
            <a:prstDash val="solid"/>
            <a:tailEnd type="triangle"/>
          </a:ln>
        </p:spPr>
      </p:sp>
      <p:sp>
        <p:nvSpPr>
          <p:cNvPr id="59" name="Shape 57"/>
          <p:cNvSpPr/>
          <p:nvPr/>
        </p:nvSpPr>
        <p:spPr>
          <a:xfrm>
            <a:off x="8915400" y="2377440"/>
            <a:ext cx="2743200" cy="685800"/>
          </a:xfrm>
          <a:prstGeom prst="roundRect">
            <a:avLst>
              <a:gd name="adj" fmla="val 8000"/>
            </a:avLst>
          </a:prstGeom>
          <a:solidFill>
            <a:srgbClr val="FFFFFF"/>
          </a:solidFill>
          <a:ln w="12700">
            <a:solidFill>
              <a:srgbClr val="0B1E3F"/>
            </a:solidFill>
            <a:prstDash val="solid"/>
          </a:ln>
        </p:spPr>
      </p:sp>
      <p:sp>
        <p:nvSpPr>
          <p:cNvPr id="60" name="Text 58"/>
          <p:cNvSpPr/>
          <p:nvPr/>
        </p:nvSpPr>
        <p:spPr>
          <a:xfrm>
            <a:off x="8961120" y="2423160"/>
            <a:ext cx="2651760" cy="377190"/>
          </a:xfrm>
          <a:prstGeom prst="rect">
            <a:avLst/>
          </a:prstGeom>
          <a:noFill/>
          <a:ln/>
        </p:spPr>
        <p:txBody>
          <a:bodyPr wrap="square" rtlCol="0" anchor="ctr"/>
          <a:lstStyle/>
          <a:p>
            <a:pPr algn="ctr" indent="0" marL="0">
              <a:buNone/>
            </a:pPr>
            <a:r>
              <a:rPr lang="en-US" sz="1100" b="1" dirty="0">
                <a:solidFill>
                  <a:srgbClr val="0B1E3F"/>
                </a:solidFill>
                <a:latin typeface="Calibri" pitchFamily="34" charset="0"/>
                <a:ea typeface="Calibri" pitchFamily="34" charset="-122"/>
                <a:cs typeface="Calibri" pitchFamily="34" charset="-120"/>
              </a:rPr>
              <a:t>Engineer Review</a:t>
            </a:r>
            <a:endParaRPr lang="en-US" sz="1100" dirty="0"/>
          </a:p>
        </p:txBody>
      </p:sp>
      <p:sp>
        <p:nvSpPr>
          <p:cNvPr id="61" name="Text 59"/>
          <p:cNvSpPr/>
          <p:nvPr/>
        </p:nvSpPr>
        <p:spPr>
          <a:xfrm>
            <a:off x="8961120" y="2754630"/>
            <a:ext cx="2651760" cy="308610"/>
          </a:xfrm>
          <a:prstGeom prst="rect">
            <a:avLst/>
          </a:prstGeom>
          <a:noFill/>
          <a:ln/>
        </p:spPr>
        <p:txBody>
          <a:bodyPr wrap="square" rtlCol="0" anchor="ctr"/>
          <a:lstStyle/>
          <a:p>
            <a:pPr algn="ctr" indent="0" marL="0">
              <a:buNone/>
            </a:pPr>
            <a:r>
              <a:rPr lang="en-US" sz="800" i="1" dirty="0">
                <a:solidFill>
                  <a:srgbClr val="5A6B7C"/>
                </a:solidFill>
                <a:latin typeface="Calibri" pitchFamily="34" charset="0"/>
                <a:ea typeface="Calibri" pitchFamily="34" charset="-122"/>
                <a:cs typeface="Calibri" pitchFamily="34" charset="-120"/>
              </a:rPr>
              <a:t>reply in English</a:t>
            </a:r>
            <a:endParaRPr lang="en-US" sz="800" dirty="0"/>
          </a:p>
        </p:txBody>
      </p:sp>
      <p:sp>
        <p:nvSpPr>
          <p:cNvPr id="62" name="Shape 60"/>
          <p:cNvSpPr/>
          <p:nvPr/>
        </p:nvSpPr>
        <p:spPr>
          <a:xfrm>
            <a:off x="8915400" y="3246120"/>
            <a:ext cx="2743200" cy="685800"/>
          </a:xfrm>
          <a:prstGeom prst="roundRect">
            <a:avLst>
              <a:gd name="adj" fmla="val 8000"/>
            </a:avLst>
          </a:prstGeom>
          <a:solidFill>
            <a:srgbClr val="FFFFFF"/>
          </a:solidFill>
          <a:ln w="12700">
            <a:solidFill>
              <a:srgbClr val="0B1E3F"/>
            </a:solidFill>
            <a:prstDash val="solid"/>
          </a:ln>
        </p:spPr>
      </p:sp>
      <p:sp>
        <p:nvSpPr>
          <p:cNvPr id="63" name="Text 61"/>
          <p:cNvSpPr/>
          <p:nvPr/>
        </p:nvSpPr>
        <p:spPr>
          <a:xfrm>
            <a:off x="8961120" y="3291840"/>
            <a:ext cx="2651760" cy="377190"/>
          </a:xfrm>
          <a:prstGeom prst="rect">
            <a:avLst/>
          </a:prstGeom>
          <a:noFill/>
          <a:ln/>
        </p:spPr>
        <p:txBody>
          <a:bodyPr wrap="square" rtlCol="0" anchor="ctr"/>
          <a:lstStyle/>
          <a:p>
            <a:pPr algn="ctr" indent="0" marL="0">
              <a:buNone/>
            </a:pPr>
            <a:r>
              <a:rPr lang="en-US" sz="1100" b="1" dirty="0">
                <a:solidFill>
                  <a:srgbClr val="0B1E3F"/>
                </a:solidFill>
                <a:latin typeface="Calibri" pitchFamily="34" charset="0"/>
                <a:ea typeface="Calibri" pitchFamily="34" charset="-122"/>
                <a:cs typeface="Calibri" pitchFamily="34" charset="-120"/>
              </a:rPr>
              <a:t>Reverse Translate</a:t>
            </a:r>
            <a:endParaRPr lang="en-US" sz="1100" dirty="0"/>
          </a:p>
        </p:txBody>
      </p:sp>
      <p:sp>
        <p:nvSpPr>
          <p:cNvPr id="64" name="Text 62"/>
          <p:cNvSpPr/>
          <p:nvPr/>
        </p:nvSpPr>
        <p:spPr>
          <a:xfrm>
            <a:off x="8961120" y="3623310"/>
            <a:ext cx="2651760" cy="308610"/>
          </a:xfrm>
          <a:prstGeom prst="rect">
            <a:avLst/>
          </a:prstGeom>
          <a:noFill/>
          <a:ln/>
        </p:spPr>
        <p:txBody>
          <a:bodyPr wrap="square" rtlCol="0" anchor="ctr"/>
          <a:lstStyle/>
          <a:p>
            <a:pPr algn="ctr" indent="0" marL="0">
              <a:buNone/>
            </a:pPr>
            <a:r>
              <a:rPr lang="en-US" sz="800" i="1" dirty="0">
                <a:solidFill>
                  <a:srgbClr val="5A6B7C"/>
                </a:solidFill>
                <a:latin typeface="Calibri" pitchFamily="34" charset="0"/>
                <a:ea typeface="Calibri" pitchFamily="34" charset="-122"/>
                <a:cs typeface="Calibri" pitchFamily="34" charset="-120"/>
              </a:rPr>
              <a:t>EN → original lang</a:t>
            </a:r>
            <a:endParaRPr lang="en-US" sz="800" dirty="0"/>
          </a:p>
        </p:txBody>
      </p:sp>
      <p:sp>
        <p:nvSpPr>
          <p:cNvPr id="65" name="Shape 63"/>
          <p:cNvSpPr/>
          <p:nvPr/>
        </p:nvSpPr>
        <p:spPr>
          <a:xfrm>
            <a:off x="10287000" y="3063240"/>
            <a:ext cx="0" cy="182880"/>
          </a:xfrm>
          <a:prstGeom prst="line">
            <a:avLst/>
          </a:prstGeom>
          <a:noFill/>
          <a:ln w="19050">
            <a:solidFill>
              <a:srgbClr val="0B1E3F"/>
            </a:solidFill>
            <a:prstDash val="solid"/>
            <a:tailEnd type="triangle"/>
          </a:ln>
        </p:spPr>
      </p:sp>
      <p:sp>
        <p:nvSpPr>
          <p:cNvPr id="66" name="Shape 64"/>
          <p:cNvSpPr/>
          <p:nvPr/>
        </p:nvSpPr>
        <p:spPr>
          <a:xfrm>
            <a:off x="8915400" y="4114800"/>
            <a:ext cx="2743200" cy="685800"/>
          </a:xfrm>
          <a:prstGeom prst="roundRect">
            <a:avLst>
              <a:gd name="adj" fmla="val 8000"/>
            </a:avLst>
          </a:prstGeom>
          <a:solidFill>
            <a:srgbClr val="FFFFFF"/>
          </a:solidFill>
          <a:ln w="12700">
            <a:solidFill>
              <a:srgbClr val="0B1E3F"/>
            </a:solidFill>
            <a:prstDash val="solid"/>
          </a:ln>
        </p:spPr>
      </p:sp>
      <p:sp>
        <p:nvSpPr>
          <p:cNvPr id="67" name="Text 65"/>
          <p:cNvSpPr/>
          <p:nvPr/>
        </p:nvSpPr>
        <p:spPr>
          <a:xfrm>
            <a:off x="8961120" y="4160520"/>
            <a:ext cx="2651760" cy="377190"/>
          </a:xfrm>
          <a:prstGeom prst="rect">
            <a:avLst/>
          </a:prstGeom>
          <a:noFill/>
          <a:ln/>
        </p:spPr>
        <p:txBody>
          <a:bodyPr wrap="square" rtlCol="0" anchor="ctr"/>
          <a:lstStyle/>
          <a:p>
            <a:pPr algn="ctr" indent="0" marL="0">
              <a:buNone/>
            </a:pPr>
            <a:r>
              <a:rPr lang="en-US" sz="1100" b="1" dirty="0">
                <a:solidFill>
                  <a:srgbClr val="0B1E3F"/>
                </a:solidFill>
                <a:latin typeface="Calibri" pitchFamily="34" charset="0"/>
                <a:ea typeface="Calibri" pitchFamily="34" charset="-122"/>
                <a:cs typeface="Calibri" pitchFamily="34" charset="-120"/>
              </a:rPr>
              <a:t>Customer Reply</a:t>
            </a:r>
            <a:endParaRPr lang="en-US" sz="1100" dirty="0"/>
          </a:p>
        </p:txBody>
      </p:sp>
      <p:sp>
        <p:nvSpPr>
          <p:cNvPr id="68" name="Text 66"/>
          <p:cNvSpPr/>
          <p:nvPr/>
        </p:nvSpPr>
        <p:spPr>
          <a:xfrm>
            <a:off x="8961120" y="4491990"/>
            <a:ext cx="2651760" cy="308610"/>
          </a:xfrm>
          <a:prstGeom prst="rect">
            <a:avLst/>
          </a:prstGeom>
          <a:noFill/>
          <a:ln/>
        </p:spPr>
        <p:txBody>
          <a:bodyPr wrap="square" rtlCol="0" anchor="ctr"/>
          <a:lstStyle/>
          <a:p>
            <a:pPr algn="ctr" indent="0" marL="0">
              <a:buNone/>
            </a:pPr>
            <a:r>
              <a:rPr lang="en-US" sz="800" i="1" dirty="0">
                <a:solidFill>
                  <a:srgbClr val="5A6B7C"/>
                </a:solidFill>
                <a:latin typeface="Calibri" pitchFamily="34" charset="0"/>
                <a:ea typeface="Calibri" pitchFamily="34" charset="-122"/>
                <a:cs typeface="Calibri" pitchFamily="34" charset="-120"/>
              </a:rPr>
              <a:t>native language</a:t>
            </a:r>
            <a:endParaRPr lang="en-US" sz="800" dirty="0"/>
          </a:p>
        </p:txBody>
      </p:sp>
      <p:sp>
        <p:nvSpPr>
          <p:cNvPr id="69" name="Shape 67"/>
          <p:cNvSpPr/>
          <p:nvPr/>
        </p:nvSpPr>
        <p:spPr>
          <a:xfrm>
            <a:off x="10287000" y="3931920"/>
            <a:ext cx="0" cy="182880"/>
          </a:xfrm>
          <a:prstGeom prst="line">
            <a:avLst/>
          </a:prstGeom>
          <a:noFill/>
          <a:ln w="19050">
            <a:solidFill>
              <a:srgbClr val="0B1E3F"/>
            </a:solidFill>
            <a:prstDash val="solid"/>
            <a:tailEnd type="triangle"/>
          </a:ln>
        </p:spPr>
      </p:sp>
      <p:sp>
        <p:nvSpPr>
          <p:cNvPr id="70" name="Shape 68"/>
          <p:cNvSpPr/>
          <p:nvPr/>
        </p:nvSpPr>
        <p:spPr>
          <a:xfrm>
            <a:off x="8915400" y="5029200"/>
            <a:ext cx="2743200" cy="822960"/>
          </a:xfrm>
          <a:prstGeom prst="roundRect">
            <a:avLst>
              <a:gd name="adj" fmla="val 6667"/>
            </a:avLst>
          </a:prstGeom>
          <a:solidFill>
            <a:srgbClr val="1FB8C9"/>
          </a:solidFill>
          <a:ln w="12700">
            <a:solidFill>
              <a:srgbClr val="0B1E3F"/>
            </a:solidFill>
            <a:prstDash val="solid"/>
          </a:ln>
        </p:spPr>
      </p:sp>
      <p:sp>
        <p:nvSpPr>
          <p:cNvPr id="71" name="Text 69"/>
          <p:cNvSpPr/>
          <p:nvPr/>
        </p:nvSpPr>
        <p:spPr>
          <a:xfrm>
            <a:off x="8961120" y="5074920"/>
            <a:ext cx="2651760" cy="45262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CSV Audit Trail</a:t>
            </a:r>
            <a:endParaRPr lang="en-US" sz="1100" dirty="0"/>
          </a:p>
        </p:txBody>
      </p:sp>
      <p:sp>
        <p:nvSpPr>
          <p:cNvPr id="72" name="Text 70"/>
          <p:cNvSpPr/>
          <p:nvPr/>
        </p:nvSpPr>
        <p:spPr>
          <a:xfrm>
            <a:off x="8961120" y="5481828"/>
            <a:ext cx="2651760" cy="370332"/>
          </a:xfrm>
          <a:prstGeom prst="rect">
            <a:avLst/>
          </a:prstGeom>
          <a:noFill/>
          <a:ln/>
        </p:spPr>
        <p:txBody>
          <a:bodyPr wrap="square" rtlCol="0" anchor="ctr"/>
          <a:lstStyle/>
          <a:p>
            <a:pPr algn="ctr" indent="0" marL="0">
              <a:buNone/>
            </a:pPr>
            <a:r>
              <a:rPr lang="en-US" sz="800" i="1" dirty="0">
                <a:solidFill>
                  <a:srgbClr val="5A6B7C"/>
                </a:solidFill>
                <a:latin typeface="Calibri" pitchFamily="34" charset="0"/>
                <a:ea typeface="Calibri" pitchFamily="34" charset="-122"/>
                <a:cs typeface="Calibri" pitchFamily="34" charset="-120"/>
              </a:rPr>
              <a:t>timestamped lifecycle</a:t>
            </a:r>
            <a:endParaRPr lang="en-US" sz="800" dirty="0"/>
          </a:p>
        </p:txBody>
      </p:sp>
      <p:sp>
        <p:nvSpPr>
          <p:cNvPr id="73" name="Shape 71"/>
          <p:cNvSpPr/>
          <p:nvPr/>
        </p:nvSpPr>
        <p:spPr>
          <a:xfrm>
            <a:off x="10287000" y="4800600"/>
            <a:ext cx="0" cy="228600"/>
          </a:xfrm>
          <a:prstGeom prst="line">
            <a:avLst/>
          </a:prstGeom>
          <a:noFill/>
          <a:ln w="19050">
            <a:solidFill>
              <a:srgbClr val="0B1E3F"/>
            </a:solidFill>
            <a:prstDash val="solid"/>
            <a:tailEnd type="triangle"/>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E3F"/>
          </a:solidFill>
          <a:ln/>
        </p:spPr>
      </p:sp>
      <p:sp>
        <p:nvSpPr>
          <p:cNvPr id="3" name="Shape 1"/>
          <p:cNvSpPr/>
          <p:nvPr/>
        </p:nvSpPr>
        <p:spPr>
          <a:xfrm>
            <a:off x="0" y="502920"/>
            <a:ext cx="12191695" cy="36576"/>
          </a:xfrm>
          <a:prstGeom prst="rect">
            <a:avLst/>
          </a:prstGeom>
          <a:solidFill>
            <a:srgbClr val="1FB8C9"/>
          </a:solidFill>
          <a:ln/>
        </p:spPr>
      </p:sp>
      <p:sp>
        <p:nvSpPr>
          <p:cNvPr id="4" name="Text 2"/>
          <p:cNvSpPr/>
          <p:nvPr/>
        </p:nvSpPr>
        <p:spPr>
          <a:xfrm>
            <a:off x="365760" y="0"/>
            <a:ext cx="11430000" cy="502920"/>
          </a:xfrm>
          <a:prstGeom prst="rect">
            <a:avLst/>
          </a:prstGeom>
          <a:noFill/>
          <a:ln/>
        </p:spPr>
        <p:txBody>
          <a:bodyPr wrap="square" rtlCol="0" anchor="ctr"/>
          <a:lstStyle/>
          <a:p>
            <a:pPr indent="0" marL="0">
              <a:buNone/>
            </a:pPr>
            <a:r>
              <a:rPr lang="en-US" sz="1000" b="1" spc="300" kern="0" dirty="0">
                <a:solidFill>
                  <a:srgbClr val="FFFFFF"/>
                </a:solidFill>
                <a:latin typeface="Calibri" pitchFamily="34" charset="0"/>
                <a:ea typeface="Calibri" pitchFamily="34" charset="-122"/>
                <a:cs typeface="Calibri" pitchFamily="34" charset="-120"/>
              </a:rPr>
              <a:t>MULTILINGUAL TICKET TRANSLATOR  •  TEAM 9  •  SD-04</a:t>
            </a:r>
            <a:endParaRPr lang="en-US" sz="1000" dirty="0"/>
          </a:p>
        </p:txBody>
      </p:sp>
      <p:sp>
        <p:nvSpPr>
          <p:cNvPr id="5" name="Text 3"/>
          <p:cNvSpPr/>
          <p:nvPr/>
        </p:nvSpPr>
        <p:spPr>
          <a:xfrm>
            <a:off x="457200" y="685800"/>
            <a:ext cx="11247120" cy="320040"/>
          </a:xfrm>
          <a:prstGeom prst="rect">
            <a:avLst/>
          </a:prstGeom>
          <a:noFill/>
          <a:ln/>
        </p:spPr>
        <p:txBody>
          <a:bodyPr wrap="square" rtlCol="0" anchor="ctr"/>
          <a:lstStyle/>
          <a:p>
            <a:pPr indent="0" marL="0">
              <a:buNone/>
            </a:pPr>
            <a:r>
              <a:rPr lang="en-US" sz="1100" b="1" spc="400" kern="0" dirty="0">
                <a:solidFill>
                  <a:srgbClr val="1FB8C9"/>
                </a:solidFill>
                <a:latin typeface="Calibri" pitchFamily="34" charset="0"/>
                <a:ea typeface="Calibri" pitchFamily="34" charset="-122"/>
                <a:cs typeface="Calibri" pitchFamily="34" charset="-120"/>
              </a:rPr>
              <a:t>05 — TECHNOLOGY</a:t>
            </a:r>
            <a:endParaRPr lang="en-US" sz="1100" dirty="0"/>
          </a:p>
        </p:txBody>
      </p:sp>
      <p:sp>
        <p:nvSpPr>
          <p:cNvPr id="6" name="Text 4"/>
          <p:cNvSpPr/>
          <p:nvPr/>
        </p:nvSpPr>
        <p:spPr>
          <a:xfrm>
            <a:off x="457200" y="960120"/>
            <a:ext cx="11247120" cy="640080"/>
          </a:xfrm>
          <a:prstGeom prst="rect">
            <a:avLst/>
          </a:prstGeom>
          <a:noFill/>
          <a:ln/>
        </p:spPr>
        <p:txBody>
          <a:bodyPr wrap="square" rtlCol="0" anchor="ctr"/>
          <a:lstStyle/>
          <a:p>
            <a:pPr indent="0" marL="0">
              <a:buNone/>
            </a:pPr>
            <a:r>
              <a:rPr lang="en-US" sz="3000" b="1" dirty="0">
                <a:solidFill>
                  <a:srgbClr val="0B1E3F"/>
                </a:solidFill>
                <a:latin typeface="Calibri" pitchFamily="34" charset="0"/>
                <a:ea typeface="Calibri" pitchFamily="34" charset="-122"/>
                <a:cs typeface="Calibri" pitchFamily="34" charset="-120"/>
              </a:rPr>
              <a:t>Technology Stack</a:t>
            </a:r>
            <a:endParaRPr lang="en-US" sz="3000" dirty="0"/>
          </a:p>
        </p:txBody>
      </p:sp>
      <p:sp>
        <p:nvSpPr>
          <p:cNvPr id="7" name="Shape 5"/>
          <p:cNvSpPr/>
          <p:nvPr/>
        </p:nvSpPr>
        <p:spPr>
          <a:xfrm>
            <a:off x="457200" y="1627632"/>
            <a:ext cx="548640" cy="54864"/>
          </a:xfrm>
          <a:prstGeom prst="rect">
            <a:avLst/>
          </a:prstGeom>
          <a:solidFill>
            <a:srgbClr val="1FB8C9"/>
          </a:solidFill>
          <a:ln w="12700">
            <a:solidFill>
              <a:srgbClr val="1FB8C9"/>
            </a:solidFill>
            <a:prstDash val="solid"/>
          </a:ln>
        </p:spPr>
      </p:sp>
      <p:sp>
        <p:nvSpPr>
          <p:cNvPr id="8" name="Shape 6"/>
          <p:cNvSpPr/>
          <p:nvPr/>
        </p:nvSpPr>
        <p:spPr>
          <a:xfrm>
            <a:off x="0" y="6675120"/>
            <a:ext cx="12191695" cy="182880"/>
          </a:xfrm>
          <a:prstGeom prst="rect">
            <a:avLst/>
          </a:prstGeom>
          <a:solidFill>
            <a:srgbClr val="F4F7FB"/>
          </a:solidFill>
          <a:ln w="12700">
            <a:solidFill>
              <a:srgbClr val="F4F7FB"/>
            </a:solidFill>
            <a:prstDash val="solid"/>
          </a:ln>
        </p:spPr>
      </p:sp>
      <p:sp>
        <p:nvSpPr>
          <p:cNvPr id="9" name="Text 7"/>
          <p:cNvSpPr/>
          <p:nvPr/>
        </p:nvSpPr>
        <p:spPr>
          <a:xfrm>
            <a:off x="365760" y="6656832"/>
            <a:ext cx="7315200" cy="201168"/>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Infinite Computer Solutions • Placement Case Study</a:t>
            </a:r>
            <a:endParaRPr lang="en-US" sz="900" dirty="0"/>
          </a:p>
        </p:txBody>
      </p:sp>
      <p:sp>
        <p:nvSpPr>
          <p:cNvPr id="10" name="Text 8"/>
          <p:cNvSpPr/>
          <p:nvPr/>
        </p:nvSpPr>
        <p:spPr>
          <a:xfrm>
            <a:off x="11247120" y="6656832"/>
            <a:ext cx="640080" cy="201168"/>
          </a:xfrm>
          <a:prstGeom prst="rect">
            <a:avLst/>
          </a:prstGeom>
          <a:noFill/>
          <a:ln/>
        </p:spPr>
        <p:txBody>
          <a:bodyPr wrap="square" rtlCol="0" anchor="ctr"/>
          <a:lstStyle/>
          <a:p>
            <a:pPr algn="r" indent="0" marL="0">
              <a:buNone/>
            </a:pPr>
            <a:r>
              <a:rPr lang="en-US" sz="900" b="1" dirty="0">
                <a:solidFill>
                  <a:srgbClr val="5A6B7C"/>
                </a:solidFill>
                <a:latin typeface="Calibri" pitchFamily="34" charset="0"/>
                <a:ea typeface="Calibri" pitchFamily="34" charset="-122"/>
                <a:cs typeface="Calibri" pitchFamily="34" charset="-120"/>
              </a:rPr>
              <a:t>6 / 15</a:t>
            </a:r>
            <a:endParaRPr lang="en-US" sz="900" dirty="0"/>
          </a:p>
        </p:txBody>
      </p:sp>
      <p:sp>
        <p:nvSpPr>
          <p:cNvPr id="11" name="Shape 9"/>
          <p:cNvSpPr/>
          <p:nvPr/>
        </p:nvSpPr>
        <p:spPr>
          <a:xfrm>
            <a:off x="457200" y="1874520"/>
            <a:ext cx="11247120" cy="457200"/>
          </a:xfrm>
          <a:prstGeom prst="rect">
            <a:avLst/>
          </a:prstGeom>
          <a:solidFill>
            <a:srgbClr val="0B1E3F"/>
          </a:solidFill>
          <a:ln w="12700">
            <a:solidFill>
              <a:srgbClr val="0B1E3F"/>
            </a:solidFill>
            <a:prstDash val="solid"/>
          </a:ln>
        </p:spPr>
      </p:sp>
      <p:sp>
        <p:nvSpPr>
          <p:cNvPr id="12" name="Text 10"/>
          <p:cNvSpPr/>
          <p:nvPr/>
        </p:nvSpPr>
        <p:spPr>
          <a:xfrm>
            <a:off x="594360" y="1874520"/>
            <a:ext cx="2286000" cy="45720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LAYER</a:t>
            </a:r>
            <a:endParaRPr lang="en-US" sz="1100" dirty="0"/>
          </a:p>
        </p:txBody>
      </p:sp>
      <p:sp>
        <p:nvSpPr>
          <p:cNvPr id="13" name="Text 11"/>
          <p:cNvSpPr/>
          <p:nvPr/>
        </p:nvSpPr>
        <p:spPr>
          <a:xfrm>
            <a:off x="2880360" y="1874520"/>
            <a:ext cx="3017520" cy="45720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TECHNOLOGY</a:t>
            </a:r>
            <a:endParaRPr lang="en-US" sz="1100" dirty="0"/>
          </a:p>
        </p:txBody>
      </p:sp>
      <p:sp>
        <p:nvSpPr>
          <p:cNvPr id="14" name="Text 12"/>
          <p:cNvSpPr/>
          <p:nvPr/>
        </p:nvSpPr>
        <p:spPr>
          <a:xfrm>
            <a:off x="5897880" y="1874520"/>
            <a:ext cx="5943600" cy="45720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PURPOSE</a:t>
            </a:r>
            <a:endParaRPr lang="en-US" sz="1100" dirty="0"/>
          </a:p>
        </p:txBody>
      </p:sp>
      <p:sp>
        <p:nvSpPr>
          <p:cNvPr id="15" name="Shape 13"/>
          <p:cNvSpPr/>
          <p:nvPr/>
        </p:nvSpPr>
        <p:spPr>
          <a:xfrm>
            <a:off x="457200" y="2331720"/>
            <a:ext cx="11247120" cy="475488"/>
          </a:xfrm>
          <a:prstGeom prst="rect">
            <a:avLst/>
          </a:prstGeom>
          <a:solidFill>
            <a:srgbClr val="FFFFFF"/>
          </a:solidFill>
          <a:ln w="6350">
            <a:solidFill>
              <a:srgbClr val="D9E1EC"/>
            </a:solidFill>
            <a:prstDash val="solid"/>
          </a:ln>
        </p:spPr>
      </p:sp>
      <p:sp>
        <p:nvSpPr>
          <p:cNvPr id="16" name="Shape 14"/>
          <p:cNvSpPr/>
          <p:nvPr/>
        </p:nvSpPr>
        <p:spPr>
          <a:xfrm>
            <a:off x="457200" y="2331720"/>
            <a:ext cx="73152" cy="475488"/>
          </a:xfrm>
          <a:prstGeom prst="rect">
            <a:avLst/>
          </a:prstGeom>
          <a:solidFill>
            <a:srgbClr val="1FB8C9"/>
          </a:solidFill>
          <a:ln w="12700">
            <a:solidFill>
              <a:srgbClr val="1FB8C9"/>
            </a:solidFill>
            <a:prstDash val="solid"/>
          </a:ln>
        </p:spPr>
      </p:sp>
      <p:sp>
        <p:nvSpPr>
          <p:cNvPr id="17" name="Text 15"/>
          <p:cNvSpPr/>
          <p:nvPr/>
        </p:nvSpPr>
        <p:spPr>
          <a:xfrm>
            <a:off x="640080" y="2331720"/>
            <a:ext cx="2103120" cy="475488"/>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Frontend</a:t>
            </a:r>
            <a:endParaRPr lang="en-US" sz="1100" dirty="0"/>
          </a:p>
        </p:txBody>
      </p:sp>
      <p:sp>
        <p:nvSpPr>
          <p:cNvPr id="18" name="Text 16"/>
          <p:cNvSpPr/>
          <p:nvPr/>
        </p:nvSpPr>
        <p:spPr>
          <a:xfrm>
            <a:off x="2880360" y="2331720"/>
            <a:ext cx="2926080" cy="475488"/>
          </a:xfrm>
          <a:prstGeom prst="rect">
            <a:avLst/>
          </a:prstGeom>
          <a:noFill/>
          <a:ln/>
        </p:spPr>
        <p:txBody>
          <a:bodyPr wrap="square" rtlCol="0" anchor="ctr"/>
          <a:lstStyle/>
          <a:p>
            <a:pPr indent="0" marL="0">
              <a:buNone/>
            </a:pPr>
            <a:r>
              <a:rPr lang="en-US" sz="1100" b="1" dirty="0">
                <a:solidFill>
                  <a:srgbClr val="6C7BFF"/>
                </a:solidFill>
                <a:latin typeface="Calibri" pitchFamily="34" charset="0"/>
                <a:ea typeface="Calibri" pitchFamily="34" charset="-122"/>
                <a:cs typeface="Calibri" pitchFamily="34" charset="-120"/>
              </a:rPr>
              <a:t>Streamlit</a:t>
            </a:r>
            <a:endParaRPr lang="en-US" sz="1100" dirty="0"/>
          </a:p>
        </p:txBody>
      </p:sp>
      <p:sp>
        <p:nvSpPr>
          <p:cNvPr id="19" name="Text 17"/>
          <p:cNvSpPr/>
          <p:nvPr/>
        </p:nvSpPr>
        <p:spPr>
          <a:xfrm>
            <a:off x="5897880" y="2331720"/>
            <a:ext cx="5669280" cy="475488"/>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Interactive multi-page dashboard with file upload, batch view, and export.</a:t>
            </a:r>
            <a:endParaRPr lang="en-US" sz="1000" dirty="0"/>
          </a:p>
        </p:txBody>
      </p:sp>
      <p:sp>
        <p:nvSpPr>
          <p:cNvPr id="20" name="Shape 18"/>
          <p:cNvSpPr/>
          <p:nvPr/>
        </p:nvSpPr>
        <p:spPr>
          <a:xfrm>
            <a:off x="457200" y="2807208"/>
            <a:ext cx="11247120" cy="475488"/>
          </a:xfrm>
          <a:prstGeom prst="rect">
            <a:avLst/>
          </a:prstGeom>
          <a:solidFill>
            <a:srgbClr val="F4F7FB"/>
          </a:solidFill>
          <a:ln w="6350">
            <a:solidFill>
              <a:srgbClr val="D9E1EC"/>
            </a:solidFill>
            <a:prstDash val="solid"/>
          </a:ln>
        </p:spPr>
      </p:sp>
      <p:sp>
        <p:nvSpPr>
          <p:cNvPr id="21" name="Shape 19"/>
          <p:cNvSpPr/>
          <p:nvPr/>
        </p:nvSpPr>
        <p:spPr>
          <a:xfrm>
            <a:off x="457200" y="2807208"/>
            <a:ext cx="73152" cy="475488"/>
          </a:xfrm>
          <a:prstGeom prst="rect">
            <a:avLst/>
          </a:prstGeom>
          <a:solidFill>
            <a:srgbClr val="1FB8C9"/>
          </a:solidFill>
          <a:ln w="12700">
            <a:solidFill>
              <a:srgbClr val="1FB8C9"/>
            </a:solidFill>
            <a:prstDash val="solid"/>
          </a:ln>
        </p:spPr>
      </p:sp>
      <p:sp>
        <p:nvSpPr>
          <p:cNvPr id="22" name="Text 20"/>
          <p:cNvSpPr/>
          <p:nvPr/>
        </p:nvSpPr>
        <p:spPr>
          <a:xfrm>
            <a:off x="640080" y="2807208"/>
            <a:ext cx="2103120" cy="475488"/>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Programming</a:t>
            </a:r>
            <a:endParaRPr lang="en-US" sz="1100" dirty="0"/>
          </a:p>
        </p:txBody>
      </p:sp>
      <p:sp>
        <p:nvSpPr>
          <p:cNvPr id="23" name="Text 21"/>
          <p:cNvSpPr/>
          <p:nvPr/>
        </p:nvSpPr>
        <p:spPr>
          <a:xfrm>
            <a:off x="2880360" y="2807208"/>
            <a:ext cx="2926080" cy="475488"/>
          </a:xfrm>
          <a:prstGeom prst="rect">
            <a:avLst/>
          </a:prstGeom>
          <a:noFill/>
          <a:ln/>
        </p:spPr>
        <p:txBody>
          <a:bodyPr wrap="square" rtlCol="0" anchor="ctr"/>
          <a:lstStyle/>
          <a:p>
            <a:pPr indent="0" marL="0">
              <a:buNone/>
            </a:pPr>
            <a:r>
              <a:rPr lang="en-US" sz="1100" b="1" dirty="0">
                <a:solidFill>
                  <a:srgbClr val="6C7BFF"/>
                </a:solidFill>
                <a:latin typeface="Calibri" pitchFamily="34" charset="0"/>
                <a:ea typeface="Calibri" pitchFamily="34" charset="-122"/>
                <a:cs typeface="Calibri" pitchFamily="34" charset="-120"/>
              </a:rPr>
              <a:t>Python 3.x</a:t>
            </a:r>
            <a:endParaRPr lang="en-US" sz="1100" dirty="0"/>
          </a:p>
        </p:txBody>
      </p:sp>
      <p:sp>
        <p:nvSpPr>
          <p:cNvPr id="24" name="Text 22"/>
          <p:cNvSpPr/>
          <p:nvPr/>
        </p:nvSpPr>
        <p:spPr>
          <a:xfrm>
            <a:off x="5897880" y="2807208"/>
            <a:ext cx="5669280" cy="475488"/>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Core language for orchestration, integration, and data processing.</a:t>
            </a:r>
            <a:endParaRPr lang="en-US" sz="1000" dirty="0"/>
          </a:p>
        </p:txBody>
      </p:sp>
      <p:sp>
        <p:nvSpPr>
          <p:cNvPr id="25" name="Shape 23"/>
          <p:cNvSpPr/>
          <p:nvPr/>
        </p:nvSpPr>
        <p:spPr>
          <a:xfrm>
            <a:off x="457200" y="3282696"/>
            <a:ext cx="11247120" cy="475488"/>
          </a:xfrm>
          <a:prstGeom prst="rect">
            <a:avLst/>
          </a:prstGeom>
          <a:solidFill>
            <a:srgbClr val="FFFFFF"/>
          </a:solidFill>
          <a:ln w="6350">
            <a:solidFill>
              <a:srgbClr val="D9E1EC"/>
            </a:solidFill>
            <a:prstDash val="solid"/>
          </a:ln>
        </p:spPr>
      </p:sp>
      <p:sp>
        <p:nvSpPr>
          <p:cNvPr id="26" name="Shape 24"/>
          <p:cNvSpPr/>
          <p:nvPr/>
        </p:nvSpPr>
        <p:spPr>
          <a:xfrm>
            <a:off x="457200" y="3282696"/>
            <a:ext cx="73152" cy="475488"/>
          </a:xfrm>
          <a:prstGeom prst="rect">
            <a:avLst/>
          </a:prstGeom>
          <a:solidFill>
            <a:srgbClr val="1FB8C9"/>
          </a:solidFill>
          <a:ln w="12700">
            <a:solidFill>
              <a:srgbClr val="1FB8C9"/>
            </a:solidFill>
            <a:prstDash val="solid"/>
          </a:ln>
        </p:spPr>
      </p:sp>
      <p:sp>
        <p:nvSpPr>
          <p:cNvPr id="27" name="Text 25"/>
          <p:cNvSpPr/>
          <p:nvPr/>
        </p:nvSpPr>
        <p:spPr>
          <a:xfrm>
            <a:off x="640080" y="3282696"/>
            <a:ext cx="2103120" cy="475488"/>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AI Layer</a:t>
            </a:r>
            <a:endParaRPr lang="en-US" sz="1100" dirty="0"/>
          </a:p>
        </p:txBody>
      </p:sp>
      <p:sp>
        <p:nvSpPr>
          <p:cNvPr id="28" name="Text 26"/>
          <p:cNvSpPr/>
          <p:nvPr/>
        </p:nvSpPr>
        <p:spPr>
          <a:xfrm>
            <a:off x="2880360" y="3282696"/>
            <a:ext cx="2926080" cy="475488"/>
          </a:xfrm>
          <a:prstGeom prst="rect">
            <a:avLst/>
          </a:prstGeom>
          <a:noFill/>
          <a:ln/>
        </p:spPr>
        <p:txBody>
          <a:bodyPr wrap="square" rtlCol="0" anchor="ctr"/>
          <a:lstStyle/>
          <a:p>
            <a:pPr indent="0" marL="0">
              <a:buNone/>
            </a:pPr>
            <a:r>
              <a:rPr lang="en-US" sz="1100" b="1" dirty="0">
                <a:solidFill>
                  <a:srgbClr val="6C7BFF"/>
                </a:solidFill>
                <a:latin typeface="Calibri" pitchFamily="34" charset="0"/>
                <a:ea typeface="Calibri" pitchFamily="34" charset="-122"/>
                <a:cs typeface="Calibri" pitchFamily="34" charset="-120"/>
              </a:rPr>
              <a:t>OpenRouter API</a:t>
            </a:r>
            <a:endParaRPr lang="en-US" sz="1100" dirty="0"/>
          </a:p>
        </p:txBody>
      </p:sp>
      <p:sp>
        <p:nvSpPr>
          <p:cNvPr id="29" name="Text 27"/>
          <p:cNvSpPr/>
          <p:nvPr/>
        </p:nvSpPr>
        <p:spPr>
          <a:xfrm>
            <a:off x="5897880" y="3282696"/>
            <a:ext cx="5669280" cy="475488"/>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Unified gateway for accessing the nex-agi/nex-n2-pro LLM.</a:t>
            </a:r>
            <a:endParaRPr lang="en-US" sz="1000" dirty="0"/>
          </a:p>
        </p:txBody>
      </p:sp>
      <p:sp>
        <p:nvSpPr>
          <p:cNvPr id="30" name="Shape 28"/>
          <p:cNvSpPr/>
          <p:nvPr/>
        </p:nvSpPr>
        <p:spPr>
          <a:xfrm>
            <a:off x="457200" y="3758184"/>
            <a:ext cx="11247120" cy="475488"/>
          </a:xfrm>
          <a:prstGeom prst="rect">
            <a:avLst/>
          </a:prstGeom>
          <a:solidFill>
            <a:srgbClr val="F4F7FB"/>
          </a:solidFill>
          <a:ln w="6350">
            <a:solidFill>
              <a:srgbClr val="D9E1EC"/>
            </a:solidFill>
            <a:prstDash val="solid"/>
          </a:ln>
        </p:spPr>
      </p:sp>
      <p:sp>
        <p:nvSpPr>
          <p:cNvPr id="31" name="Shape 29"/>
          <p:cNvSpPr/>
          <p:nvPr/>
        </p:nvSpPr>
        <p:spPr>
          <a:xfrm>
            <a:off x="457200" y="3758184"/>
            <a:ext cx="73152" cy="475488"/>
          </a:xfrm>
          <a:prstGeom prst="rect">
            <a:avLst/>
          </a:prstGeom>
          <a:solidFill>
            <a:srgbClr val="1FB8C9"/>
          </a:solidFill>
          <a:ln w="12700">
            <a:solidFill>
              <a:srgbClr val="1FB8C9"/>
            </a:solidFill>
            <a:prstDash val="solid"/>
          </a:ln>
        </p:spPr>
      </p:sp>
      <p:sp>
        <p:nvSpPr>
          <p:cNvPr id="32" name="Text 30"/>
          <p:cNvSpPr/>
          <p:nvPr/>
        </p:nvSpPr>
        <p:spPr>
          <a:xfrm>
            <a:off x="640080" y="3758184"/>
            <a:ext cx="2103120" cy="475488"/>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LLM Model</a:t>
            </a:r>
            <a:endParaRPr lang="en-US" sz="1100" dirty="0"/>
          </a:p>
        </p:txBody>
      </p:sp>
      <p:sp>
        <p:nvSpPr>
          <p:cNvPr id="33" name="Text 31"/>
          <p:cNvSpPr/>
          <p:nvPr/>
        </p:nvSpPr>
        <p:spPr>
          <a:xfrm>
            <a:off x="2880360" y="3758184"/>
            <a:ext cx="2926080" cy="475488"/>
          </a:xfrm>
          <a:prstGeom prst="rect">
            <a:avLst/>
          </a:prstGeom>
          <a:noFill/>
          <a:ln/>
        </p:spPr>
        <p:txBody>
          <a:bodyPr wrap="square" rtlCol="0" anchor="ctr"/>
          <a:lstStyle/>
          <a:p>
            <a:pPr indent="0" marL="0">
              <a:buNone/>
            </a:pPr>
            <a:r>
              <a:rPr lang="en-US" sz="1100" b="1" dirty="0">
                <a:solidFill>
                  <a:srgbClr val="6C7BFF"/>
                </a:solidFill>
                <a:latin typeface="Calibri" pitchFamily="34" charset="0"/>
                <a:ea typeface="Calibri" pitchFamily="34" charset="-122"/>
                <a:cs typeface="Calibri" pitchFamily="34" charset="-120"/>
              </a:rPr>
              <a:t>nex-agi/nex-n2-pro:free</a:t>
            </a:r>
            <a:endParaRPr lang="en-US" sz="1100" dirty="0"/>
          </a:p>
        </p:txBody>
      </p:sp>
      <p:sp>
        <p:nvSpPr>
          <p:cNvPr id="34" name="Text 32"/>
          <p:cNvSpPr/>
          <p:nvPr/>
        </p:nvSpPr>
        <p:spPr>
          <a:xfrm>
            <a:off x="5897880" y="3758184"/>
            <a:ext cx="5669280" cy="475488"/>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Reasoning model used for summarization, classification, and improvement.</a:t>
            </a:r>
            <a:endParaRPr lang="en-US" sz="1000" dirty="0"/>
          </a:p>
        </p:txBody>
      </p:sp>
      <p:sp>
        <p:nvSpPr>
          <p:cNvPr id="35" name="Shape 33"/>
          <p:cNvSpPr/>
          <p:nvPr/>
        </p:nvSpPr>
        <p:spPr>
          <a:xfrm>
            <a:off x="457200" y="4233672"/>
            <a:ext cx="11247120" cy="475488"/>
          </a:xfrm>
          <a:prstGeom prst="rect">
            <a:avLst/>
          </a:prstGeom>
          <a:solidFill>
            <a:srgbClr val="FFFFFF"/>
          </a:solidFill>
          <a:ln w="6350">
            <a:solidFill>
              <a:srgbClr val="D9E1EC"/>
            </a:solidFill>
            <a:prstDash val="solid"/>
          </a:ln>
        </p:spPr>
      </p:sp>
      <p:sp>
        <p:nvSpPr>
          <p:cNvPr id="36" name="Shape 34"/>
          <p:cNvSpPr/>
          <p:nvPr/>
        </p:nvSpPr>
        <p:spPr>
          <a:xfrm>
            <a:off x="457200" y="4233672"/>
            <a:ext cx="73152" cy="475488"/>
          </a:xfrm>
          <a:prstGeom prst="rect">
            <a:avLst/>
          </a:prstGeom>
          <a:solidFill>
            <a:srgbClr val="1FB8C9"/>
          </a:solidFill>
          <a:ln w="12700">
            <a:solidFill>
              <a:srgbClr val="1FB8C9"/>
            </a:solidFill>
            <a:prstDash val="solid"/>
          </a:ln>
        </p:spPr>
      </p:sp>
      <p:sp>
        <p:nvSpPr>
          <p:cNvPr id="37" name="Text 35"/>
          <p:cNvSpPr/>
          <p:nvPr/>
        </p:nvSpPr>
        <p:spPr>
          <a:xfrm>
            <a:off x="640080" y="4233672"/>
            <a:ext cx="2103120" cy="475488"/>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Translation</a:t>
            </a:r>
            <a:endParaRPr lang="en-US" sz="1100" dirty="0"/>
          </a:p>
        </p:txBody>
      </p:sp>
      <p:sp>
        <p:nvSpPr>
          <p:cNvPr id="38" name="Text 36"/>
          <p:cNvSpPr/>
          <p:nvPr/>
        </p:nvSpPr>
        <p:spPr>
          <a:xfrm>
            <a:off x="2880360" y="4233672"/>
            <a:ext cx="2926080" cy="475488"/>
          </a:xfrm>
          <a:prstGeom prst="rect">
            <a:avLst/>
          </a:prstGeom>
          <a:noFill/>
          <a:ln/>
        </p:spPr>
        <p:txBody>
          <a:bodyPr wrap="square" rtlCol="0" anchor="ctr"/>
          <a:lstStyle/>
          <a:p>
            <a:pPr indent="0" marL="0">
              <a:buNone/>
            </a:pPr>
            <a:r>
              <a:rPr lang="en-US" sz="1100" b="1" dirty="0">
                <a:solidFill>
                  <a:srgbClr val="6C7BFF"/>
                </a:solidFill>
                <a:latin typeface="Calibri" pitchFamily="34" charset="0"/>
                <a:ea typeface="Calibri" pitchFamily="34" charset="-122"/>
                <a:cs typeface="Calibri" pitchFamily="34" charset="-120"/>
              </a:rPr>
              <a:t>deep-translator</a:t>
            </a:r>
            <a:endParaRPr lang="en-US" sz="1100" dirty="0"/>
          </a:p>
        </p:txBody>
      </p:sp>
      <p:sp>
        <p:nvSpPr>
          <p:cNvPr id="39" name="Text 37"/>
          <p:cNvSpPr/>
          <p:nvPr/>
        </p:nvSpPr>
        <p:spPr>
          <a:xfrm>
            <a:off x="5897880" y="4233672"/>
            <a:ext cx="5669280" cy="475488"/>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Production-grade multi-engine translation library (Google fallback).</a:t>
            </a:r>
            <a:endParaRPr lang="en-US" sz="1000" dirty="0"/>
          </a:p>
        </p:txBody>
      </p:sp>
      <p:sp>
        <p:nvSpPr>
          <p:cNvPr id="40" name="Shape 38"/>
          <p:cNvSpPr/>
          <p:nvPr/>
        </p:nvSpPr>
        <p:spPr>
          <a:xfrm>
            <a:off x="457200" y="4709160"/>
            <a:ext cx="11247120" cy="475488"/>
          </a:xfrm>
          <a:prstGeom prst="rect">
            <a:avLst/>
          </a:prstGeom>
          <a:solidFill>
            <a:srgbClr val="F4F7FB"/>
          </a:solidFill>
          <a:ln w="6350">
            <a:solidFill>
              <a:srgbClr val="D9E1EC"/>
            </a:solidFill>
            <a:prstDash val="solid"/>
          </a:ln>
        </p:spPr>
      </p:sp>
      <p:sp>
        <p:nvSpPr>
          <p:cNvPr id="41" name="Shape 39"/>
          <p:cNvSpPr/>
          <p:nvPr/>
        </p:nvSpPr>
        <p:spPr>
          <a:xfrm>
            <a:off x="457200" y="4709160"/>
            <a:ext cx="73152" cy="475488"/>
          </a:xfrm>
          <a:prstGeom prst="rect">
            <a:avLst/>
          </a:prstGeom>
          <a:solidFill>
            <a:srgbClr val="1FB8C9"/>
          </a:solidFill>
          <a:ln w="12700">
            <a:solidFill>
              <a:srgbClr val="1FB8C9"/>
            </a:solidFill>
            <a:prstDash val="solid"/>
          </a:ln>
        </p:spPr>
      </p:sp>
      <p:sp>
        <p:nvSpPr>
          <p:cNvPr id="42" name="Text 40"/>
          <p:cNvSpPr/>
          <p:nvPr/>
        </p:nvSpPr>
        <p:spPr>
          <a:xfrm>
            <a:off x="640080" y="4709160"/>
            <a:ext cx="2103120" cy="475488"/>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Language Detection</a:t>
            </a:r>
            <a:endParaRPr lang="en-US" sz="1100" dirty="0"/>
          </a:p>
        </p:txBody>
      </p:sp>
      <p:sp>
        <p:nvSpPr>
          <p:cNvPr id="43" name="Text 41"/>
          <p:cNvSpPr/>
          <p:nvPr/>
        </p:nvSpPr>
        <p:spPr>
          <a:xfrm>
            <a:off x="2880360" y="4709160"/>
            <a:ext cx="2926080" cy="475488"/>
          </a:xfrm>
          <a:prstGeom prst="rect">
            <a:avLst/>
          </a:prstGeom>
          <a:noFill/>
          <a:ln/>
        </p:spPr>
        <p:txBody>
          <a:bodyPr wrap="square" rtlCol="0" anchor="ctr"/>
          <a:lstStyle/>
          <a:p>
            <a:pPr indent="0" marL="0">
              <a:buNone/>
            </a:pPr>
            <a:r>
              <a:rPr lang="en-US" sz="1100" b="1" dirty="0">
                <a:solidFill>
                  <a:srgbClr val="6C7BFF"/>
                </a:solidFill>
                <a:latin typeface="Calibri" pitchFamily="34" charset="0"/>
                <a:ea typeface="Calibri" pitchFamily="34" charset="-122"/>
                <a:cs typeface="Calibri" pitchFamily="34" charset="-120"/>
              </a:rPr>
              <a:t>langdetect</a:t>
            </a:r>
            <a:endParaRPr lang="en-US" sz="1100" dirty="0"/>
          </a:p>
        </p:txBody>
      </p:sp>
      <p:sp>
        <p:nvSpPr>
          <p:cNvPr id="44" name="Text 42"/>
          <p:cNvSpPr/>
          <p:nvPr/>
        </p:nvSpPr>
        <p:spPr>
          <a:xfrm>
            <a:off x="5897880" y="4709160"/>
            <a:ext cx="5669280" cy="475488"/>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Statistical n-gram detector covering 55+ languages.</a:t>
            </a:r>
            <a:endParaRPr lang="en-US" sz="1000" dirty="0"/>
          </a:p>
        </p:txBody>
      </p:sp>
      <p:sp>
        <p:nvSpPr>
          <p:cNvPr id="45" name="Shape 43"/>
          <p:cNvSpPr/>
          <p:nvPr/>
        </p:nvSpPr>
        <p:spPr>
          <a:xfrm>
            <a:off x="457200" y="5184648"/>
            <a:ext cx="11247120" cy="475488"/>
          </a:xfrm>
          <a:prstGeom prst="rect">
            <a:avLst/>
          </a:prstGeom>
          <a:solidFill>
            <a:srgbClr val="FFFFFF"/>
          </a:solidFill>
          <a:ln w="6350">
            <a:solidFill>
              <a:srgbClr val="D9E1EC"/>
            </a:solidFill>
            <a:prstDash val="solid"/>
          </a:ln>
        </p:spPr>
      </p:sp>
      <p:sp>
        <p:nvSpPr>
          <p:cNvPr id="46" name="Shape 44"/>
          <p:cNvSpPr/>
          <p:nvPr/>
        </p:nvSpPr>
        <p:spPr>
          <a:xfrm>
            <a:off x="457200" y="5184648"/>
            <a:ext cx="73152" cy="475488"/>
          </a:xfrm>
          <a:prstGeom prst="rect">
            <a:avLst/>
          </a:prstGeom>
          <a:solidFill>
            <a:srgbClr val="1FB8C9"/>
          </a:solidFill>
          <a:ln w="12700">
            <a:solidFill>
              <a:srgbClr val="1FB8C9"/>
            </a:solidFill>
            <a:prstDash val="solid"/>
          </a:ln>
        </p:spPr>
      </p:sp>
      <p:sp>
        <p:nvSpPr>
          <p:cNvPr id="47" name="Text 45"/>
          <p:cNvSpPr/>
          <p:nvPr/>
        </p:nvSpPr>
        <p:spPr>
          <a:xfrm>
            <a:off x="640080" y="5184648"/>
            <a:ext cx="2103120" cy="475488"/>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Storage</a:t>
            </a:r>
            <a:endParaRPr lang="en-US" sz="1100" dirty="0"/>
          </a:p>
        </p:txBody>
      </p:sp>
      <p:sp>
        <p:nvSpPr>
          <p:cNvPr id="48" name="Text 46"/>
          <p:cNvSpPr/>
          <p:nvPr/>
        </p:nvSpPr>
        <p:spPr>
          <a:xfrm>
            <a:off x="2880360" y="5184648"/>
            <a:ext cx="2926080" cy="475488"/>
          </a:xfrm>
          <a:prstGeom prst="rect">
            <a:avLst/>
          </a:prstGeom>
          <a:noFill/>
          <a:ln/>
        </p:spPr>
        <p:txBody>
          <a:bodyPr wrap="square" rtlCol="0" anchor="ctr"/>
          <a:lstStyle/>
          <a:p>
            <a:pPr indent="0" marL="0">
              <a:buNone/>
            </a:pPr>
            <a:r>
              <a:rPr lang="en-US" sz="1100" b="1" dirty="0">
                <a:solidFill>
                  <a:srgbClr val="6C7BFF"/>
                </a:solidFill>
                <a:latin typeface="Calibri" pitchFamily="34" charset="0"/>
                <a:ea typeface="Calibri" pitchFamily="34" charset="-122"/>
                <a:cs typeface="Calibri" pitchFamily="34" charset="-120"/>
              </a:rPr>
              <a:t>CSV</a:t>
            </a:r>
            <a:endParaRPr lang="en-US" sz="1100" dirty="0"/>
          </a:p>
        </p:txBody>
      </p:sp>
      <p:sp>
        <p:nvSpPr>
          <p:cNvPr id="49" name="Text 47"/>
          <p:cNvSpPr/>
          <p:nvPr/>
        </p:nvSpPr>
        <p:spPr>
          <a:xfrm>
            <a:off x="5897880" y="5184648"/>
            <a:ext cx="5669280" cy="475488"/>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Lightweight, portable, auditable ticket lifecycle log.</a:t>
            </a:r>
            <a:endParaRPr lang="en-US" sz="1000" dirty="0"/>
          </a:p>
        </p:txBody>
      </p:sp>
      <p:sp>
        <p:nvSpPr>
          <p:cNvPr id="50" name="Shape 48"/>
          <p:cNvSpPr/>
          <p:nvPr/>
        </p:nvSpPr>
        <p:spPr>
          <a:xfrm>
            <a:off x="457200" y="5660136"/>
            <a:ext cx="11247120" cy="475488"/>
          </a:xfrm>
          <a:prstGeom prst="rect">
            <a:avLst/>
          </a:prstGeom>
          <a:solidFill>
            <a:srgbClr val="F4F7FB"/>
          </a:solidFill>
          <a:ln w="6350">
            <a:solidFill>
              <a:srgbClr val="D9E1EC"/>
            </a:solidFill>
            <a:prstDash val="solid"/>
          </a:ln>
        </p:spPr>
      </p:sp>
      <p:sp>
        <p:nvSpPr>
          <p:cNvPr id="51" name="Shape 49"/>
          <p:cNvSpPr/>
          <p:nvPr/>
        </p:nvSpPr>
        <p:spPr>
          <a:xfrm>
            <a:off x="457200" y="5660136"/>
            <a:ext cx="73152" cy="475488"/>
          </a:xfrm>
          <a:prstGeom prst="rect">
            <a:avLst/>
          </a:prstGeom>
          <a:solidFill>
            <a:srgbClr val="1FB8C9"/>
          </a:solidFill>
          <a:ln w="12700">
            <a:solidFill>
              <a:srgbClr val="1FB8C9"/>
            </a:solidFill>
            <a:prstDash val="solid"/>
          </a:ln>
        </p:spPr>
      </p:sp>
      <p:sp>
        <p:nvSpPr>
          <p:cNvPr id="52" name="Text 50"/>
          <p:cNvSpPr/>
          <p:nvPr/>
        </p:nvSpPr>
        <p:spPr>
          <a:xfrm>
            <a:off x="640080" y="5660136"/>
            <a:ext cx="2103120" cy="475488"/>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Data Processing</a:t>
            </a:r>
            <a:endParaRPr lang="en-US" sz="1100" dirty="0"/>
          </a:p>
        </p:txBody>
      </p:sp>
      <p:sp>
        <p:nvSpPr>
          <p:cNvPr id="53" name="Text 51"/>
          <p:cNvSpPr/>
          <p:nvPr/>
        </p:nvSpPr>
        <p:spPr>
          <a:xfrm>
            <a:off x="2880360" y="5660136"/>
            <a:ext cx="2926080" cy="475488"/>
          </a:xfrm>
          <a:prstGeom prst="rect">
            <a:avLst/>
          </a:prstGeom>
          <a:noFill/>
          <a:ln/>
        </p:spPr>
        <p:txBody>
          <a:bodyPr wrap="square" rtlCol="0" anchor="ctr"/>
          <a:lstStyle/>
          <a:p>
            <a:pPr indent="0" marL="0">
              <a:buNone/>
            </a:pPr>
            <a:r>
              <a:rPr lang="en-US" sz="1100" b="1" dirty="0">
                <a:solidFill>
                  <a:srgbClr val="6C7BFF"/>
                </a:solidFill>
                <a:latin typeface="Calibri" pitchFamily="34" charset="0"/>
                <a:ea typeface="Calibri" pitchFamily="34" charset="-122"/>
                <a:cs typeface="Calibri" pitchFamily="34" charset="-120"/>
              </a:rPr>
              <a:t>pandas</a:t>
            </a:r>
            <a:endParaRPr lang="en-US" sz="1100" dirty="0"/>
          </a:p>
        </p:txBody>
      </p:sp>
      <p:sp>
        <p:nvSpPr>
          <p:cNvPr id="54" name="Text 52"/>
          <p:cNvSpPr/>
          <p:nvPr/>
        </p:nvSpPr>
        <p:spPr>
          <a:xfrm>
            <a:off x="5897880" y="5660136"/>
            <a:ext cx="5669280" cy="475488"/>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In-memory transformation, batch processing, and export.</a:t>
            </a:r>
            <a:endParaRPr lang="en-US" sz="1000" dirty="0"/>
          </a:p>
        </p:txBody>
      </p:sp>
      <p:sp>
        <p:nvSpPr>
          <p:cNvPr id="55" name="Shape 53"/>
          <p:cNvSpPr/>
          <p:nvPr/>
        </p:nvSpPr>
        <p:spPr>
          <a:xfrm>
            <a:off x="457200" y="6135624"/>
            <a:ext cx="11247120" cy="475488"/>
          </a:xfrm>
          <a:prstGeom prst="rect">
            <a:avLst/>
          </a:prstGeom>
          <a:solidFill>
            <a:srgbClr val="FFFFFF"/>
          </a:solidFill>
          <a:ln w="6350">
            <a:solidFill>
              <a:srgbClr val="D9E1EC"/>
            </a:solidFill>
            <a:prstDash val="solid"/>
          </a:ln>
        </p:spPr>
      </p:sp>
      <p:sp>
        <p:nvSpPr>
          <p:cNvPr id="56" name="Shape 54"/>
          <p:cNvSpPr/>
          <p:nvPr/>
        </p:nvSpPr>
        <p:spPr>
          <a:xfrm>
            <a:off x="457200" y="6135624"/>
            <a:ext cx="73152" cy="475488"/>
          </a:xfrm>
          <a:prstGeom prst="rect">
            <a:avLst/>
          </a:prstGeom>
          <a:solidFill>
            <a:srgbClr val="1FB8C9"/>
          </a:solidFill>
          <a:ln w="12700">
            <a:solidFill>
              <a:srgbClr val="1FB8C9"/>
            </a:solidFill>
            <a:prstDash val="solid"/>
          </a:ln>
        </p:spPr>
      </p:sp>
      <p:sp>
        <p:nvSpPr>
          <p:cNvPr id="57" name="Text 55"/>
          <p:cNvSpPr/>
          <p:nvPr/>
        </p:nvSpPr>
        <p:spPr>
          <a:xfrm>
            <a:off x="640080" y="6135624"/>
            <a:ext cx="2103120" cy="475488"/>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Configuration</a:t>
            </a:r>
            <a:endParaRPr lang="en-US" sz="1100" dirty="0"/>
          </a:p>
        </p:txBody>
      </p:sp>
      <p:sp>
        <p:nvSpPr>
          <p:cNvPr id="58" name="Text 56"/>
          <p:cNvSpPr/>
          <p:nvPr/>
        </p:nvSpPr>
        <p:spPr>
          <a:xfrm>
            <a:off x="2880360" y="6135624"/>
            <a:ext cx="2926080" cy="475488"/>
          </a:xfrm>
          <a:prstGeom prst="rect">
            <a:avLst/>
          </a:prstGeom>
          <a:noFill/>
          <a:ln/>
        </p:spPr>
        <p:txBody>
          <a:bodyPr wrap="square" rtlCol="0" anchor="ctr"/>
          <a:lstStyle/>
          <a:p>
            <a:pPr indent="0" marL="0">
              <a:buNone/>
            </a:pPr>
            <a:r>
              <a:rPr lang="en-US" sz="1100" b="1" dirty="0">
                <a:solidFill>
                  <a:srgbClr val="6C7BFF"/>
                </a:solidFill>
                <a:latin typeface="Calibri" pitchFamily="34" charset="0"/>
                <a:ea typeface="Calibri" pitchFamily="34" charset="-122"/>
                <a:cs typeface="Calibri" pitchFamily="34" charset="-120"/>
              </a:rPr>
              <a:t>JSON</a:t>
            </a:r>
            <a:endParaRPr lang="en-US" sz="1100" dirty="0"/>
          </a:p>
        </p:txBody>
      </p:sp>
      <p:sp>
        <p:nvSpPr>
          <p:cNvPr id="59" name="Text 57"/>
          <p:cNvSpPr/>
          <p:nvPr/>
        </p:nvSpPr>
        <p:spPr>
          <a:xfrm>
            <a:off x="5897880" y="6135624"/>
            <a:ext cx="5669280" cy="475488"/>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Glossary, prompts, and runtime settings — version-controllable.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E3F"/>
          </a:solidFill>
          <a:ln/>
        </p:spPr>
      </p:sp>
      <p:sp>
        <p:nvSpPr>
          <p:cNvPr id="3" name="Shape 1"/>
          <p:cNvSpPr/>
          <p:nvPr/>
        </p:nvSpPr>
        <p:spPr>
          <a:xfrm>
            <a:off x="0" y="502920"/>
            <a:ext cx="12191695" cy="36576"/>
          </a:xfrm>
          <a:prstGeom prst="rect">
            <a:avLst/>
          </a:prstGeom>
          <a:solidFill>
            <a:srgbClr val="1FB8C9"/>
          </a:solidFill>
          <a:ln/>
        </p:spPr>
      </p:sp>
      <p:sp>
        <p:nvSpPr>
          <p:cNvPr id="4" name="Text 2"/>
          <p:cNvSpPr/>
          <p:nvPr/>
        </p:nvSpPr>
        <p:spPr>
          <a:xfrm>
            <a:off x="365760" y="0"/>
            <a:ext cx="11430000" cy="502920"/>
          </a:xfrm>
          <a:prstGeom prst="rect">
            <a:avLst/>
          </a:prstGeom>
          <a:noFill/>
          <a:ln/>
        </p:spPr>
        <p:txBody>
          <a:bodyPr wrap="square" rtlCol="0" anchor="ctr"/>
          <a:lstStyle/>
          <a:p>
            <a:pPr indent="0" marL="0">
              <a:buNone/>
            </a:pPr>
            <a:r>
              <a:rPr lang="en-US" sz="1000" b="1" spc="300" kern="0" dirty="0">
                <a:solidFill>
                  <a:srgbClr val="FFFFFF"/>
                </a:solidFill>
                <a:latin typeface="Calibri" pitchFamily="34" charset="0"/>
                <a:ea typeface="Calibri" pitchFamily="34" charset="-122"/>
                <a:cs typeface="Calibri" pitchFamily="34" charset="-120"/>
              </a:rPr>
              <a:t>MULTILINGUAL TICKET TRANSLATOR  •  TEAM 9  •  SD-04</a:t>
            </a:r>
            <a:endParaRPr lang="en-US" sz="1000" dirty="0"/>
          </a:p>
        </p:txBody>
      </p:sp>
      <p:sp>
        <p:nvSpPr>
          <p:cNvPr id="5" name="Text 3"/>
          <p:cNvSpPr/>
          <p:nvPr/>
        </p:nvSpPr>
        <p:spPr>
          <a:xfrm>
            <a:off x="457200" y="685800"/>
            <a:ext cx="11247120" cy="320040"/>
          </a:xfrm>
          <a:prstGeom prst="rect">
            <a:avLst/>
          </a:prstGeom>
          <a:noFill/>
          <a:ln/>
        </p:spPr>
        <p:txBody>
          <a:bodyPr wrap="square" rtlCol="0" anchor="ctr"/>
          <a:lstStyle/>
          <a:p>
            <a:pPr indent="0" marL="0">
              <a:buNone/>
            </a:pPr>
            <a:r>
              <a:rPr lang="en-US" sz="1100" b="1" spc="400" kern="0" dirty="0">
                <a:solidFill>
                  <a:srgbClr val="1FB8C9"/>
                </a:solidFill>
                <a:latin typeface="Calibri" pitchFamily="34" charset="0"/>
                <a:ea typeface="Calibri" pitchFamily="34" charset="-122"/>
                <a:cs typeface="Calibri" pitchFamily="34" charset="-120"/>
              </a:rPr>
              <a:t>06 — AI INTELLIGENCE</a:t>
            </a:r>
            <a:endParaRPr lang="en-US" sz="1100" dirty="0"/>
          </a:p>
        </p:txBody>
      </p:sp>
      <p:sp>
        <p:nvSpPr>
          <p:cNvPr id="6" name="Text 4"/>
          <p:cNvSpPr/>
          <p:nvPr/>
        </p:nvSpPr>
        <p:spPr>
          <a:xfrm>
            <a:off x="457200" y="960120"/>
            <a:ext cx="11247120" cy="640080"/>
          </a:xfrm>
          <a:prstGeom prst="rect">
            <a:avLst/>
          </a:prstGeom>
          <a:noFill/>
          <a:ln/>
        </p:spPr>
        <p:txBody>
          <a:bodyPr wrap="square" rtlCol="0" anchor="ctr"/>
          <a:lstStyle/>
          <a:p>
            <a:pPr indent="0" marL="0">
              <a:buNone/>
            </a:pPr>
            <a:r>
              <a:rPr lang="en-US" sz="3000" b="1" dirty="0">
                <a:solidFill>
                  <a:srgbClr val="0B1E3F"/>
                </a:solidFill>
                <a:latin typeface="Calibri" pitchFamily="34" charset="0"/>
                <a:ea typeface="Calibri" pitchFamily="34" charset="-122"/>
                <a:cs typeface="Calibri" pitchFamily="34" charset="-120"/>
              </a:rPr>
              <a:t>Core Logic 1 — AI Agent Layer</a:t>
            </a:r>
            <a:endParaRPr lang="en-US" sz="3000" dirty="0"/>
          </a:p>
        </p:txBody>
      </p:sp>
      <p:sp>
        <p:nvSpPr>
          <p:cNvPr id="7" name="Shape 5"/>
          <p:cNvSpPr/>
          <p:nvPr/>
        </p:nvSpPr>
        <p:spPr>
          <a:xfrm>
            <a:off x="457200" y="1627632"/>
            <a:ext cx="548640" cy="54864"/>
          </a:xfrm>
          <a:prstGeom prst="rect">
            <a:avLst/>
          </a:prstGeom>
          <a:solidFill>
            <a:srgbClr val="1FB8C9"/>
          </a:solidFill>
          <a:ln w="12700">
            <a:solidFill>
              <a:srgbClr val="1FB8C9"/>
            </a:solidFill>
            <a:prstDash val="solid"/>
          </a:ln>
        </p:spPr>
      </p:sp>
      <p:sp>
        <p:nvSpPr>
          <p:cNvPr id="8" name="Shape 6"/>
          <p:cNvSpPr/>
          <p:nvPr/>
        </p:nvSpPr>
        <p:spPr>
          <a:xfrm>
            <a:off x="0" y="6675120"/>
            <a:ext cx="12191695" cy="182880"/>
          </a:xfrm>
          <a:prstGeom prst="rect">
            <a:avLst/>
          </a:prstGeom>
          <a:solidFill>
            <a:srgbClr val="F4F7FB"/>
          </a:solidFill>
          <a:ln w="12700">
            <a:solidFill>
              <a:srgbClr val="F4F7FB"/>
            </a:solidFill>
            <a:prstDash val="solid"/>
          </a:ln>
        </p:spPr>
      </p:sp>
      <p:sp>
        <p:nvSpPr>
          <p:cNvPr id="9" name="Text 7"/>
          <p:cNvSpPr/>
          <p:nvPr/>
        </p:nvSpPr>
        <p:spPr>
          <a:xfrm>
            <a:off x="365760" y="6656832"/>
            <a:ext cx="7315200" cy="201168"/>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Infinite Computer Solutions • Placement Case Study</a:t>
            </a:r>
            <a:endParaRPr lang="en-US" sz="900" dirty="0"/>
          </a:p>
        </p:txBody>
      </p:sp>
      <p:sp>
        <p:nvSpPr>
          <p:cNvPr id="10" name="Text 8"/>
          <p:cNvSpPr/>
          <p:nvPr/>
        </p:nvSpPr>
        <p:spPr>
          <a:xfrm>
            <a:off x="11247120" y="6656832"/>
            <a:ext cx="640080" cy="201168"/>
          </a:xfrm>
          <a:prstGeom prst="rect">
            <a:avLst/>
          </a:prstGeom>
          <a:noFill/>
          <a:ln/>
        </p:spPr>
        <p:txBody>
          <a:bodyPr wrap="square" rtlCol="0" anchor="ctr"/>
          <a:lstStyle/>
          <a:p>
            <a:pPr algn="r" indent="0" marL="0">
              <a:buNone/>
            </a:pPr>
            <a:r>
              <a:rPr lang="en-US" sz="900" b="1" dirty="0">
                <a:solidFill>
                  <a:srgbClr val="5A6B7C"/>
                </a:solidFill>
                <a:latin typeface="Calibri" pitchFamily="34" charset="0"/>
                <a:ea typeface="Calibri" pitchFamily="34" charset="-122"/>
                <a:cs typeface="Calibri" pitchFamily="34" charset="-120"/>
              </a:rPr>
              <a:t>7 / 15</a:t>
            </a:r>
            <a:endParaRPr lang="en-US" sz="900" dirty="0"/>
          </a:p>
        </p:txBody>
      </p:sp>
      <p:sp>
        <p:nvSpPr>
          <p:cNvPr id="11" name="Text 9"/>
          <p:cNvSpPr/>
          <p:nvPr/>
        </p:nvSpPr>
        <p:spPr>
          <a:xfrm>
            <a:off x="457200" y="1920240"/>
            <a:ext cx="6400800" cy="365760"/>
          </a:xfrm>
          <a:prstGeom prst="rect">
            <a:avLst/>
          </a:prstGeom>
          <a:noFill/>
          <a:ln/>
        </p:spPr>
        <p:txBody>
          <a:bodyPr wrap="square" rtlCol="0" anchor="ctr"/>
          <a:lstStyle/>
          <a:p>
            <a:pPr indent="0" marL="0">
              <a:buNone/>
            </a:pPr>
            <a:r>
              <a:rPr lang="en-US" sz="1600" b="1" dirty="0">
                <a:solidFill>
                  <a:srgbClr val="0B1E3F"/>
                </a:solidFill>
                <a:latin typeface="Calibri" pitchFamily="34" charset="0"/>
                <a:ea typeface="Calibri" pitchFamily="34" charset="-122"/>
                <a:cs typeface="Calibri" pitchFamily="34" charset="-120"/>
              </a:rPr>
              <a:t>AI-Powered Ticket Intelligence</a:t>
            </a:r>
            <a:endParaRPr lang="en-US" sz="1600" dirty="0"/>
          </a:p>
        </p:txBody>
      </p:sp>
      <p:sp>
        <p:nvSpPr>
          <p:cNvPr id="12" name="Shape 10"/>
          <p:cNvSpPr/>
          <p:nvPr/>
        </p:nvSpPr>
        <p:spPr>
          <a:xfrm>
            <a:off x="457200" y="2331720"/>
            <a:ext cx="5943600" cy="502920"/>
          </a:xfrm>
          <a:prstGeom prst="rect">
            <a:avLst/>
          </a:prstGeom>
          <a:solidFill>
            <a:srgbClr val="F4F7FB"/>
          </a:solidFill>
          <a:ln w="6350">
            <a:solidFill>
              <a:srgbClr val="D9E1EC"/>
            </a:solidFill>
            <a:prstDash val="solid"/>
          </a:ln>
        </p:spPr>
      </p:sp>
      <p:sp>
        <p:nvSpPr>
          <p:cNvPr id="13" name="Shape 11"/>
          <p:cNvSpPr/>
          <p:nvPr/>
        </p:nvSpPr>
        <p:spPr>
          <a:xfrm>
            <a:off x="594360" y="2423160"/>
            <a:ext cx="320040" cy="320040"/>
          </a:xfrm>
          <a:prstGeom prst="ellipse">
            <a:avLst/>
          </a:prstGeom>
          <a:solidFill>
            <a:srgbClr val="1FB8C9"/>
          </a:solidFill>
          <a:ln w="12700">
            <a:solidFill>
              <a:srgbClr val="1FB8C9"/>
            </a:solidFill>
            <a:prstDash val="solid"/>
          </a:ln>
        </p:spPr>
      </p:sp>
      <p:sp>
        <p:nvSpPr>
          <p:cNvPr id="14" name="Text 12"/>
          <p:cNvSpPr/>
          <p:nvPr/>
        </p:nvSpPr>
        <p:spPr>
          <a:xfrm>
            <a:off x="594360" y="2423160"/>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1051560" y="2331720"/>
            <a:ext cx="2286000" cy="502920"/>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OpenRouter Integration</a:t>
            </a:r>
            <a:endParaRPr lang="en-US" sz="1100" dirty="0"/>
          </a:p>
        </p:txBody>
      </p:sp>
      <p:sp>
        <p:nvSpPr>
          <p:cNvPr id="16" name="Text 14"/>
          <p:cNvSpPr/>
          <p:nvPr/>
        </p:nvSpPr>
        <p:spPr>
          <a:xfrm>
            <a:off x="3383280" y="2331720"/>
            <a:ext cx="2971800" cy="502920"/>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Single endpoint, swappable models, key-based auth.</a:t>
            </a:r>
            <a:endParaRPr lang="en-US" sz="1000" dirty="0"/>
          </a:p>
        </p:txBody>
      </p:sp>
      <p:sp>
        <p:nvSpPr>
          <p:cNvPr id="17" name="Shape 15"/>
          <p:cNvSpPr/>
          <p:nvPr/>
        </p:nvSpPr>
        <p:spPr>
          <a:xfrm>
            <a:off x="457200" y="2898648"/>
            <a:ext cx="5943600" cy="502920"/>
          </a:xfrm>
          <a:prstGeom prst="rect">
            <a:avLst/>
          </a:prstGeom>
          <a:solidFill>
            <a:srgbClr val="F4F7FB"/>
          </a:solidFill>
          <a:ln w="6350">
            <a:solidFill>
              <a:srgbClr val="D9E1EC"/>
            </a:solidFill>
            <a:prstDash val="solid"/>
          </a:ln>
        </p:spPr>
      </p:sp>
      <p:sp>
        <p:nvSpPr>
          <p:cNvPr id="18" name="Shape 16"/>
          <p:cNvSpPr/>
          <p:nvPr/>
        </p:nvSpPr>
        <p:spPr>
          <a:xfrm>
            <a:off x="594360" y="2990088"/>
            <a:ext cx="320040" cy="320040"/>
          </a:xfrm>
          <a:prstGeom prst="ellipse">
            <a:avLst/>
          </a:prstGeom>
          <a:solidFill>
            <a:srgbClr val="1FB8C9"/>
          </a:solidFill>
          <a:ln w="12700">
            <a:solidFill>
              <a:srgbClr val="1FB8C9"/>
            </a:solidFill>
            <a:prstDash val="solid"/>
          </a:ln>
        </p:spPr>
      </p:sp>
      <p:sp>
        <p:nvSpPr>
          <p:cNvPr id="19" name="Text 17"/>
          <p:cNvSpPr/>
          <p:nvPr/>
        </p:nvSpPr>
        <p:spPr>
          <a:xfrm>
            <a:off x="594360" y="2990088"/>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0" name="Text 18"/>
          <p:cNvSpPr/>
          <p:nvPr/>
        </p:nvSpPr>
        <p:spPr>
          <a:xfrm>
            <a:off x="1051560" y="2898648"/>
            <a:ext cx="2286000" cy="502920"/>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nex-agi/nex-n2-pro Model</a:t>
            </a:r>
            <a:endParaRPr lang="en-US" sz="1100" dirty="0"/>
          </a:p>
        </p:txBody>
      </p:sp>
      <p:sp>
        <p:nvSpPr>
          <p:cNvPr id="21" name="Text 19"/>
          <p:cNvSpPr/>
          <p:nvPr/>
        </p:nvSpPr>
        <p:spPr>
          <a:xfrm>
            <a:off x="3383280" y="2898648"/>
            <a:ext cx="2971800" cy="502920"/>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Reasoning LLM tuned for structured outputs.</a:t>
            </a:r>
            <a:endParaRPr lang="en-US" sz="1000" dirty="0"/>
          </a:p>
        </p:txBody>
      </p:sp>
      <p:sp>
        <p:nvSpPr>
          <p:cNvPr id="22" name="Shape 20"/>
          <p:cNvSpPr/>
          <p:nvPr/>
        </p:nvSpPr>
        <p:spPr>
          <a:xfrm>
            <a:off x="457200" y="3465576"/>
            <a:ext cx="5943600" cy="502920"/>
          </a:xfrm>
          <a:prstGeom prst="rect">
            <a:avLst/>
          </a:prstGeom>
          <a:solidFill>
            <a:srgbClr val="F4F7FB"/>
          </a:solidFill>
          <a:ln w="6350">
            <a:solidFill>
              <a:srgbClr val="D9E1EC"/>
            </a:solidFill>
            <a:prstDash val="solid"/>
          </a:ln>
        </p:spPr>
      </p:sp>
      <p:sp>
        <p:nvSpPr>
          <p:cNvPr id="23" name="Shape 21"/>
          <p:cNvSpPr/>
          <p:nvPr/>
        </p:nvSpPr>
        <p:spPr>
          <a:xfrm>
            <a:off x="594360" y="3557016"/>
            <a:ext cx="320040" cy="320040"/>
          </a:xfrm>
          <a:prstGeom prst="ellipse">
            <a:avLst/>
          </a:prstGeom>
          <a:solidFill>
            <a:srgbClr val="1FB8C9"/>
          </a:solidFill>
          <a:ln w="12700">
            <a:solidFill>
              <a:srgbClr val="1FB8C9"/>
            </a:solidFill>
            <a:prstDash val="solid"/>
          </a:ln>
        </p:spPr>
      </p:sp>
      <p:sp>
        <p:nvSpPr>
          <p:cNvPr id="24" name="Text 22"/>
          <p:cNvSpPr/>
          <p:nvPr/>
        </p:nvSpPr>
        <p:spPr>
          <a:xfrm>
            <a:off x="594360" y="3557016"/>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5" name="Text 23"/>
          <p:cNvSpPr/>
          <p:nvPr/>
        </p:nvSpPr>
        <p:spPr>
          <a:xfrm>
            <a:off x="1051560" y="3465576"/>
            <a:ext cx="2286000" cy="502920"/>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Ticket Enhancement</a:t>
            </a:r>
            <a:endParaRPr lang="en-US" sz="1100" dirty="0"/>
          </a:p>
        </p:txBody>
      </p:sp>
      <p:sp>
        <p:nvSpPr>
          <p:cNvPr id="26" name="Text 24"/>
          <p:cNvSpPr/>
          <p:nvPr/>
        </p:nvSpPr>
        <p:spPr>
          <a:xfrm>
            <a:off x="3383280" y="3465576"/>
            <a:ext cx="2971800" cy="502920"/>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Fixes grammar, expands abbreviations, adds context.</a:t>
            </a:r>
            <a:endParaRPr lang="en-US" sz="1000" dirty="0"/>
          </a:p>
        </p:txBody>
      </p:sp>
      <p:sp>
        <p:nvSpPr>
          <p:cNvPr id="27" name="Shape 25"/>
          <p:cNvSpPr/>
          <p:nvPr/>
        </p:nvSpPr>
        <p:spPr>
          <a:xfrm>
            <a:off x="457200" y="4032504"/>
            <a:ext cx="5943600" cy="502920"/>
          </a:xfrm>
          <a:prstGeom prst="rect">
            <a:avLst/>
          </a:prstGeom>
          <a:solidFill>
            <a:srgbClr val="F4F7FB"/>
          </a:solidFill>
          <a:ln w="6350">
            <a:solidFill>
              <a:srgbClr val="D9E1EC"/>
            </a:solidFill>
            <a:prstDash val="solid"/>
          </a:ln>
        </p:spPr>
      </p:sp>
      <p:sp>
        <p:nvSpPr>
          <p:cNvPr id="28" name="Shape 26"/>
          <p:cNvSpPr/>
          <p:nvPr/>
        </p:nvSpPr>
        <p:spPr>
          <a:xfrm>
            <a:off x="594360" y="4123944"/>
            <a:ext cx="320040" cy="320040"/>
          </a:xfrm>
          <a:prstGeom prst="ellipse">
            <a:avLst/>
          </a:prstGeom>
          <a:solidFill>
            <a:srgbClr val="1FB8C9"/>
          </a:solidFill>
          <a:ln w="12700">
            <a:solidFill>
              <a:srgbClr val="1FB8C9"/>
            </a:solidFill>
            <a:prstDash val="solid"/>
          </a:ln>
        </p:spPr>
      </p:sp>
      <p:sp>
        <p:nvSpPr>
          <p:cNvPr id="29" name="Text 27"/>
          <p:cNvSpPr/>
          <p:nvPr/>
        </p:nvSpPr>
        <p:spPr>
          <a:xfrm>
            <a:off x="594360" y="4123944"/>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0" name="Text 28"/>
          <p:cNvSpPr/>
          <p:nvPr/>
        </p:nvSpPr>
        <p:spPr>
          <a:xfrm>
            <a:off x="1051560" y="4032504"/>
            <a:ext cx="2286000" cy="502920"/>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Summary Generation</a:t>
            </a:r>
            <a:endParaRPr lang="en-US" sz="1100" dirty="0"/>
          </a:p>
        </p:txBody>
      </p:sp>
      <p:sp>
        <p:nvSpPr>
          <p:cNvPr id="31" name="Text 29"/>
          <p:cNvSpPr/>
          <p:nvPr/>
        </p:nvSpPr>
        <p:spPr>
          <a:xfrm>
            <a:off x="3383280" y="4032504"/>
            <a:ext cx="2971800" cy="502920"/>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One-line intent suitable for queue dashboards.</a:t>
            </a:r>
            <a:endParaRPr lang="en-US" sz="1000" dirty="0"/>
          </a:p>
        </p:txBody>
      </p:sp>
      <p:sp>
        <p:nvSpPr>
          <p:cNvPr id="32" name="Shape 30"/>
          <p:cNvSpPr/>
          <p:nvPr/>
        </p:nvSpPr>
        <p:spPr>
          <a:xfrm>
            <a:off x="457200" y="4599432"/>
            <a:ext cx="5943600" cy="502920"/>
          </a:xfrm>
          <a:prstGeom prst="rect">
            <a:avLst/>
          </a:prstGeom>
          <a:solidFill>
            <a:srgbClr val="F4F7FB"/>
          </a:solidFill>
          <a:ln w="6350">
            <a:solidFill>
              <a:srgbClr val="D9E1EC"/>
            </a:solidFill>
            <a:prstDash val="solid"/>
          </a:ln>
        </p:spPr>
      </p:sp>
      <p:sp>
        <p:nvSpPr>
          <p:cNvPr id="33" name="Shape 31"/>
          <p:cNvSpPr/>
          <p:nvPr/>
        </p:nvSpPr>
        <p:spPr>
          <a:xfrm>
            <a:off x="594360" y="4690872"/>
            <a:ext cx="320040" cy="320040"/>
          </a:xfrm>
          <a:prstGeom prst="ellipse">
            <a:avLst/>
          </a:prstGeom>
          <a:solidFill>
            <a:srgbClr val="1FB8C9"/>
          </a:solidFill>
          <a:ln w="12700">
            <a:solidFill>
              <a:srgbClr val="1FB8C9"/>
            </a:solidFill>
            <a:prstDash val="solid"/>
          </a:ln>
        </p:spPr>
      </p:sp>
      <p:sp>
        <p:nvSpPr>
          <p:cNvPr id="34" name="Text 32"/>
          <p:cNvSpPr/>
          <p:nvPr/>
        </p:nvSpPr>
        <p:spPr>
          <a:xfrm>
            <a:off x="594360" y="4690872"/>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5" name="Text 33"/>
          <p:cNvSpPr/>
          <p:nvPr/>
        </p:nvSpPr>
        <p:spPr>
          <a:xfrm>
            <a:off x="1051560" y="4599432"/>
            <a:ext cx="2286000" cy="502920"/>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Category Classification</a:t>
            </a:r>
            <a:endParaRPr lang="en-US" sz="1100" dirty="0"/>
          </a:p>
        </p:txBody>
      </p:sp>
      <p:sp>
        <p:nvSpPr>
          <p:cNvPr id="36" name="Text 34"/>
          <p:cNvSpPr/>
          <p:nvPr/>
        </p:nvSpPr>
        <p:spPr>
          <a:xfrm>
            <a:off x="3383280" y="4599432"/>
            <a:ext cx="2971800" cy="502920"/>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Schema-validated: Software, Hardware, Network, Access.</a:t>
            </a:r>
            <a:endParaRPr lang="en-US" sz="1000" dirty="0"/>
          </a:p>
        </p:txBody>
      </p:sp>
      <p:sp>
        <p:nvSpPr>
          <p:cNvPr id="37" name="Shape 35"/>
          <p:cNvSpPr/>
          <p:nvPr/>
        </p:nvSpPr>
        <p:spPr>
          <a:xfrm>
            <a:off x="457200" y="5166360"/>
            <a:ext cx="5943600" cy="502920"/>
          </a:xfrm>
          <a:prstGeom prst="rect">
            <a:avLst/>
          </a:prstGeom>
          <a:solidFill>
            <a:srgbClr val="F4F7FB"/>
          </a:solidFill>
          <a:ln w="6350">
            <a:solidFill>
              <a:srgbClr val="D9E1EC"/>
            </a:solidFill>
            <a:prstDash val="solid"/>
          </a:ln>
        </p:spPr>
      </p:sp>
      <p:sp>
        <p:nvSpPr>
          <p:cNvPr id="38" name="Shape 36"/>
          <p:cNvSpPr/>
          <p:nvPr/>
        </p:nvSpPr>
        <p:spPr>
          <a:xfrm>
            <a:off x="594360" y="5257800"/>
            <a:ext cx="320040" cy="320040"/>
          </a:xfrm>
          <a:prstGeom prst="ellipse">
            <a:avLst/>
          </a:prstGeom>
          <a:solidFill>
            <a:srgbClr val="1FB8C9"/>
          </a:solidFill>
          <a:ln w="12700">
            <a:solidFill>
              <a:srgbClr val="1FB8C9"/>
            </a:solidFill>
            <a:prstDash val="solid"/>
          </a:ln>
        </p:spPr>
      </p:sp>
      <p:sp>
        <p:nvSpPr>
          <p:cNvPr id="39" name="Text 37"/>
          <p:cNvSpPr/>
          <p:nvPr/>
        </p:nvSpPr>
        <p:spPr>
          <a:xfrm>
            <a:off x="594360" y="5257800"/>
            <a:ext cx="32004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0" name="Text 38"/>
          <p:cNvSpPr/>
          <p:nvPr/>
        </p:nvSpPr>
        <p:spPr>
          <a:xfrm>
            <a:off x="1051560" y="5166360"/>
            <a:ext cx="2286000" cy="502920"/>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Priority Prediction</a:t>
            </a:r>
            <a:endParaRPr lang="en-US" sz="1100" dirty="0"/>
          </a:p>
        </p:txBody>
      </p:sp>
      <p:sp>
        <p:nvSpPr>
          <p:cNvPr id="41" name="Text 39"/>
          <p:cNvSpPr/>
          <p:nvPr/>
        </p:nvSpPr>
        <p:spPr>
          <a:xfrm>
            <a:off x="3383280" y="5166360"/>
            <a:ext cx="2971800" cy="502920"/>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High / Medium / Low — keyword + LLM signal fusion.</a:t>
            </a:r>
            <a:endParaRPr lang="en-US" sz="1000" dirty="0"/>
          </a:p>
        </p:txBody>
      </p:sp>
      <p:sp>
        <p:nvSpPr>
          <p:cNvPr id="42" name="Shape 40"/>
          <p:cNvSpPr/>
          <p:nvPr/>
        </p:nvSpPr>
        <p:spPr>
          <a:xfrm>
            <a:off x="6675120" y="1920240"/>
            <a:ext cx="5074920" cy="4663440"/>
          </a:xfrm>
          <a:prstGeom prst="rect">
            <a:avLst/>
          </a:prstGeom>
          <a:solidFill>
            <a:srgbClr val="0B1E3F"/>
          </a:solidFill>
          <a:ln w="12700">
            <a:solidFill>
              <a:srgbClr val="0B1E3F"/>
            </a:solidFill>
            <a:prstDash val="solid"/>
          </a:ln>
        </p:spPr>
      </p:sp>
      <p:sp>
        <p:nvSpPr>
          <p:cNvPr id="43" name="Shape 41"/>
          <p:cNvSpPr/>
          <p:nvPr/>
        </p:nvSpPr>
        <p:spPr>
          <a:xfrm>
            <a:off x="6675120" y="1920240"/>
            <a:ext cx="5074920" cy="365760"/>
          </a:xfrm>
          <a:prstGeom prst="rect">
            <a:avLst/>
          </a:prstGeom>
          <a:solidFill>
            <a:srgbClr val="1FB8C9"/>
          </a:solidFill>
          <a:ln w="12700">
            <a:solidFill>
              <a:srgbClr val="1FB8C9"/>
            </a:solidFill>
            <a:prstDash val="solid"/>
          </a:ln>
        </p:spPr>
      </p:sp>
      <p:sp>
        <p:nvSpPr>
          <p:cNvPr id="44" name="Text 42"/>
          <p:cNvSpPr/>
          <p:nvPr/>
        </p:nvSpPr>
        <p:spPr>
          <a:xfrm>
            <a:off x="6858000" y="1920240"/>
            <a:ext cx="5074920" cy="365760"/>
          </a:xfrm>
          <a:prstGeom prst="rect">
            <a:avLst/>
          </a:prstGeom>
          <a:noFill/>
          <a:ln/>
        </p:spPr>
        <p:txBody>
          <a:bodyPr wrap="square" rtlCol="0" anchor="ctr"/>
          <a:lstStyle/>
          <a:p>
            <a:pPr indent="0" marL="0">
              <a:buNone/>
            </a:pPr>
            <a:r>
              <a:rPr lang="en-US" sz="1000" b="1" spc="400" kern="0" dirty="0">
                <a:solidFill>
                  <a:srgbClr val="FFFFFF"/>
                </a:solidFill>
                <a:latin typeface="Calibri" pitchFamily="34" charset="0"/>
                <a:ea typeface="Calibri" pitchFamily="34" charset="-122"/>
                <a:cs typeface="Calibri" pitchFamily="34" charset="-120"/>
              </a:rPr>
              <a:t>SAMPLE OUTPUT</a:t>
            </a:r>
            <a:endParaRPr lang="en-US" sz="1000" dirty="0"/>
          </a:p>
        </p:txBody>
      </p:sp>
      <p:sp>
        <p:nvSpPr>
          <p:cNvPr id="45" name="Text 43"/>
          <p:cNvSpPr/>
          <p:nvPr/>
        </p:nvSpPr>
        <p:spPr>
          <a:xfrm>
            <a:off x="6858000" y="2423160"/>
            <a:ext cx="5074920" cy="274320"/>
          </a:xfrm>
          <a:prstGeom prst="rect">
            <a:avLst/>
          </a:prstGeom>
          <a:noFill/>
          <a:ln/>
        </p:spPr>
        <p:txBody>
          <a:bodyPr wrap="square" rtlCol="0" anchor="ctr"/>
          <a:lstStyle/>
          <a:p>
            <a:pPr indent="0" marL="0">
              <a:buNone/>
            </a:pPr>
            <a:r>
              <a:rPr lang="en-US" sz="900" b="1" spc="300" kern="0" dirty="0">
                <a:solidFill>
                  <a:srgbClr val="1FB8C9"/>
                </a:solidFill>
                <a:latin typeface="Calibri" pitchFamily="34" charset="0"/>
                <a:ea typeface="Calibri" pitchFamily="34" charset="-122"/>
                <a:cs typeface="Calibri" pitchFamily="34" charset="-120"/>
              </a:rPr>
              <a:t>INPUT</a:t>
            </a:r>
            <a:endParaRPr lang="en-US" sz="900" dirty="0"/>
          </a:p>
        </p:txBody>
      </p:sp>
      <p:sp>
        <p:nvSpPr>
          <p:cNvPr id="46" name="Shape 44"/>
          <p:cNvSpPr/>
          <p:nvPr/>
        </p:nvSpPr>
        <p:spPr>
          <a:xfrm>
            <a:off x="6858000" y="2697480"/>
            <a:ext cx="4709160" cy="502920"/>
          </a:xfrm>
          <a:prstGeom prst="rect">
            <a:avLst/>
          </a:prstGeom>
          <a:solidFill>
            <a:srgbClr val="0E2750"/>
          </a:solidFill>
          <a:ln w="12700">
            <a:solidFill>
              <a:srgbClr val="0E2750"/>
            </a:solidFill>
            <a:prstDash val="solid"/>
          </a:ln>
        </p:spPr>
      </p:sp>
      <p:sp>
        <p:nvSpPr>
          <p:cNvPr id="47" name="Text 45"/>
          <p:cNvSpPr/>
          <p:nvPr/>
        </p:nvSpPr>
        <p:spPr>
          <a:xfrm>
            <a:off x="6949440" y="2697480"/>
            <a:ext cx="4526280" cy="502920"/>
          </a:xfrm>
          <a:prstGeom prst="rect">
            <a:avLst/>
          </a:prstGeom>
          <a:noFill/>
          <a:ln/>
        </p:spPr>
        <p:txBody>
          <a:bodyPr wrap="square" rtlCol="0" anchor="ctr"/>
          <a:lstStyle/>
          <a:p>
            <a:pPr indent="0" marL="0">
              <a:buNone/>
            </a:pPr>
            <a:r>
              <a:rPr lang="en-US" sz="1100" i="1" dirty="0">
                <a:solidFill>
                  <a:srgbClr val="FFFFFF"/>
                </a:solidFill>
                <a:latin typeface="Consolas" pitchFamily="34" charset="0"/>
                <a:ea typeface="Consolas" pitchFamily="34" charset="-122"/>
                <a:cs typeface="Consolas" pitchFamily="34" charset="-120"/>
              </a:rPr>
              <a:t>"My outlook not opening from morning."</a:t>
            </a:r>
            <a:endParaRPr lang="en-US" sz="1100" dirty="0"/>
          </a:p>
        </p:txBody>
      </p:sp>
      <p:sp>
        <p:nvSpPr>
          <p:cNvPr id="48" name="Text 46"/>
          <p:cNvSpPr/>
          <p:nvPr/>
        </p:nvSpPr>
        <p:spPr>
          <a:xfrm>
            <a:off x="6858000" y="3383280"/>
            <a:ext cx="5074920" cy="274320"/>
          </a:xfrm>
          <a:prstGeom prst="rect">
            <a:avLst/>
          </a:prstGeom>
          <a:noFill/>
          <a:ln/>
        </p:spPr>
        <p:txBody>
          <a:bodyPr wrap="square" rtlCol="0" anchor="ctr"/>
          <a:lstStyle/>
          <a:p>
            <a:pPr indent="0" marL="0">
              <a:buNone/>
            </a:pPr>
            <a:r>
              <a:rPr lang="en-US" sz="900" b="1" spc="300" kern="0" dirty="0">
                <a:solidFill>
                  <a:srgbClr val="1FB8C9"/>
                </a:solidFill>
                <a:latin typeface="Calibri" pitchFamily="34" charset="0"/>
                <a:ea typeface="Calibri" pitchFamily="34" charset="-122"/>
                <a:cs typeface="Calibri" pitchFamily="34" charset="-120"/>
              </a:rPr>
              <a:t>AI AGENT OUTPUT</a:t>
            </a:r>
            <a:endParaRPr lang="en-US" sz="900" dirty="0"/>
          </a:p>
        </p:txBody>
      </p:sp>
      <p:sp>
        <p:nvSpPr>
          <p:cNvPr id="49" name="Shape 47"/>
          <p:cNvSpPr/>
          <p:nvPr/>
        </p:nvSpPr>
        <p:spPr>
          <a:xfrm>
            <a:off x="6858000" y="3657600"/>
            <a:ext cx="4709160" cy="502920"/>
          </a:xfrm>
          <a:prstGeom prst="rect">
            <a:avLst/>
          </a:prstGeom>
          <a:solidFill>
            <a:srgbClr val="0E2750"/>
          </a:solidFill>
          <a:ln w="12700">
            <a:solidFill>
              <a:srgbClr val="0E2750"/>
            </a:solidFill>
            <a:prstDash val="solid"/>
          </a:ln>
        </p:spPr>
      </p:sp>
      <p:sp>
        <p:nvSpPr>
          <p:cNvPr id="50" name="Text 48"/>
          <p:cNvSpPr/>
          <p:nvPr/>
        </p:nvSpPr>
        <p:spPr>
          <a:xfrm>
            <a:off x="6949440" y="3657600"/>
            <a:ext cx="1463040" cy="502920"/>
          </a:xfrm>
          <a:prstGeom prst="rect">
            <a:avLst/>
          </a:prstGeom>
          <a:noFill/>
          <a:ln/>
        </p:spPr>
        <p:txBody>
          <a:bodyPr wrap="square" rtlCol="0" anchor="ctr"/>
          <a:lstStyle/>
          <a:p>
            <a:pPr indent="0" marL="0">
              <a:buNone/>
            </a:pPr>
            <a:r>
              <a:rPr lang="en-US" sz="1000" b="1" dirty="0">
                <a:solidFill>
                  <a:srgbClr val="1FB8C9"/>
                </a:solidFill>
                <a:latin typeface="Calibri" pitchFamily="34" charset="0"/>
                <a:ea typeface="Calibri" pitchFamily="34" charset="-122"/>
                <a:cs typeface="Calibri" pitchFamily="34" charset="-120"/>
              </a:rPr>
              <a:t>Improved Ticket</a:t>
            </a:r>
            <a:endParaRPr lang="en-US" sz="1000" dirty="0"/>
          </a:p>
        </p:txBody>
      </p:sp>
      <p:sp>
        <p:nvSpPr>
          <p:cNvPr id="51" name="Text 49"/>
          <p:cNvSpPr/>
          <p:nvPr/>
        </p:nvSpPr>
        <p:spPr>
          <a:xfrm>
            <a:off x="8458200" y="3657600"/>
            <a:ext cx="3063240" cy="5029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"Microsoft Outlook fails to launch since this morning; client requires investigation."</a:t>
            </a:r>
            <a:endParaRPr lang="en-US" sz="1000" dirty="0"/>
          </a:p>
        </p:txBody>
      </p:sp>
      <p:sp>
        <p:nvSpPr>
          <p:cNvPr id="52" name="Shape 50"/>
          <p:cNvSpPr/>
          <p:nvPr/>
        </p:nvSpPr>
        <p:spPr>
          <a:xfrm>
            <a:off x="6858000" y="4224528"/>
            <a:ext cx="4709160" cy="502920"/>
          </a:xfrm>
          <a:prstGeom prst="rect">
            <a:avLst/>
          </a:prstGeom>
          <a:solidFill>
            <a:srgbClr val="0E2750"/>
          </a:solidFill>
          <a:ln w="12700">
            <a:solidFill>
              <a:srgbClr val="0E2750"/>
            </a:solidFill>
            <a:prstDash val="solid"/>
          </a:ln>
        </p:spPr>
      </p:sp>
      <p:sp>
        <p:nvSpPr>
          <p:cNvPr id="53" name="Text 51"/>
          <p:cNvSpPr/>
          <p:nvPr/>
        </p:nvSpPr>
        <p:spPr>
          <a:xfrm>
            <a:off x="6949440" y="4224528"/>
            <a:ext cx="1463040" cy="502920"/>
          </a:xfrm>
          <a:prstGeom prst="rect">
            <a:avLst/>
          </a:prstGeom>
          <a:noFill/>
          <a:ln/>
        </p:spPr>
        <p:txBody>
          <a:bodyPr wrap="square" rtlCol="0" anchor="ctr"/>
          <a:lstStyle/>
          <a:p>
            <a:pPr indent="0" marL="0">
              <a:buNone/>
            </a:pPr>
            <a:r>
              <a:rPr lang="en-US" sz="1000" b="1" dirty="0">
                <a:solidFill>
                  <a:srgbClr val="1FB8C9"/>
                </a:solidFill>
                <a:latin typeface="Calibri" pitchFamily="34" charset="0"/>
                <a:ea typeface="Calibri" pitchFamily="34" charset="-122"/>
                <a:cs typeface="Calibri" pitchFamily="34" charset="-120"/>
              </a:rPr>
              <a:t>Summary</a:t>
            </a:r>
            <a:endParaRPr lang="en-US" sz="1000" dirty="0"/>
          </a:p>
        </p:txBody>
      </p:sp>
      <p:sp>
        <p:nvSpPr>
          <p:cNvPr id="54" name="Text 52"/>
          <p:cNvSpPr/>
          <p:nvPr/>
        </p:nvSpPr>
        <p:spPr>
          <a:xfrm>
            <a:off x="8458200" y="4224528"/>
            <a:ext cx="3063240" cy="5029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"Outlook desktop client not opening for user."</a:t>
            </a:r>
            <a:endParaRPr lang="en-US" sz="1000" dirty="0"/>
          </a:p>
        </p:txBody>
      </p:sp>
      <p:sp>
        <p:nvSpPr>
          <p:cNvPr id="55" name="Shape 53"/>
          <p:cNvSpPr/>
          <p:nvPr/>
        </p:nvSpPr>
        <p:spPr>
          <a:xfrm>
            <a:off x="6858000" y="4791456"/>
            <a:ext cx="4709160" cy="502920"/>
          </a:xfrm>
          <a:prstGeom prst="rect">
            <a:avLst/>
          </a:prstGeom>
          <a:solidFill>
            <a:srgbClr val="0E2750"/>
          </a:solidFill>
          <a:ln w="12700">
            <a:solidFill>
              <a:srgbClr val="0E2750"/>
            </a:solidFill>
            <a:prstDash val="solid"/>
          </a:ln>
        </p:spPr>
      </p:sp>
      <p:sp>
        <p:nvSpPr>
          <p:cNvPr id="56" name="Text 54"/>
          <p:cNvSpPr/>
          <p:nvPr/>
        </p:nvSpPr>
        <p:spPr>
          <a:xfrm>
            <a:off x="6949440" y="4791456"/>
            <a:ext cx="1463040" cy="502920"/>
          </a:xfrm>
          <a:prstGeom prst="rect">
            <a:avLst/>
          </a:prstGeom>
          <a:noFill/>
          <a:ln/>
        </p:spPr>
        <p:txBody>
          <a:bodyPr wrap="square" rtlCol="0" anchor="ctr"/>
          <a:lstStyle/>
          <a:p>
            <a:pPr indent="0" marL="0">
              <a:buNone/>
            </a:pPr>
            <a:r>
              <a:rPr lang="en-US" sz="1000" b="1" dirty="0">
                <a:solidFill>
                  <a:srgbClr val="1FB8C9"/>
                </a:solidFill>
                <a:latin typeface="Calibri" pitchFamily="34" charset="0"/>
                <a:ea typeface="Calibri" pitchFamily="34" charset="-122"/>
                <a:cs typeface="Calibri" pitchFamily="34" charset="-120"/>
              </a:rPr>
              <a:t>Category</a:t>
            </a:r>
            <a:endParaRPr lang="en-US" sz="1000" dirty="0"/>
          </a:p>
        </p:txBody>
      </p:sp>
      <p:sp>
        <p:nvSpPr>
          <p:cNvPr id="57" name="Text 55"/>
          <p:cNvSpPr/>
          <p:nvPr/>
        </p:nvSpPr>
        <p:spPr>
          <a:xfrm>
            <a:off x="8458200" y="4791456"/>
            <a:ext cx="3063240" cy="5029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Software</a:t>
            </a:r>
            <a:endParaRPr lang="en-US" sz="1000" dirty="0"/>
          </a:p>
        </p:txBody>
      </p:sp>
      <p:sp>
        <p:nvSpPr>
          <p:cNvPr id="58" name="Shape 56"/>
          <p:cNvSpPr/>
          <p:nvPr/>
        </p:nvSpPr>
        <p:spPr>
          <a:xfrm>
            <a:off x="6858000" y="5358384"/>
            <a:ext cx="4709160" cy="502920"/>
          </a:xfrm>
          <a:prstGeom prst="rect">
            <a:avLst/>
          </a:prstGeom>
          <a:solidFill>
            <a:srgbClr val="0E2750"/>
          </a:solidFill>
          <a:ln w="12700">
            <a:solidFill>
              <a:srgbClr val="0E2750"/>
            </a:solidFill>
            <a:prstDash val="solid"/>
          </a:ln>
        </p:spPr>
      </p:sp>
      <p:sp>
        <p:nvSpPr>
          <p:cNvPr id="59" name="Text 57"/>
          <p:cNvSpPr/>
          <p:nvPr/>
        </p:nvSpPr>
        <p:spPr>
          <a:xfrm>
            <a:off x="6949440" y="5358384"/>
            <a:ext cx="1463040" cy="502920"/>
          </a:xfrm>
          <a:prstGeom prst="rect">
            <a:avLst/>
          </a:prstGeom>
          <a:noFill/>
          <a:ln/>
        </p:spPr>
        <p:txBody>
          <a:bodyPr wrap="square" rtlCol="0" anchor="ctr"/>
          <a:lstStyle/>
          <a:p>
            <a:pPr indent="0" marL="0">
              <a:buNone/>
            </a:pPr>
            <a:r>
              <a:rPr lang="en-US" sz="1000" b="1" dirty="0">
                <a:solidFill>
                  <a:srgbClr val="1FB8C9"/>
                </a:solidFill>
                <a:latin typeface="Calibri" pitchFamily="34" charset="0"/>
                <a:ea typeface="Calibri" pitchFamily="34" charset="-122"/>
                <a:cs typeface="Calibri" pitchFamily="34" charset="-120"/>
              </a:rPr>
              <a:t>Priority</a:t>
            </a:r>
            <a:endParaRPr lang="en-US" sz="1000" dirty="0"/>
          </a:p>
        </p:txBody>
      </p:sp>
      <p:sp>
        <p:nvSpPr>
          <p:cNvPr id="60" name="Text 58"/>
          <p:cNvSpPr/>
          <p:nvPr/>
        </p:nvSpPr>
        <p:spPr>
          <a:xfrm>
            <a:off x="8458200" y="5358384"/>
            <a:ext cx="3063240" cy="5029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Medium</a:t>
            </a:r>
            <a:endParaRPr lang="en-US" sz="1000" dirty="0"/>
          </a:p>
        </p:txBody>
      </p:sp>
      <p:sp>
        <p:nvSpPr>
          <p:cNvPr id="61" name="Shape 59"/>
          <p:cNvSpPr/>
          <p:nvPr/>
        </p:nvSpPr>
        <p:spPr>
          <a:xfrm>
            <a:off x="6858000" y="5989320"/>
            <a:ext cx="4709160" cy="457200"/>
          </a:xfrm>
          <a:prstGeom prst="rect">
            <a:avLst/>
          </a:prstGeom>
          <a:solidFill>
            <a:srgbClr val="1B3A6B"/>
          </a:solidFill>
          <a:ln w="12700">
            <a:solidFill>
              <a:srgbClr val="1FB8C9"/>
            </a:solidFill>
            <a:prstDash val="solid"/>
          </a:ln>
        </p:spPr>
      </p:sp>
      <p:sp>
        <p:nvSpPr>
          <p:cNvPr id="62" name="Text 60"/>
          <p:cNvSpPr/>
          <p:nvPr/>
        </p:nvSpPr>
        <p:spPr>
          <a:xfrm>
            <a:off x="6949440" y="5989320"/>
            <a:ext cx="4526280" cy="457200"/>
          </a:xfrm>
          <a:prstGeom prst="rect">
            <a:avLst/>
          </a:prstGeom>
          <a:noFill/>
          <a:ln/>
        </p:spPr>
        <p:txBody>
          <a:bodyPr wrap="square" rtlCol="0" anchor="ctr"/>
          <a:lstStyle/>
          <a:p>
            <a:pPr indent="0" marL="0">
              <a:buNone/>
            </a:pPr>
            <a:r>
              <a:rPr lang="en-US" sz="1000" i="1" dirty="0">
                <a:solidFill>
                  <a:srgbClr val="FFFFFF"/>
                </a:solidFill>
                <a:latin typeface="Calibri" pitchFamily="34" charset="0"/>
                <a:ea typeface="Calibri" pitchFamily="34" charset="-122"/>
                <a:cs typeface="Calibri" pitchFamily="34" charset="-120"/>
              </a:rPr>
              <a:t>⚙ Fallback: if LLM call fails → rule-based keyword classifier ensures continuity.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E3F"/>
          </a:solidFill>
          <a:ln/>
        </p:spPr>
      </p:sp>
      <p:sp>
        <p:nvSpPr>
          <p:cNvPr id="3" name="Shape 1"/>
          <p:cNvSpPr/>
          <p:nvPr/>
        </p:nvSpPr>
        <p:spPr>
          <a:xfrm>
            <a:off x="0" y="502920"/>
            <a:ext cx="12191695" cy="36576"/>
          </a:xfrm>
          <a:prstGeom prst="rect">
            <a:avLst/>
          </a:prstGeom>
          <a:solidFill>
            <a:srgbClr val="1FB8C9"/>
          </a:solidFill>
          <a:ln/>
        </p:spPr>
      </p:sp>
      <p:sp>
        <p:nvSpPr>
          <p:cNvPr id="4" name="Text 2"/>
          <p:cNvSpPr/>
          <p:nvPr/>
        </p:nvSpPr>
        <p:spPr>
          <a:xfrm>
            <a:off x="365760" y="0"/>
            <a:ext cx="11430000" cy="502920"/>
          </a:xfrm>
          <a:prstGeom prst="rect">
            <a:avLst/>
          </a:prstGeom>
          <a:noFill/>
          <a:ln/>
        </p:spPr>
        <p:txBody>
          <a:bodyPr wrap="square" rtlCol="0" anchor="ctr"/>
          <a:lstStyle/>
          <a:p>
            <a:pPr indent="0" marL="0">
              <a:buNone/>
            </a:pPr>
            <a:r>
              <a:rPr lang="en-US" sz="1000" b="1" spc="300" kern="0" dirty="0">
                <a:solidFill>
                  <a:srgbClr val="FFFFFF"/>
                </a:solidFill>
                <a:latin typeface="Calibri" pitchFamily="34" charset="0"/>
                <a:ea typeface="Calibri" pitchFamily="34" charset="-122"/>
                <a:cs typeface="Calibri" pitchFamily="34" charset="-120"/>
              </a:rPr>
              <a:t>MULTILINGUAL TICKET TRANSLATOR  •  TEAM 9  •  SD-04</a:t>
            </a:r>
            <a:endParaRPr lang="en-US" sz="1000" dirty="0"/>
          </a:p>
        </p:txBody>
      </p:sp>
      <p:sp>
        <p:nvSpPr>
          <p:cNvPr id="5" name="Text 3"/>
          <p:cNvSpPr/>
          <p:nvPr/>
        </p:nvSpPr>
        <p:spPr>
          <a:xfrm>
            <a:off x="457200" y="685800"/>
            <a:ext cx="11247120" cy="320040"/>
          </a:xfrm>
          <a:prstGeom prst="rect">
            <a:avLst/>
          </a:prstGeom>
          <a:noFill/>
          <a:ln/>
        </p:spPr>
        <p:txBody>
          <a:bodyPr wrap="square" rtlCol="0" anchor="ctr"/>
          <a:lstStyle/>
          <a:p>
            <a:pPr indent="0" marL="0">
              <a:buNone/>
            </a:pPr>
            <a:r>
              <a:rPr lang="en-US" sz="1100" b="1" spc="400" kern="0" dirty="0">
                <a:solidFill>
                  <a:srgbClr val="1FB8C9"/>
                </a:solidFill>
                <a:latin typeface="Calibri" pitchFamily="34" charset="0"/>
                <a:ea typeface="Calibri" pitchFamily="34" charset="-122"/>
                <a:cs typeface="Calibri" pitchFamily="34" charset="-120"/>
              </a:rPr>
              <a:t>07 — LANGUAGE LAYER</a:t>
            </a:r>
            <a:endParaRPr lang="en-US" sz="1100" dirty="0"/>
          </a:p>
        </p:txBody>
      </p:sp>
      <p:sp>
        <p:nvSpPr>
          <p:cNvPr id="6" name="Text 4"/>
          <p:cNvSpPr/>
          <p:nvPr/>
        </p:nvSpPr>
        <p:spPr>
          <a:xfrm>
            <a:off x="457200" y="960120"/>
            <a:ext cx="11247120" cy="640080"/>
          </a:xfrm>
          <a:prstGeom prst="rect">
            <a:avLst/>
          </a:prstGeom>
          <a:noFill/>
          <a:ln/>
        </p:spPr>
        <p:txBody>
          <a:bodyPr wrap="square" rtlCol="0" anchor="ctr"/>
          <a:lstStyle/>
          <a:p>
            <a:pPr indent="0" marL="0">
              <a:buNone/>
            </a:pPr>
            <a:r>
              <a:rPr lang="en-US" sz="3000" b="1" dirty="0">
                <a:solidFill>
                  <a:srgbClr val="0B1E3F"/>
                </a:solidFill>
                <a:latin typeface="Calibri" pitchFamily="34" charset="0"/>
                <a:ea typeface="Calibri" pitchFamily="34" charset="-122"/>
                <a:cs typeface="Calibri" pitchFamily="34" charset="-120"/>
              </a:rPr>
              <a:t>Core Logic 2 — Language Detection Engine</a:t>
            </a:r>
            <a:endParaRPr lang="en-US" sz="3000" dirty="0"/>
          </a:p>
        </p:txBody>
      </p:sp>
      <p:sp>
        <p:nvSpPr>
          <p:cNvPr id="7" name="Shape 5"/>
          <p:cNvSpPr/>
          <p:nvPr/>
        </p:nvSpPr>
        <p:spPr>
          <a:xfrm>
            <a:off x="457200" y="1627632"/>
            <a:ext cx="548640" cy="54864"/>
          </a:xfrm>
          <a:prstGeom prst="rect">
            <a:avLst/>
          </a:prstGeom>
          <a:solidFill>
            <a:srgbClr val="1FB8C9"/>
          </a:solidFill>
          <a:ln w="12700">
            <a:solidFill>
              <a:srgbClr val="1FB8C9"/>
            </a:solidFill>
            <a:prstDash val="solid"/>
          </a:ln>
        </p:spPr>
      </p:sp>
      <p:sp>
        <p:nvSpPr>
          <p:cNvPr id="8" name="Shape 6"/>
          <p:cNvSpPr/>
          <p:nvPr/>
        </p:nvSpPr>
        <p:spPr>
          <a:xfrm>
            <a:off x="0" y="6675120"/>
            <a:ext cx="12191695" cy="182880"/>
          </a:xfrm>
          <a:prstGeom prst="rect">
            <a:avLst/>
          </a:prstGeom>
          <a:solidFill>
            <a:srgbClr val="F4F7FB"/>
          </a:solidFill>
          <a:ln w="12700">
            <a:solidFill>
              <a:srgbClr val="F4F7FB"/>
            </a:solidFill>
            <a:prstDash val="solid"/>
          </a:ln>
        </p:spPr>
      </p:sp>
      <p:sp>
        <p:nvSpPr>
          <p:cNvPr id="9" name="Text 7"/>
          <p:cNvSpPr/>
          <p:nvPr/>
        </p:nvSpPr>
        <p:spPr>
          <a:xfrm>
            <a:off x="365760" y="6656832"/>
            <a:ext cx="7315200" cy="201168"/>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Infinite Computer Solutions • Placement Case Study</a:t>
            </a:r>
            <a:endParaRPr lang="en-US" sz="900" dirty="0"/>
          </a:p>
        </p:txBody>
      </p:sp>
      <p:sp>
        <p:nvSpPr>
          <p:cNvPr id="10" name="Text 8"/>
          <p:cNvSpPr/>
          <p:nvPr/>
        </p:nvSpPr>
        <p:spPr>
          <a:xfrm>
            <a:off x="11247120" y="6656832"/>
            <a:ext cx="640080" cy="201168"/>
          </a:xfrm>
          <a:prstGeom prst="rect">
            <a:avLst/>
          </a:prstGeom>
          <a:noFill/>
          <a:ln/>
        </p:spPr>
        <p:txBody>
          <a:bodyPr wrap="square" rtlCol="0" anchor="ctr"/>
          <a:lstStyle/>
          <a:p>
            <a:pPr algn="r" indent="0" marL="0">
              <a:buNone/>
            </a:pPr>
            <a:r>
              <a:rPr lang="en-US" sz="900" b="1" dirty="0">
                <a:solidFill>
                  <a:srgbClr val="5A6B7C"/>
                </a:solidFill>
                <a:latin typeface="Calibri" pitchFamily="34" charset="0"/>
                <a:ea typeface="Calibri" pitchFamily="34" charset="-122"/>
                <a:cs typeface="Calibri" pitchFamily="34" charset="-120"/>
              </a:rPr>
              <a:t>8 / 15</a:t>
            </a:r>
            <a:endParaRPr lang="en-US" sz="900" dirty="0"/>
          </a:p>
        </p:txBody>
      </p:sp>
      <p:sp>
        <p:nvSpPr>
          <p:cNvPr id="11" name="Text 9"/>
          <p:cNvSpPr/>
          <p:nvPr/>
        </p:nvSpPr>
        <p:spPr>
          <a:xfrm>
            <a:off x="457200" y="1920240"/>
            <a:ext cx="6400800" cy="365760"/>
          </a:xfrm>
          <a:prstGeom prst="rect">
            <a:avLst/>
          </a:prstGeom>
          <a:noFill/>
          <a:ln/>
        </p:spPr>
        <p:txBody>
          <a:bodyPr wrap="square" rtlCol="0" anchor="ctr"/>
          <a:lstStyle/>
          <a:p>
            <a:pPr indent="0" marL="0">
              <a:buNone/>
            </a:pPr>
            <a:r>
              <a:rPr lang="en-US" sz="1600" b="1" dirty="0">
                <a:solidFill>
                  <a:srgbClr val="0B1E3F"/>
                </a:solidFill>
                <a:latin typeface="Calibri" pitchFamily="34" charset="0"/>
                <a:ea typeface="Calibri" pitchFamily="34" charset="-122"/>
                <a:cs typeface="Calibri" pitchFamily="34" charset="-120"/>
              </a:rPr>
              <a:t>Automatic Language Identification</a:t>
            </a:r>
            <a:endParaRPr lang="en-US" sz="1600" dirty="0"/>
          </a:p>
        </p:txBody>
      </p:sp>
      <p:sp>
        <p:nvSpPr>
          <p:cNvPr id="12" name="Shape 10"/>
          <p:cNvSpPr/>
          <p:nvPr/>
        </p:nvSpPr>
        <p:spPr>
          <a:xfrm>
            <a:off x="457200" y="2377440"/>
            <a:ext cx="5943600" cy="621792"/>
          </a:xfrm>
          <a:prstGeom prst="roundRect">
            <a:avLst>
              <a:gd name="adj" fmla="val 8824"/>
            </a:avLst>
          </a:prstGeom>
          <a:solidFill>
            <a:srgbClr val="FFFFFF"/>
          </a:solidFill>
          <a:ln w="12700">
            <a:solidFill>
              <a:srgbClr val="D9E1EC"/>
            </a:solidFill>
            <a:prstDash val="solid"/>
          </a:ln>
        </p:spPr>
      </p:sp>
      <p:sp>
        <p:nvSpPr>
          <p:cNvPr id="13" name="Shape 11"/>
          <p:cNvSpPr/>
          <p:nvPr/>
        </p:nvSpPr>
        <p:spPr>
          <a:xfrm>
            <a:off x="457200" y="2377440"/>
            <a:ext cx="594360" cy="621792"/>
          </a:xfrm>
          <a:prstGeom prst="roundRect">
            <a:avLst>
              <a:gd name="adj" fmla="val 9231"/>
            </a:avLst>
          </a:prstGeom>
          <a:solidFill>
            <a:srgbClr val="0B1E3F"/>
          </a:solidFill>
          <a:ln w="12700">
            <a:solidFill>
              <a:srgbClr val="0B1E3F"/>
            </a:solidFill>
            <a:prstDash val="solid"/>
          </a:ln>
        </p:spPr>
      </p:sp>
      <p:sp>
        <p:nvSpPr>
          <p:cNvPr id="14" name="Text 12"/>
          <p:cNvSpPr/>
          <p:nvPr/>
        </p:nvSpPr>
        <p:spPr>
          <a:xfrm>
            <a:off x="457200" y="2377440"/>
            <a:ext cx="594360" cy="621792"/>
          </a:xfrm>
          <a:prstGeom prst="rect">
            <a:avLst/>
          </a:prstGeom>
          <a:noFill/>
          <a:ln/>
        </p:spPr>
        <p:txBody>
          <a:bodyPr wrap="square" rtlCol="0" anchor="ctr"/>
          <a:lstStyle/>
          <a:p>
            <a:pPr algn="ctr" indent="0" marL="0">
              <a:buNone/>
            </a:pPr>
            <a:r>
              <a:rPr lang="en-US" sz="1800" b="1" dirty="0">
                <a:solidFill>
                  <a:srgbClr val="1FB8C9"/>
                </a:solidFill>
                <a:latin typeface="Calibri" pitchFamily="34" charset="0"/>
                <a:ea typeface="Calibri" pitchFamily="34" charset="-122"/>
                <a:cs typeface="Calibri" pitchFamily="34" charset="-120"/>
              </a:rPr>
              <a:t>1</a:t>
            </a:r>
            <a:endParaRPr lang="en-US" sz="1800" dirty="0"/>
          </a:p>
        </p:txBody>
      </p:sp>
      <p:sp>
        <p:nvSpPr>
          <p:cNvPr id="15" name="Text 13"/>
          <p:cNvSpPr/>
          <p:nvPr/>
        </p:nvSpPr>
        <p:spPr>
          <a:xfrm>
            <a:off x="1188720" y="2450592"/>
            <a:ext cx="5120640" cy="274320"/>
          </a:xfrm>
          <a:prstGeom prst="rect">
            <a:avLst/>
          </a:prstGeom>
          <a:noFill/>
          <a:ln/>
        </p:spPr>
        <p:txBody>
          <a:bodyPr wrap="square" rtlCol="0" anchor="ctr"/>
          <a:lstStyle/>
          <a:p>
            <a:pPr indent="0" marL="0">
              <a:buNone/>
            </a:pPr>
            <a:r>
              <a:rPr lang="en-US" sz="1200" b="1" dirty="0">
                <a:solidFill>
                  <a:srgbClr val="0B1E3F"/>
                </a:solidFill>
                <a:latin typeface="Calibri" pitchFamily="34" charset="0"/>
                <a:ea typeface="Calibri" pitchFamily="34" charset="-122"/>
                <a:cs typeface="Calibri" pitchFamily="34" charset="-120"/>
              </a:rPr>
              <a:t>Raw Ticket Text</a:t>
            </a:r>
            <a:endParaRPr lang="en-US" sz="1200" dirty="0"/>
          </a:p>
        </p:txBody>
      </p:sp>
      <p:sp>
        <p:nvSpPr>
          <p:cNvPr id="16" name="Text 14"/>
          <p:cNvSpPr/>
          <p:nvPr/>
        </p:nvSpPr>
        <p:spPr>
          <a:xfrm>
            <a:off x="1188720" y="2706624"/>
            <a:ext cx="5120640" cy="292608"/>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Customer-submitted message of any length.</a:t>
            </a:r>
            <a:endParaRPr lang="en-US" sz="1000" dirty="0"/>
          </a:p>
        </p:txBody>
      </p:sp>
      <p:sp>
        <p:nvSpPr>
          <p:cNvPr id="17" name="Shape 15"/>
          <p:cNvSpPr/>
          <p:nvPr/>
        </p:nvSpPr>
        <p:spPr>
          <a:xfrm>
            <a:off x="731520" y="2999232"/>
            <a:ext cx="45720" cy="91440"/>
          </a:xfrm>
          <a:prstGeom prst="rect">
            <a:avLst/>
          </a:prstGeom>
          <a:solidFill>
            <a:srgbClr val="1FB8C9"/>
          </a:solidFill>
          <a:ln w="12700">
            <a:solidFill>
              <a:srgbClr val="1FB8C9"/>
            </a:solidFill>
            <a:prstDash val="solid"/>
          </a:ln>
        </p:spPr>
      </p:sp>
      <p:sp>
        <p:nvSpPr>
          <p:cNvPr id="18" name="Shape 16"/>
          <p:cNvSpPr/>
          <p:nvPr/>
        </p:nvSpPr>
        <p:spPr>
          <a:xfrm>
            <a:off x="457200" y="3090672"/>
            <a:ext cx="5943600" cy="621792"/>
          </a:xfrm>
          <a:prstGeom prst="roundRect">
            <a:avLst>
              <a:gd name="adj" fmla="val 8824"/>
            </a:avLst>
          </a:prstGeom>
          <a:solidFill>
            <a:srgbClr val="FFFFFF"/>
          </a:solidFill>
          <a:ln w="12700">
            <a:solidFill>
              <a:srgbClr val="D9E1EC"/>
            </a:solidFill>
            <a:prstDash val="solid"/>
          </a:ln>
        </p:spPr>
      </p:sp>
      <p:sp>
        <p:nvSpPr>
          <p:cNvPr id="19" name="Shape 17"/>
          <p:cNvSpPr/>
          <p:nvPr/>
        </p:nvSpPr>
        <p:spPr>
          <a:xfrm>
            <a:off x="457200" y="3090672"/>
            <a:ext cx="594360" cy="621792"/>
          </a:xfrm>
          <a:prstGeom prst="roundRect">
            <a:avLst>
              <a:gd name="adj" fmla="val 9231"/>
            </a:avLst>
          </a:prstGeom>
          <a:solidFill>
            <a:srgbClr val="0B1E3F"/>
          </a:solidFill>
          <a:ln w="12700">
            <a:solidFill>
              <a:srgbClr val="0B1E3F"/>
            </a:solidFill>
            <a:prstDash val="solid"/>
          </a:ln>
        </p:spPr>
      </p:sp>
      <p:sp>
        <p:nvSpPr>
          <p:cNvPr id="20" name="Text 18"/>
          <p:cNvSpPr/>
          <p:nvPr/>
        </p:nvSpPr>
        <p:spPr>
          <a:xfrm>
            <a:off x="457200" y="3090672"/>
            <a:ext cx="594360" cy="621792"/>
          </a:xfrm>
          <a:prstGeom prst="rect">
            <a:avLst/>
          </a:prstGeom>
          <a:noFill/>
          <a:ln/>
        </p:spPr>
        <p:txBody>
          <a:bodyPr wrap="square" rtlCol="0" anchor="ctr"/>
          <a:lstStyle/>
          <a:p>
            <a:pPr algn="ctr" indent="0" marL="0">
              <a:buNone/>
            </a:pPr>
            <a:r>
              <a:rPr lang="en-US" sz="1800" b="1" dirty="0">
                <a:solidFill>
                  <a:srgbClr val="1FB8C9"/>
                </a:solidFill>
                <a:latin typeface="Calibri" pitchFamily="34" charset="0"/>
                <a:ea typeface="Calibri" pitchFamily="34" charset="-122"/>
                <a:cs typeface="Calibri" pitchFamily="34" charset="-120"/>
              </a:rPr>
              <a:t>2</a:t>
            </a:r>
            <a:endParaRPr lang="en-US" sz="1800" dirty="0"/>
          </a:p>
        </p:txBody>
      </p:sp>
      <p:sp>
        <p:nvSpPr>
          <p:cNvPr id="21" name="Text 19"/>
          <p:cNvSpPr/>
          <p:nvPr/>
        </p:nvSpPr>
        <p:spPr>
          <a:xfrm>
            <a:off x="1188720" y="3163824"/>
            <a:ext cx="5120640" cy="274320"/>
          </a:xfrm>
          <a:prstGeom prst="rect">
            <a:avLst/>
          </a:prstGeom>
          <a:noFill/>
          <a:ln/>
        </p:spPr>
        <p:txBody>
          <a:bodyPr wrap="square" rtlCol="0" anchor="ctr"/>
          <a:lstStyle/>
          <a:p>
            <a:pPr indent="0" marL="0">
              <a:buNone/>
            </a:pPr>
            <a:r>
              <a:rPr lang="en-US" sz="1200" b="1" dirty="0">
                <a:solidFill>
                  <a:srgbClr val="0B1E3F"/>
                </a:solidFill>
                <a:latin typeface="Calibri" pitchFamily="34" charset="0"/>
                <a:ea typeface="Calibri" pitchFamily="34" charset="-122"/>
                <a:cs typeface="Calibri" pitchFamily="34" charset="-120"/>
              </a:rPr>
              <a:t>Tokenize &amp; Sample</a:t>
            </a:r>
            <a:endParaRPr lang="en-US" sz="1200" dirty="0"/>
          </a:p>
        </p:txBody>
      </p:sp>
      <p:sp>
        <p:nvSpPr>
          <p:cNvPr id="22" name="Text 20"/>
          <p:cNvSpPr/>
          <p:nvPr/>
        </p:nvSpPr>
        <p:spPr>
          <a:xfrm>
            <a:off x="1188720" y="3419856"/>
            <a:ext cx="5120640" cy="292608"/>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Statistical n-gram extraction (langdetect).</a:t>
            </a:r>
            <a:endParaRPr lang="en-US" sz="1000" dirty="0"/>
          </a:p>
        </p:txBody>
      </p:sp>
      <p:sp>
        <p:nvSpPr>
          <p:cNvPr id="23" name="Shape 21"/>
          <p:cNvSpPr/>
          <p:nvPr/>
        </p:nvSpPr>
        <p:spPr>
          <a:xfrm>
            <a:off x="731520" y="3712464"/>
            <a:ext cx="45720" cy="91440"/>
          </a:xfrm>
          <a:prstGeom prst="rect">
            <a:avLst/>
          </a:prstGeom>
          <a:solidFill>
            <a:srgbClr val="1FB8C9"/>
          </a:solidFill>
          <a:ln w="12700">
            <a:solidFill>
              <a:srgbClr val="1FB8C9"/>
            </a:solidFill>
            <a:prstDash val="solid"/>
          </a:ln>
        </p:spPr>
      </p:sp>
      <p:sp>
        <p:nvSpPr>
          <p:cNvPr id="24" name="Shape 22"/>
          <p:cNvSpPr/>
          <p:nvPr/>
        </p:nvSpPr>
        <p:spPr>
          <a:xfrm>
            <a:off x="457200" y="3803904"/>
            <a:ext cx="5943600" cy="621792"/>
          </a:xfrm>
          <a:prstGeom prst="roundRect">
            <a:avLst>
              <a:gd name="adj" fmla="val 8824"/>
            </a:avLst>
          </a:prstGeom>
          <a:solidFill>
            <a:srgbClr val="FFFFFF"/>
          </a:solidFill>
          <a:ln w="12700">
            <a:solidFill>
              <a:srgbClr val="D9E1EC"/>
            </a:solidFill>
            <a:prstDash val="solid"/>
          </a:ln>
        </p:spPr>
      </p:sp>
      <p:sp>
        <p:nvSpPr>
          <p:cNvPr id="25" name="Shape 23"/>
          <p:cNvSpPr/>
          <p:nvPr/>
        </p:nvSpPr>
        <p:spPr>
          <a:xfrm>
            <a:off x="457200" y="3803904"/>
            <a:ext cx="594360" cy="621792"/>
          </a:xfrm>
          <a:prstGeom prst="roundRect">
            <a:avLst>
              <a:gd name="adj" fmla="val 9231"/>
            </a:avLst>
          </a:prstGeom>
          <a:solidFill>
            <a:srgbClr val="0B1E3F"/>
          </a:solidFill>
          <a:ln w="12700">
            <a:solidFill>
              <a:srgbClr val="0B1E3F"/>
            </a:solidFill>
            <a:prstDash val="solid"/>
          </a:ln>
        </p:spPr>
      </p:sp>
      <p:sp>
        <p:nvSpPr>
          <p:cNvPr id="26" name="Text 24"/>
          <p:cNvSpPr/>
          <p:nvPr/>
        </p:nvSpPr>
        <p:spPr>
          <a:xfrm>
            <a:off x="457200" y="3803904"/>
            <a:ext cx="594360" cy="621792"/>
          </a:xfrm>
          <a:prstGeom prst="rect">
            <a:avLst/>
          </a:prstGeom>
          <a:noFill/>
          <a:ln/>
        </p:spPr>
        <p:txBody>
          <a:bodyPr wrap="square" rtlCol="0" anchor="ctr"/>
          <a:lstStyle/>
          <a:p>
            <a:pPr algn="ctr" indent="0" marL="0">
              <a:buNone/>
            </a:pPr>
            <a:r>
              <a:rPr lang="en-US" sz="1800" b="1" dirty="0">
                <a:solidFill>
                  <a:srgbClr val="1FB8C9"/>
                </a:solidFill>
                <a:latin typeface="Calibri" pitchFamily="34" charset="0"/>
                <a:ea typeface="Calibri" pitchFamily="34" charset="-122"/>
                <a:cs typeface="Calibri" pitchFamily="34" charset="-120"/>
              </a:rPr>
              <a:t>3</a:t>
            </a:r>
            <a:endParaRPr lang="en-US" sz="1800" dirty="0"/>
          </a:p>
        </p:txBody>
      </p:sp>
      <p:sp>
        <p:nvSpPr>
          <p:cNvPr id="27" name="Text 25"/>
          <p:cNvSpPr/>
          <p:nvPr/>
        </p:nvSpPr>
        <p:spPr>
          <a:xfrm>
            <a:off x="1188720" y="3877056"/>
            <a:ext cx="5120640" cy="274320"/>
          </a:xfrm>
          <a:prstGeom prst="rect">
            <a:avLst/>
          </a:prstGeom>
          <a:noFill/>
          <a:ln/>
        </p:spPr>
        <p:txBody>
          <a:bodyPr wrap="square" rtlCol="0" anchor="ctr"/>
          <a:lstStyle/>
          <a:p>
            <a:pPr indent="0" marL="0">
              <a:buNone/>
            </a:pPr>
            <a:r>
              <a:rPr lang="en-US" sz="1200" b="1" dirty="0">
                <a:solidFill>
                  <a:srgbClr val="0B1E3F"/>
                </a:solidFill>
                <a:latin typeface="Calibri" pitchFamily="34" charset="0"/>
                <a:ea typeface="Calibri" pitchFamily="34" charset="-122"/>
                <a:cs typeface="Calibri" pitchFamily="34" charset="-120"/>
              </a:rPr>
              <a:t>Probability Scoring</a:t>
            </a:r>
            <a:endParaRPr lang="en-US" sz="1200" dirty="0"/>
          </a:p>
        </p:txBody>
      </p:sp>
      <p:sp>
        <p:nvSpPr>
          <p:cNvPr id="28" name="Text 26"/>
          <p:cNvSpPr/>
          <p:nvPr/>
        </p:nvSpPr>
        <p:spPr>
          <a:xfrm>
            <a:off x="1188720" y="4133088"/>
            <a:ext cx="5120640" cy="292608"/>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Score across 55+ candidate languages.</a:t>
            </a:r>
            <a:endParaRPr lang="en-US" sz="1000" dirty="0"/>
          </a:p>
        </p:txBody>
      </p:sp>
      <p:sp>
        <p:nvSpPr>
          <p:cNvPr id="29" name="Shape 27"/>
          <p:cNvSpPr/>
          <p:nvPr/>
        </p:nvSpPr>
        <p:spPr>
          <a:xfrm>
            <a:off x="731520" y="4425696"/>
            <a:ext cx="45720" cy="91440"/>
          </a:xfrm>
          <a:prstGeom prst="rect">
            <a:avLst/>
          </a:prstGeom>
          <a:solidFill>
            <a:srgbClr val="1FB8C9"/>
          </a:solidFill>
          <a:ln w="12700">
            <a:solidFill>
              <a:srgbClr val="1FB8C9"/>
            </a:solidFill>
            <a:prstDash val="solid"/>
          </a:ln>
        </p:spPr>
      </p:sp>
      <p:sp>
        <p:nvSpPr>
          <p:cNvPr id="30" name="Shape 28"/>
          <p:cNvSpPr/>
          <p:nvPr/>
        </p:nvSpPr>
        <p:spPr>
          <a:xfrm>
            <a:off x="457200" y="4517136"/>
            <a:ext cx="5943600" cy="621792"/>
          </a:xfrm>
          <a:prstGeom prst="roundRect">
            <a:avLst>
              <a:gd name="adj" fmla="val 8824"/>
            </a:avLst>
          </a:prstGeom>
          <a:solidFill>
            <a:srgbClr val="FFFFFF"/>
          </a:solidFill>
          <a:ln w="12700">
            <a:solidFill>
              <a:srgbClr val="D9E1EC"/>
            </a:solidFill>
            <a:prstDash val="solid"/>
          </a:ln>
        </p:spPr>
      </p:sp>
      <p:sp>
        <p:nvSpPr>
          <p:cNvPr id="31" name="Shape 29"/>
          <p:cNvSpPr/>
          <p:nvPr/>
        </p:nvSpPr>
        <p:spPr>
          <a:xfrm>
            <a:off x="457200" y="4517136"/>
            <a:ext cx="594360" cy="621792"/>
          </a:xfrm>
          <a:prstGeom prst="roundRect">
            <a:avLst>
              <a:gd name="adj" fmla="val 9231"/>
            </a:avLst>
          </a:prstGeom>
          <a:solidFill>
            <a:srgbClr val="0B1E3F"/>
          </a:solidFill>
          <a:ln w="12700">
            <a:solidFill>
              <a:srgbClr val="0B1E3F"/>
            </a:solidFill>
            <a:prstDash val="solid"/>
          </a:ln>
        </p:spPr>
      </p:sp>
      <p:sp>
        <p:nvSpPr>
          <p:cNvPr id="32" name="Text 30"/>
          <p:cNvSpPr/>
          <p:nvPr/>
        </p:nvSpPr>
        <p:spPr>
          <a:xfrm>
            <a:off x="457200" y="4517136"/>
            <a:ext cx="594360" cy="621792"/>
          </a:xfrm>
          <a:prstGeom prst="rect">
            <a:avLst/>
          </a:prstGeom>
          <a:noFill/>
          <a:ln/>
        </p:spPr>
        <p:txBody>
          <a:bodyPr wrap="square" rtlCol="0" anchor="ctr"/>
          <a:lstStyle/>
          <a:p>
            <a:pPr algn="ctr" indent="0" marL="0">
              <a:buNone/>
            </a:pPr>
            <a:r>
              <a:rPr lang="en-US" sz="1800" b="1" dirty="0">
                <a:solidFill>
                  <a:srgbClr val="1FB8C9"/>
                </a:solidFill>
                <a:latin typeface="Calibri" pitchFamily="34" charset="0"/>
                <a:ea typeface="Calibri" pitchFamily="34" charset="-122"/>
                <a:cs typeface="Calibri" pitchFamily="34" charset="-120"/>
              </a:rPr>
              <a:t>4</a:t>
            </a:r>
            <a:endParaRPr lang="en-US" sz="1800" dirty="0"/>
          </a:p>
        </p:txBody>
      </p:sp>
      <p:sp>
        <p:nvSpPr>
          <p:cNvPr id="33" name="Text 31"/>
          <p:cNvSpPr/>
          <p:nvPr/>
        </p:nvSpPr>
        <p:spPr>
          <a:xfrm>
            <a:off x="1188720" y="4590288"/>
            <a:ext cx="5120640" cy="274320"/>
          </a:xfrm>
          <a:prstGeom prst="rect">
            <a:avLst/>
          </a:prstGeom>
          <a:noFill/>
          <a:ln/>
        </p:spPr>
        <p:txBody>
          <a:bodyPr wrap="square" rtlCol="0" anchor="ctr"/>
          <a:lstStyle/>
          <a:p>
            <a:pPr indent="0" marL="0">
              <a:buNone/>
            </a:pPr>
            <a:r>
              <a:rPr lang="en-US" sz="1200" b="1" dirty="0">
                <a:solidFill>
                  <a:srgbClr val="0B1E3F"/>
                </a:solidFill>
                <a:latin typeface="Calibri" pitchFamily="34" charset="0"/>
                <a:ea typeface="Calibri" pitchFamily="34" charset="-122"/>
                <a:cs typeface="Calibri" pitchFamily="34" charset="-120"/>
              </a:rPr>
              <a:t>Language Code Mapping</a:t>
            </a:r>
            <a:endParaRPr lang="en-US" sz="1200" dirty="0"/>
          </a:p>
        </p:txBody>
      </p:sp>
      <p:sp>
        <p:nvSpPr>
          <p:cNvPr id="34" name="Text 32"/>
          <p:cNvSpPr/>
          <p:nvPr/>
        </p:nvSpPr>
        <p:spPr>
          <a:xfrm>
            <a:off x="1188720" y="4846320"/>
            <a:ext cx="5120640" cy="292608"/>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ISO code → translator engine code.</a:t>
            </a:r>
            <a:endParaRPr lang="en-US" sz="1000" dirty="0"/>
          </a:p>
        </p:txBody>
      </p:sp>
      <p:sp>
        <p:nvSpPr>
          <p:cNvPr id="35" name="Shape 33"/>
          <p:cNvSpPr/>
          <p:nvPr/>
        </p:nvSpPr>
        <p:spPr>
          <a:xfrm>
            <a:off x="731520" y="5138928"/>
            <a:ext cx="45720" cy="91440"/>
          </a:xfrm>
          <a:prstGeom prst="rect">
            <a:avLst/>
          </a:prstGeom>
          <a:solidFill>
            <a:srgbClr val="1FB8C9"/>
          </a:solidFill>
          <a:ln w="12700">
            <a:solidFill>
              <a:srgbClr val="1FB8C9"/>
            </a:solidFill>
            <a:prstDash val="solid"/>
          </a:ln>
        </p:spPr>
      </p:sp>
      <p:sp>
        <p:nvSpPr>
          <p:cNvPr id="36" name="Shape 34"/>
          <p:cNvSpPr/>
          <p:nvPr/>
        </p:nvSpPr>
        <p:spPr>
          <a:xfrm>
            <a:off x="457200" y="5230368"/>
            <a:ext cx="5943600" cy="621792"/>
          </a:xfrm>
          <a:prstGeom prst="roundRect">
            <a:avLst>
              <a:gd name="adj" fmla="val 8824"/>
            </a:avLst>
          </a:prstGeom>
          <a:solidFill>
            <a:srgbClr val="FFFFFF"/>
          </a:solidFill>
          <a:ln w="12700">
            <a:solidFill>
              <a:srgbClr val="D9E1EC"/>
            </a:solidFill>
            <a:prstDash val="solid"/>
          </a:ln>
        </p:spPr>
      </p:sp>
      <p:sp>
        <p:nvSpPr>
          <p:cNvPr id="37" name="Shape 35"/>
          <p:cNvSpPr/>
          <p:nvPr/>
        </p:nvSpPr>
        <p:spPr>
          <a:xfrm>
            <a:off x="457200" y="5230368"/>
            <a:ext cx="594360" cy="621792"/>
          </a:xfrm>
          <a:prstGeom prst="roundRect">
            <a:avLst>
              <a:gd name="adj" fmla="val 9231"/>
            </a:avLst>
          </a:prstGeom>
          <a:solidFill>
            <a:srgbClr val="0B1E3F"/>
          </a:solidFill>
          <a:ln w="12700">
            <a:solidFill>
              <a:srgbClr val="0B1E3F"/>
            </a:solidFill>
            <a:prstDash val="solid"/>
          </a:ln>
        </p:spPr>
      </p:sp>
      <p:sp>
        <p:nvSpPr>
          <p:cNvPr id="38" name="Text 36"/>
          <p:cNvSpPr/>
          <p:nvPr/>
        </p:nvSpPr>
        <p:spPr>
          <a:xfrm>
            <a:off x="457200" y="5230368"/>
            <a:ext cx="594360" cy="621792"/>
          </a:xfrm>
          <a:prstGeom prst="rect">
            <a:avLst/>
          </a:prstGeom>
          <a:noFill/>
          <a:ln/>
        </p:spPr>
        <p:txBody>
          <a:bodyPr wrap="square" rtlCol="0" anchor="ctr"/>
          <a:lstStyle/>
          <a:p>
            <a:pPr algn="ctr" indent="0" marL="0">
              <a:buNone/>
            </a:pPr>
            <a:r>
              <a:rPr lang="en-US" sz="1800" b="1" dirty="0">
                <a:solidFill>
                  <a:srgbClr val="1FB8C9"/>
                </a:solidFill>
                <a:latin typeface="Calibri" pitchFamily="34" charset="0"/>
                <a:ea typeface="Calibri" pitchFamily="34" charset="-122"/>
                <a:cs typeface="Calibri" pitchFamily="34" charset="-120"/>
              </a:rPr>
              <a:t>5</a:t>
            </a:r>
            <a:endParaRPr lang="en-US" sz="1800" dirty="0"/>
          </a:p>
        </p:txBody>
      </p:sp>
      <p:sp>
        <p:nvSpPr>
          <p:cNvPr id="39" name="Text 37"/>
          <p:cNvSpPr/>
          <p:nvPr/>
        </p:nvSpPr>
        <p:spPr>
          <a:xfrm>
            <a:off x="1188720" y="5303520"/>
            <a:ext cx="5120640" cy="274320"/>
          </a:xfrm>
          <a:prstGeom prst="rect">
            <a:avLst/>
          </a:prstGeom>
          <a:noFill/>
          <a:ln/>
        </p:spPr>
        <p:txBody>
          <a:bodyPr wrap="square" rtlCol="0" anchor="ctr"/>
          <a:lstStyle/>
          <a:p>
            <a:pPr indent="0" marL="0">
              <a:buNone/>
            </a:pPr>
            <a:r>
              <a:rPr lang="en-US" sz="1200" b="1" dirty="0">
                <a:solidFill>
                  <a:srgbClr val="0B1E3F"/>
                </a:solidFill>
                <a:latin typeface="Calibri" pitchFamily="34" charset="0"/>
                <a:ea typeface="Calibri" pitchFamily="34" charset="-122"/>
                <a:cs typeface="Calibri" pitchFamily="34" charset="-120"/>
              </a:rPr>
              <a:t>Route to Pipeline</a:t>
            </a:r>
            <a:endParaRPr lang="en-US" sz="1200" dirty="0"/>
          </a:p>
        </p:txBody>
      </p:sp>
      <p:sp>
        <p:nvSpPr>
          <p:cNvPr id="40" name="Text 38"/>
          <p:cNvSpPr/>
          <p:nvPr/>
        </p:nvSpPr>
        <p:spPr>
          <a:xfrm>
            <a:off x="1188720" y="5559552"/>
            <a:ext cx="5120640" cy="292608"/>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Stored alongside ticket for round-trip use.</a:t>
            </a:r>
            <a:endParaRPr lang="en-US" sz="1000" dirty="0"/>
          </a:p>
        </p:txBody>
      </p:sp>
      <p:sp>
        <p:nvSpPr>
          <p:cNvPr id="41" name="Shape 39"/>
          <p:cNvSpPr/>
          <p:nvPr/>
        </p:nvSpPr>
        <p:spPr>
          <a:xfrm>
            <a:off x="6675120" y="1920240"/>
            <a:ext cx="5074920" cy="4663440"/>
          </a:xfrm>
          <a:prstGeom prst="rect">
            <a:avLst/>
          </a:prstGeom>
          <a:solidFill>
            <a:srgbClr val="F4F7FB"/>
          </a:solidFill>
          <a:ln w="12700">
            <a:solidFill>
              <a:srgbClr val="D9E1EC"/>
            </a:solidFill>
            <a:prstDash val="solid"/>
          </a:ln>
        </p:spPr>
      </p:sp>
      <p:sp>
        <p:nvSpPr>
          <p:cNvPr id="42" name="Text 40"/>
          <p:cNvSpPr/>
          <p:nvPr/>
        </p:nvSpPr>
        <p:spPr>
          <a:xfrm>
            <a:off x="6858000" y="2057400"/>
            <a:ext cx="5074920" cy="274320"/>
          </a:xfrm>
          <a:prstGeom prst="rect">
            <a:avLst/>
          </a:prstGeom>
          <a:noFill/>
          <a:ln/>
        </p:spPr>
        <p:txBody>
          <a:bodyPr wrap="square" rtlCol="0" anchor="ctr"/>
          <a:lstStyle/>
          <a:p>
            <a:pPr indent="0" marL="0">
              <a:buNone/>
            </a:pPr>
            <a:r>
              <a:rPr lang="en-US" sz="1000" b="1" spc="400" kern="0" dirty="0">
                <a:solidFill>
                  <a:srgbClr val="0B1E3F"/>
                </a:solidFill>
                <a:latin typeface="Calibri" pitchFamily="34" charset="0"/>
                <a:ea typeface="Calibri" pitchFamily="34" charset="-122"/>
                <a:cs typeface="Calibri" pitchFamily="34" charset="-120"/>
              </a:rPr>
              <a:t>SUPPORTED LANGUAGES</a:t>
            </a:r>
            <a:endParaRPr lang="en-US" sz="1000" dirty="0"/>
          </a:p>
        </p:txBody>
      </p:sp>
      <p:sp>
        <p:nvSpPr>
          <p:cNvPr id="43" name="Shape 41"/>
          <p:cNvSpPr/>
          <p:nvPr/>
        </p:nvSpPr>
        <p:spPr>
          <a:xfrm>
            <a:off x="6858000" y="2331720"/>
            <a:ext cx="457200" cy="36576"/>
          </a:xfrm>
          <a:prstGeom prst="rect">
            <a:avLst/>
          </a:prstGeom>
          <a:solidFill>
            <a:srgbClr val="1FB8C9"/>
          </a:solidFill>
          <a:ln w="12700">
            <a:solidFill>
              <a:srgbClr val="1FB8C9"/>
            </a:solidFill>
            <a:prstDash val="solid"/>
          </a:ln>
        </p:spPr>
      </p:sp>
      <p:sp>
        <p:nvSpPr>
          <p:cNvPr id="44" name="Shape 42"/>
          <p:cNvSpPr/>
          <p:nvPr/>
        </p:nvSpPr>
        <p:spPr>
          <a:xfrm>
            <a:off x="6858000" y="2560320"/>
            <a:ext cx="4709160" cy="640080"/>
          </a:xfrm>
          <a:prstGeom prst="rect">
            <a:avLst/>
          </a:prstGeom>
          <a:solidFill>
            <a:srgbClr val="FFFFFF"/>
          </a:solidFill>
          <a:ln w="12700">
            <a:solidFill>
              <a:srgbClr val="D9E1EC"/>
            </a:solidFill>
            <a:prstDash val="solid"/>
          </a:ln>
        </p:spPr>
      </p:sp>
      <p:sp>
        <p:nvSpPr>
          <p:cNvPr id="45" name="Shape 43"/>
          <p:cNvSpPr/>
          <p:nvPr/>
        </p:nvSpPr>
        <p:spPr>
          <a:xfrm>
            <a:off x="6858000" y="2560320"/>
            <a:ext cx="73152" cy="640080"/>
          </a:xfrm>
          <a:prstGeom prst="rect">
            <a:avLst/>
          </a:prstGeom>
          <a:solidFill>
            <a:srgbClr val="1FB8C9"/>
          </a:solidFill>
          <a:ln w="12700">
            <a:solidFill>
              <a:srgbClr val="1FB8C9"/>
            </a:solidFill>
            <a:prstDash val="solid"/>
          </a:ln>
        </p:spPr>
      </p:sp>
      <p:sp>
        <p:nvSpPr>
          <p:cNvPr id="46" name="Text 44"/>
          <p:cNvSpPr/>
          <p:nvPr/>
        </p:nvSpPr>
        <p:spPr>
          <a:xfrm>
            <a:off x="7040880" y="2560320"/>
            <a:ext cx="1554480" cy="640080"/>
          </a:xfrm>
          <a:prstGeom prst="rect">
            <a:avLst/>
          </a:prstGeom>
          <a:noFill/>
          <a:ln/>
        </p:spPr>
        <p:txBody>
          <a:bodyPr wrap="square" rtlCol="0" anchor="ctr"/>
          <a:lstStyle/>
          <a:p>
            <a:pPr indent="0" marL="0">
              <a:buNone/>
            </a:pPr>
            <a:r>
              <a:rPr lang="en-US" sz="1800" b="1" dirty="0">
                <a:solidFill>
                  <a:srgbClr val="0B1E3F"/>
                </a:solidFill>
                <a:latin typeface="Nirmala UI" pitchFamily="34" charset="0"/>
                <a:ea typeface="Nirmala UI" pitchFamily="34" charset="-122"/>
                <a:cs typeface="Nirmala UI" pitchFamily="34" charset="-120"/>
              </a:rPr>
              <a:t>తెలుగు</a:t>
            </a:r>
            <a:endParaRPr lang="en-US" sz="1800" dirty="0"/>
          </a:p>
        </p:txBody>
      </p:sp>
      <p:sp>
        <p:nvSpPr>
          <p:cNvPr id="47" name="Text 45"/>
          <p:cNvSpPr/>
          <p:nvPr/>
        </p:nvSpPr>
        <p:spPr>
          <a:xfrm>
            <a:off x="8686800" y="2560320"/>
            <a:ext cx="1828800" cy="640080"/>
          </a:xfrm>
          <a:prstGeom prst="rect">
            <a:avLst/>
          </a:prstGeom>
          <a:noFill/>
          <a:ln/>
        </p:spPr>
        <p:txBody>
          <a:bodyPr wrap="square" rtlCol="0" anchor="ctr"/>
          <a:lstStyle/>
          <a:p>
            <a:pPr indent="0" marL="0">
              <a:buNone/>
            </a:pPr>
            <a:r>
              <a:rPr lang="en-US" sz="1300" b="1" dirty="0">
                <a:solidFill>
                  <a:srgbClr val="0B1E3F"/>
                </a:solidFill>
                <a:latin typeface="Calibri" pitchFamily="34" charset="0"/>
                <a:ea typeface="Calibri" pitchFamily="34" charset="-122"/>
                <a:cs typeface="Calibri" pitchFamily="34" charset="-120"/>
              </a:rPr>
              <a:t>Telugu</a:t>
            </a:r>
            <a:endParaRPr lang="en-US" sz="1300" dirty="0"/>
          </a:p>
        </p:txBody>
      </p:sp>
      <p:sp>
        <p:nvSpPr>
          <p:cNvPr id="48" name="Shape 46"/>
          <p:cNvSpPr/>
          <p:nvPr/>
        </p:nvSpPr>
        <p:spPr>
          <a:xfrm>
            <a:off x="10744200" y="2724912"/>
            <a:ext cx="731520" cy="320040"/>
          </a:xfrm>
          <a:prstGeom prst="roundRect">
            <a:avLst>
              <a:gd name="adj" fmla="val 14286"/>
            </a:avLst>
          </a:prstGeom>
          <a:solidFill>
            <a:srgbClr val="0B1E3F"/>
          </a:solidFill>
          <a:ln w="12700">
            <a:solidFill>
              <a:srgbClr val="0B1E3F"/>
            </a:solidFill>
            <a:prstDash val="solid"/>
          </a:ln>
        </p:spPr>
      </p:sp>
      <p:sp>
        <p:nvSpPr>
          <p:cNvPr id="49" name="Text 47"/>
          <p:cNvSpPr/>
          <p:nvPr/>
        </p:nvSpPr>
        <p:spPr>
          <a:xfrm>
            <a:off x="10744200" y="2724912"/>
            <a:ext cx="731520" cy="320040"/>
          </a:xfrm>
          <a:prstGeom prst="rect">
            <a:avLst/>
          </a:prstGeom>
          <a:noFill/>
          <a:ln/>
        </p:spPr>
        <p:txBody>
          <a:bodyPr wrap="square"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TE</a:t>
            </a:r>
            <a:endParaRPr lang="en-US" sz="1000" dirty="0"/>
          </a:p>
        </p:txBody>
      </p:sp>
      <p:sp>
        <p:nvSpPr>
          <p:cNvPr id="50" name="Shape 48"/>
          <p:cNvSpPr/>
          <p:nvPr/>
        </p:nvSpPr>
        <p:spPr>
          <a:xfrm>
            <a:off x="6858000" y="3310128"/>
            <a:ext cx="4709160" cy="640080"/>
          </a:xfrm>
          <a:prstGeom prst="rect">
            <a:avLst/>
          </a:prstGeom>
          <a:solidFill>
            <a:srgbClr val="FFFFFF"/>
          </a:solidFill>
          <a:ln w="12700">
            <a:solidFill>
              <a:srgbClr val="D9E1EC"/>
            </a:solidFill>
            <a:prstDash val="solid"/>
          </a:ln>
        </p:spPr>
      </p:sp>
      <p:sp>
        <p:nvSpPr>
          <p:cNvPr id="51" name="Shape 49"/>
          <p:cNvSpPr/>
          <p:nvPr/>
        </p:nvSpPr>
        <p:spPr>
          <a:xfrm>
            <a:off x="6858000" y="3310128"/>
            <a:ext cx="73152" cy="640080"/>
          </a:xfrm>
          <a:prstGeom prst="rect">
            <a:avLst/>
          </a:prstGeom>
          <a:solidFill>
            <a:srgbClr val="1FB8C9"/>
          </a:solidFill>
          <a:ln w="12700">
            <a:solidFill>
              <a:srgbClr val="1FB8C9"/>
            </a:solidFill>
            <a:prstDash val="solid"/>
          </a:ln>
        </p:spPr>
      </p:sp>
      <p:sp>
        <p:nvSpPr>
          <p:cNvPr id="52" name="Text 50"/>
          <p:cNvSpPr/>
          <p:nvPr/>
        </p:nvSpPr>
        <p:spPr>
          <a:xfrm>
            <a:off x="7040880" y="3310128"/>
            <a:ext cx="1554480" cy="640080"/>
          </a:xfrm>
          <a:prstGeom prst="rect">
            <a:avLst/>
          </a:prstGeom>
          <a:noFill/>
          <a:ln/>
        </p:spPr>
        <p:txBody>
          <a:bodyPr wrap="square" rtlCol="0" anchor="ctr"/>
          <a:lstStyle/>
          <a:p>
            <a:pPr indent="0" marL="0">
              <a:buNone/>
            </a:pPr>
            <a:r>
              <a:rPr lang="en-US" sz="1800" b="1" dirty="0">
                <a:solidFill>
                  <a:srgbClr val="0B1E3F"/>
                </a:solidFill>
                <a:latin typeface="Nirmala UI" pitchFamily="34" charset="0"/>
                <a:ea typeface="Nirmala UI" pitchFamily="34" charset="-122"/>
                <a:cs typeface="Nirmala UI" pitchFamily="34" charset="-120"/>
              </a:rPr>
              <a:t>हिन्दी</a:t>
            </a:r>
            <a:endParaRPr lang="en-US" sz="1800" dirty="0"/>
          </a:p>
        </p:txBody>
      </p:sp>
      <p:sp>
        <p:nvSpPr>
          <p:cNvPr id="53" name="Text 51"/>
          <p:cNvSpPr/>
          <p:nvPr/>
        </p:nvSpPr>
        <p:spPr>
          <a:xfrm>
            <a:off x="8686800" y="3310128"/>
            <a:ext cx="1828800" cy="640080"/>
          </a:xfrm>
          <a:prstGeom prst="rect">
            <a:avLst/>
          </a:prstGeom>
          <a:noFill/>
          <a:ln/>
        </p:spPr>
        <p:txBody>
          <a:bodyPr wrap="square" rtlCol="0" anchor="ctr"/>
          <a:lstStyle/>
          <a:p>
            <a:pPr indent="0" marL="0">
              <a:buNone/>
            </a:pPr>
            <a:r>
              <a:rPr lang="en-US" sz="1300" b="1" dirty="0">
                <a:solidFill>
                  <a:srgbClr val="0B1E3F"/>
                </a:solidFill>
                <a:latin typeface="Calibri" pitchFamily="34" charset="0"/>
                <a:ea typeface="Calibri" pitchFamily="34" charset="-122"/>
                <a:cs typeface="Calibri" pitchFamily="34" charset="-120"/>
              </a:rPr>
              <a:t>Hindi</a:t>
            </a:r>
            <a:endParaRPr lang="en-US" sz="1300" dirty="0"/>
          </a:p>
        </p:txBody>
      </p:sp>
      <p:sp>
        <p:nvSpPr>
          <p:cNvPr id="54" name="Shape 52"/>
          <p:cNvSpPr/>
          <p:nvPr/>
        </p:nvSpPr>
        <p:spPr>
          <a:xfrm>
            <a:off x="10744200" y="3474720"/>
            <a:ext cx="731520" cy="320040"/>
          </a:xfrm>
          <a:prstGeom prst="roundRect">
            <a:avLst>
              <a:gd name="adj" fmla="val 14286"/>
            </a:avLst>
          </a:prstGeom>
          <a:solidFill>
            <a:srgbClr val="0B1E3F"/>
          </a:solidFill>
          <a:ln w="12700">
            <a:solidFill>
              <a:srgbClr val="0B1E3F"/>
            </a:solidFill>
            <a:prstDash val="solid"/>
          </a:ln>
        </p:spPr>
      </p:sp>
      <p:sp>
        <p:nvSpPr>
          <p:cNvPr id="55" name="Text 53"/>
          <p:cNvSpPr/>
          <p:nvPr/>
        </p:nvSpPr>
        <p:spPr>
          <a:xfrm>
            <a:off x="10744200" y="3474720"/>
            <a:ext cx="731520" cy="320040"/>
          </a:xfrm>
          <a:prstGeom prst="rect">
            <a:avLst/>
          </a:prstGeom>
          <a:noFill/>
          <a:ln/>
        </p:spPr>
        <p:txBody>
          <a:bodyPr wrap="square"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HI</a:t>
            </a:r>
            <a:endParaRPr lang="en-US" sz="1000" dirty="0"/>
          </a:p>
        </p:txBody>
      </p:sp>
      <p:sp>
        <p:nvSpPr>
          <p:cNvPr id="56" name="Shape 54"/>
          <p:cNvSpPr/>
          <p:nvPr/>
        </p:nvSpPr>
        <p:spPr>
          <a:xfrm>
            <a:off x="6858000" y="4059936"/>
            <a:ext cx="4709160" cy="640080"/>
          </a:xfrm>
          <a:prstGeom prst="rect">
            <a:avLst/>
          </a:prstGeom>
          <a:solidFill>
            <a:srgbClr val="FFFFFF"/>
          </a:solidFill>
          <a:ln w="12700">
            <a:solidFill>
              <a:srgbClr val="D9E1EC"/>
            </a:solidFill>
            <a:prstDash val="solid"/>
          </a:ln>
        </p:spPr>
      </p:sp>
      <p:sp>
        <p:nvSpPr>
          <p:cNvPr id="57" name="Shape 55"/>
          <p:cNvSpPr/>
          <p:nvPr/>
        </p:nvSpPr>
        <p:spPr>
          <a:xfrm>
            <a:off x="6858000" y="4059936"/>
            <a:ext cx="73152" cy="640080"/>
          </a:xfrm>
          <a:prstGeom prst="rect">
            <a:avLst/>
          </a:prstGeom>
          <a:solidFill>
            <a:srgbClr val="1FB8C9"/>
          </a:solidFill>
          <a:ln w="12700">
            <a:solidFill>
              <a:srgbClr val="1FB8C9"/>
            </a:solidFill>
            <a:prstDash val="solid"/>
          </a:ln>
        </p:spPr>
      </p:sp>
      <p:sp>
        <p:nvSpPr>
          <p:cNvPr id="58" name="Text 56"/>
          <p:cNvSpPr/>
          <p:nvPr/>
        </p:nvSpPr>
        <p:spPr>
          <a:xfrm>
            <a:off x="7040880" y="4059936"/>
            <a:ext cx="1554480" cy="640080"/>
          </a:xfrm>
          <a:prstGeom prst="rect">
            <a:avLst/>
          </a:prstGeom>
          <a:noFill/>
          <a:ln/>
        </p:spPr>
        <p:txBody>
          <a:bodyPr wrap="square" rtlCol="0" anchor="ctr"/>
          <a:lstStyle/>
          <a:p>
            <a:pPr indent="0" marL="0">
              <a:buNone/>
            </a:pPr>
            <a:r>
              <a:rPr lang="en-US" sz="1800" b="1" dirty="0">
                <a:solidFill>
                  <a:srgbClr val="0B1E3F"/>
                </a:solidFill>
                <a:latin typeface="Nirmala UI" pitchFamily="34" charset="0"/>
                <a:ea typeface="Nirmala UI" pitchFamily="34" charset="-122"/>
                <a:cs typeface="Nirmala UI" pitchFamily="34" charset="-120"/>
              </a:rPr>
              <a:t>தமிழ்</a:t>
            </a:r>
            <a:endParaRPr lang="en-US" sz="1800" dirty="0"/>
          </a:p>
        </p:txBody>
      </p:sp>
      <p:sp>
        <p:nvSpPr>
          <p:cNvPr id="59" name="Text 57"/>
          <p:cNvSpPr/>
          <p:nvPr/>
        </p:nvSpPr>
        <p:spPr>
          <a:xfrm>
            <a:off x="8686800" y="4059936"/>
            <a:ext cx="1828800" cy="640080"/>
          </a:xfrm>
          <a:prstGeom prst="rect">
            <a:avLst/>
          </a:prstGeom>
          <a:noFill/>
          <a:ln/>
        </p:spPr>
        <p:txBody>
          <a:bodyPr wrap="square" rtlCol="0" anchor="ctr"/>
          <a:lstStyle/>
          <a:p>
            <a:pPr indent="0" marL="0">
              <a:buNone/>
            </a:pPr>
            <a:r>
              <a:rPr lang="en-US" sz="1300" b="1" dirty="0">
                <a:solidFill>
                  <a:srgbClr val="0B1E3F"/>
                </a:solidFill>
                <a:latin typeface="Calibri" pitchFamily="34" charset="0"/>
                <a:ea typeface="Calibri" pitchFamily="34" charset="-122"/>
                <a:cs typeface="Calibri" pitchFamily="34" charset="-120"/>
              </a:rPr>
              <a:t>Tamil</a:t>
            </a:r>
            <a:endParaRPr lang="en-US" sz="1300" dirty="0"/>
          </a:p>
        </p:txBody>
      </p:sp>
      <p:sp>
        <p:nvSpPr>
          <p:cNvPr id="60" name="Shape 58"/>
          <p:cNvSpPr/>
          <p:nvPr/>
        </p:nvSpPr>
        <p:spPr>
          <a:xfrm>
            <a:off x="10744200" y="4224528"/>
            <a:ext cx="731520" cy="320040"/>
          </a:xfrm>
          <a:prstGeom prst="roundRect">
            <a:avLst>
              <a:gd name="adj" fmla="val 14286"/>
            </a:avLst>
          </a:prstGeom>
          <a:solidFill>
            <a:srgbClr val="0B1E3F"/>
          </a:solidFill>
          <a:ln w="12700">
            <a:solidFill>
              <a:srgbClr val="0B1E3F"/>
            </a:solidFill>
            <a:prstDash val="solid"/>
          </a:ln>
        </p:spPr>
      </p:sp>
      <p:sp>
        <p:nvSpPr>
          <p:cNvPr id="61" name="Text 59"/>
          <p:cNvSpPr/>
          <p:nvPr/>
        </p:nvSpPr>
        <p:spPr>
          <a:xfrm>
            <a:off x="10744200" y="4224528"/>
            <a:ext cx="731520" cy="320040"/>
          </a:xfrm>
          <a:prstGeom prst="rect">
            <a:avLst/>
          </a:prstGeom>
          <a:noFill/>
          <a:ln/>
        </p:spPr>
        <p:txBody>
          <a:bodyPr wrap="square"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TA</a:t>
            </a:r>
            <a:endParaRPr lang="en-US" sz="1000" dirty="0"/>
          </a:p>
        </p:txBody>
      </p:sp>
      <p:sp>
        <p:nvSpPr>
          <p:cNvPr id="62" name="Shape 60"/>
          <p:cNvSpPr/>
          <p:nvPr/>
        </p:nvSpPr>
        <p:spPr>
          <a:xfrm>
            <a:off x="6858000" y="4809744"/>
            <a:ext cx="4709160" cy="640080"/>
          </a:xfrm>
          <a:prstGeom prst="rect">
            <a:avLst/>
          </a:prstGeom>
          <a:solidFill>
            <a:srgbClr val="FFFFFF"/>
          </a:solidFill>
          <a:ln w="12700">
            <a:solidFill>
              <a:srgbClr val="D9E1EC"/>
            </a:solidFill>
            <a:prstDash val="solid"/>
          </a:ln>
        </p:spPr>
      </p:sp>
      <p:sp>
        <p:nvSpPr>
          <p:cNvPr id="63" name="Shape 61"/>
          <p:cNvSpPr/>
          <p:nvPr/>
        </p:nvSpPr>
        <p:spPr>
          <a:xfrm>
            <a:off x="6858000" y="4809744"/>
            <a:ext cx="73152" cy="640080"/>
          </a:xfrm>
          <a:prstGeom prst="rect">
            <a:avLst/>
          </a:prstGeom>
          <a:solidFill>
            <a:srgbClr val="1FB8C9"/>
          </a:solidFill>
          <a:ln w="12700">
            <a:solidFill>
              <a:srgbClr val="1FB8C9"/>
            </a:solidFill>
            <a:prstDash val="solid"/>
          </a:ln>
        </p:spPr>
      </p:sp>
      <p:sp>
        <p:nvSpPr>
          <p:cNvPr id="64" name="Text 62"/>
          <p:cNvSpPr/>
          <p:nvPr/>
        </p:nvSpPr>
        <p:spPr>
          <a:xfrm>
            <a:off x="7040880" y="4809744"/>
            <a:ext cx="1554480" cy="640080"/>
          </a:xfrm>
          <a:prstGeom prst="rect">
            <a:avLst/>
          </a:prstGeom>
          <a:noFill/>
          <a:ln/>
        </p:spPr>
        <p:txBody>
          <a:bodyPr wrap="square" rtlCol="0" anchor="ctr"/>
          <a:lstStyle/>
          <a:p>
            <a:pPr indent="0" marL="0">
              <a:buNone/>
            </a:pPr>
            <a:r>
              <a:rPr lang="en-US" sz="1800" b="1" dirty="0">
                <a:solidFill>
                  <a:srgbClr val="0B1E3F"/>
                </a:solidFill>
                <a:latin typeface="Nirmala UI" pitchFamily="34" charset="0"/>
                <a:ea typeface="Nirmala UI" pitchFamily="34" charset="-122"/>
                <a:cs typeface="Nirmala UI" pitchFamily="34" charset="-120"/>
              </a:rPr>
              <a:t>ಕನ್ನಡ</a:t>
            </a:r>
            <a:endParaRPr lang="en-US" sz="1800" dirty="0"/>
          </a:p>
        </p:txBody>
      </p:sp>
      <p:sp>
        <p:nvSpPr>
          <p:cNvPr id="65" name="Text 63"/>
          <p:cNvSpPr/>
          <p:nvPr/>
        </p:nvSpPr>
        <p:spPr>
          <a:xfrm>
            <a:off x="8686800" y="4809744"/>
            <a:ext cx="1828800" cy="640080"/>
          </a:xfrm>
          <a:prstGeom prst="rect">
            <a:avLst/>
          </a:prstGeom>
          <a:noFill/>
          <a:ln/>
        </p:spPr>
        <p:txBody>
          <a:bodyPr wrap="square" rtlCol="0" anchor="ctr"/>
          <a:lstStyle/>
          <a:p>
            <a:pPr indent="0" marL="0">
              <a:buNone/>
            </a:pPr>
            <a:r>
              <a:rPr lang="en-US" sz="1300" b="1" dirty="0">
                <a:solidFill>
                  <a:srgbClr val="0B1E3F"/>
                </a:solidFill>
                <a:latin typeface="Calibri" pitchFamily="34" charset="0"/>
                <a:ea typeface="Calibri" pitchFamily="34" charset="-122"/>
                <a:cs typeface="Calibri" pitchFamily="34" charset="-120"/>
              </a:rPr>
              <a:t>Kannada</a:t>
            </a:r>
            <a:endParaRPr lang="en-US" sz="1300" dirty="0"/>
          </a:p>
        </p:txBody>
      </p:sp>
      <p:sp>
        <p:nvSpPr>
          <p:cNvPr id="66" name="Shape 64"/>
          <p:cNvSpPr/>
          <p:nvPr/>
        </p:nvSpPr>
        <p:spPr>
          <a:xfrm>
            <a:off x="10744200" y="4974336"/>
            <a:ext cx="731520" cy="320040"/>
          </a:xfrm>
          <a:prstGeom prst="roundRect">
            <a:avLst>
              <a:gd name="adj" fmla="val 14286"/>
            </a:avLst>
          </a:prstGeom>
          <a:solidFill>
            <a:srgbClr val="0B1E3F"/>
          </a:solidFill>
          <a:ln w="12700">
            <a:solidFill>
              <a:srgbClr val="0B1E3F"/>
            </a:solidFill>
            <a:prstDash val="solid"/>
          </a:ln>
        </p:spPr>
      </p:sp>
      <p:sp>
        <p:nvSpPr>
          <p:cNvPr id="67" name="Text 65"/>
          <p:cNvSpPr/>
          <p:nvPr/>
        </p:nvSpPr>
        <p:spPr>
          <a:xfrm>
            <a:off x="10744200" y="4974336"/>
            <a:ext cx="731520" cy="320040"/>
          </a:xfrm>
          <a:prstGeom prst="rect">
            <a:avLst/>
          </a:prstGeom>
          <a:noFill/>
          <a:ln/>
        </p:spPr>
        <p:txBody>
          <a:bodyPr wrap="square"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KN</a:t>
            </a:r>
            <a:endParaRPr lang="en-US" sz="1000" dirty="0"/>
          </a:p>
        </p:txBody>
      </p:sp>
      <p:sp>
        <p:nvSpPr>
          <p:cNvPr id="68" name="Shape 66"/>
          <p:cNvSpPr/>
          <p:nvPr/>
        </p:nvSpPr>
        <p:spPr>
          <a:xfrm>
            <a:off x="6858000" y="5559552"/>
            <a:ext cx="4709160" cy="640080"/>
          </a:xfrm>
          <a:prstGeom prst="rect">
            <a:avLst/>
          </a:prstGeom>
          <a:solidFill>
            <a:srgbClr val="FFFFFF"/>
          </a:solidFill>
          <a:ln w="12700">
            <a:solidFill>
              <a:srgbClr val="D9E1EC"/>
            </a:solidFill>
            <a:prstDash val="solid"/>
          </a:ln>
        </p:spPr>
      </p:sp>
      <p:sp>
        <p:nvSpPr>
          <p:cNvPr id="69" name="Shape 67"/>
          <p:cNvSpPr/>
          <p:nvPr/>
        </p:nvSpPr>
        <p:spPr>
          <a:xfrm>
            <a:off x="6858000" y="5559552"/>
            <a:ext cx="73152" cy="640080"/>
          </a:xfrm>
          <a:prstGeom prst="rect">
            <a:avLst/>
          </a:prstGeom>
          <a:solidFill>
            <a:srgbClr val="1FB8C9"/>
          </a:solidFill>
          <a:ln w="12700">
            <a:solidFill>
              <a:srgbClr val="1FB8C9"/>
            </a:solidFill>
            <a:prstDash val="solid"/>
          </a:ln>
        </p:spPr>
      </p:sp>
      <p:sp>
        <p:nvSpPr>
          <p:cNvPr id="70" name="Text 68"/>
          <p:cNvSpPr/>
          <p:nvPr/>
        </p:nvSpPr>
        <p:spPr>
          <a:xfrm>
            <a:off x="7040880" y="5559552"/>
            <a:ext cx="1554480" cy="640080"/>
          </a:xfrm>
          <a:prstGeom prst="rect">
            <a:avLst/>
          </a:prstGeom>
          <a:noFill/>
          <a:ln/>
        </p:spPr>
        <p:txBody>
          <a:bodyPr wrap="square" rtlCol="0" anchor="ctr"/>
          <a:lstStyle/>
          <a:p>
            <a:pPr indent="0" marL="0">
              <a:buNone/>
            </a:pPr>
            <a:r>
              <a:rPr lang="en-US" sz="1800" b="1" dirty="0">
                <a:solidFill>
                  <a:srgbClr val="0B1E3F"/>
                </a:solidFill>
                <a:latin typeface="Nirmala UI" pitchFamily="34" charset="0"/>
                <a:ea typeface="Nirmala UI" pitchFamily="34" charset="-122"/>
                <a:cs typeface="Nirmala UI" pitchFamily="34" charset="-120"/>
              </a:rPr>
              <a:t>English</a:t>
            </a:r>
            <a:endParaRPr lang="en-US" sz="1800" dirty="0"/>
          </a:p>
        </p:txBody>
      </p:sp>
      <p:sp>
        <p:nvSpPr>
          <p:cNvPr id="71" name="Text 69"/>
          <p:cNvSpPr/>
          <p:nvPr/>
        </p:nvSpPr>
        <p:spPr>
          <a:xfrm>
            <a:off x="8686800" y="5559552"/>
            <a:ext cx="1828800" cy="640080"/>
          </a:xfrm>
          <a:prstGeom prst="rect">
            <a:avLst/>
          </a:prstGeom>
          <a:noFill/>
          <a:ln/>
        </p:spPr>
        <p:txBody>
          <a:bodyPr wrap="square" rtlCol="0" anchor="ctr"/>
          <a:lstStyle/>
          <a:p>
            <a:pPr indent="0" marL="0">
              <a:buNone/>
            </a:pPr>
            <a:r>
              <a:rPr lang="en-US" sz="1300" b="1" dirty="0">
                <a:solidFill>
                  <a:srgbClr val="0B1E3F"/>
                </a:solidFill>
                <a:latin typeface="Calibri" pitchFamily="34" charset="0"/>
                <a:ea typeface="Calibri" pitchFamily="34" charset="-122"/>
                <a:cs typeface="Calibri" pitchFamily="34" charset="-120"/>
              </a:rPr>
              <a:t>English</a:t>
            </a:r>
            <a:endParaRPr lang="en-US" sz="1300" dirty="0"/>
          </a:p>
        </p:txBody>
      </p:sp>
      <p:sp>
        <p:nvSpPr>
          <p:cNvPr id="72" name="Shape 70"/>
          <p:cNvSpPr/>
          <p:nvPr/>
        </p:nvSpPr>
        <p:spPr>
          <a:xfrm>
            <a:off x="10744200" y="5724144"/>
            <a:ext cx="731520" cy="320040"/>
          </a:xfrm>
          <a:prstGeom prst="roundRect">
            <a:avLst>
              <a:gd name="adj" fmla="val 14286"/>
            </a:avLst>
          </a:prstGeom>
          <a:solidFill>
            <a:srgbClr val="0B1E3F"/>
          </a:solidFill>
          <a:ln w="12700">
            <a:solidFill>
              <a:srgbClr val="0B1E3F"/>
            </a:solidFill>
            <a:prstDash val="solid"/>
          </a:ln>
        </p:spPr>
      </p:sp>
      <p:sp>
        <p:nvSpPr>
          <p:cNvPr id="73" name="Text 71"/>
          <p:cNvSpPr/>
          <p:nvPr/>
        </p:nvSpPr>
        <p:spPr>
          <a:xfrm>
            <a:off x="10744200" y="5724144"/>
            <a:ext cx="731520" cy="320040"/>
          </a:xfrm>
          <a:prstGeom prst="rect">
            <a:avLst/>
          </a:prstGeom>
          <a:noFill/>
          <a:ln/>
        </p:spPr>
        <p:txBody>
          <a:bodyPr wrap="square"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EN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E3F"/>
          </a:solidFill>
          <a:ln/>
        </p:spPr>
      </p:sp>
      <p:sp>
        <p:nvSpPr>
          <p:cNvPr id="3" name="Shape 1"/>
          <p:cNvSpPr/>
          <p:nvPr/>
        </p:nvSpPr>
        <p:spPr>
          <a:xfrm>
            <a:off x="0" y="502920"/>
            <a:ext cx="12191695" cy="36576"/>
          </a:xfrm>
          <a:prstGeom prst="rect">
            <a:avLst/>
          </a:prstGeom>
          <a:solidFill>
            <a:srgbClr val="1FB8C9"/>
          </a:solidFill>
          <a:ln/>
        </p:spPr>
      </p:sp>
      <p:sp>
        <p:nvSpPr>
          <p:cNvPr id="4" name="Text 2"/>
          <p:cNvSpPr/>
          <p:nvPr/>
        </p:nvSpPr>
        <p:spPr>
          <a:xfrm>
            <a:off x="365760" y="0"/>
            <a:ext cx="11430000" cy="502920"/>
          </a:xfrm>
          <a:prstGeom prst="rect">
            <a:avLst/>
          </a:prstGeom>
          <a:noFill/>
          <a:ln/>
        </p:spPr>
        <p:txBody>
          <a:bodyPr wrap="square" rtlCol="0" anchor="ctr"/>
          <a:lstStyle/>
          <a:p>
            <a:pPr indent="0" marL="0">
              <a:buNone/>
            </a:pPr>
            <a:r>
              <a:rPr lang="en-US" sz="1000" b="1" spc="300" kern="0" dirty="0">
                <a:solidFill>
                  <a:srgbClr val="FFFFFF"/>
                </a:solidFill>
                <a:latin typeface="Calibri" pitchFamily="34" charset="0"/>
                <a:ea typeface="Calibri" pitchFamily="34" charset="-122"/>
                <a:cs typeface="Calibri" pitchFamily="34" charset="-120"/>
              </a:rPr>
              <a:t>MULTILINGUAL TICKET TRANSLATOR  •  TEAM 9  •  SD-04</a:t>
            </a:r>
            <a:endParaRPr lang="en-US" sz="1000" dirty="0"/>
          </a:p>
        </p:txBody>
      </p:sp>
      <p:sp>
        <p:nvSpPr>
          <p:cNvPr id="5" name="Text 3"/>
          <p:cNvSpPr/>
          <p:nvPr/>
        </p:nvSpPr>
        <p:spPr>
          <a:xfrm>
            <a:off x="457200" y="685800"/>
            <a:ext cx="11247120" cy="320040"/>
          </a:xfrm>
          <a:prstGeom prst="rect">
            <a:avLst/>
          </a:prstGeom>
          <a:noFill/>
          <a:ln/>
        </p:spPr>
        <p:txBody>
          <a:bodyPr wrap="square" rtlCol="0" anchor="ctr"/>
          <a:lstStyle/>
          <a:p>
            <a:pPr indent="0" marL="0">
              <a:buNone/>
            </a:pPr>
            <a:r>
              <a:rPr lang="en-US" sz="1100" b="1" spc="400" kern="0" dirty="0">
                <a:solidFill>
                  <a:srgbClr val="1FB8C9"/>
                </a:solidFill>
                <a:latin typeface="Calibri" pitchFamily="34" charset="0"/>
                <a:ea typeface="Calibri" pitchFamily="34" charset="-122"/>
                <a:cs typeface="Calibri" pitchFamily="34" charset="-120"/>
              </a:rPr>
              <a:t>08 — TERM PRESERVATION</a:t>
            </a:r>
            <a:endParaRPr lang="en-US" sz="1100" dirty="0"/>
          </a:p>
        </p:txBody>
      </p:sp>
      <p:sp>
        <p:nvSpPr>
          <p:cNvPr id="6" name="Text 4"/>
          <p:cNvSpPr/>
          <p:nvPr/>
        </p:nvSpPr>
        <p:spPr>
          <a:xfrm>
            <a:off x="457200" y="960120"/>
            <a:ext cx="11247120" cy="640080"/>
          </a:xfrm>
          <a:prstGeom prst="rect">
            <a:avLst/>
          </a:prstGeom>
          <a:noFill/>
          <a:ln/>
        </p:spPr>
        <p:txBody>
          <a:bodyPr wrap="square" rtlCol="0" anchor="ctr"/>
          <a:lstStyle/>
          <a:p>
            <a:pPr indent="0" marL="0">
              <a:buNone/>
            </a:pPr>
            <a:r>
              <a:rPr lang="en-US" sz="3000" b="1" dirty="0">
                <a:solidFill>
                  <a:srgbClr val="0B1E3F"/>
                </a:solidFill>
                <a:latin typeface="Calibri" pitchFamily="34" charset="0"/>
                <a:ea typeface="Calibri" pitchFamily="34" charset="-122"/>
                <a:cs typeface="Calibri" pitchFamily="34" charset="-120"/>
              </a:rPr>
              <a:t>Core Logic 3 — Glossary Protection System</a:t>
            </a:r>
            <a:endParaRPr lang="en-US" sz="3000" dirty="0"/>
          </a:p>
        </p:txBody>
      </p:sp>
      <p:sp>
        <p:nvSpPr>
          <p:cNvPr id="7" name="Shape 5"/>
          <p:cNvSpPr/>
          <p:nvPr/>
        </p:nvSpPr>
        <p:spPr>
          <a:xfrm>
            <a:off x="457200" y="1627632"/>
            <a:ext cx="548640" cy="54864"/>
          </a:xfrm>
          <a:prstGeom prst="rect">
            <a:avLst/>
          </a:prstGeom>
          <a:solidFill>
            <a:srgbClr val="1FB8C9"/>
          </a:solidFill>
          <a:ln w="12700">
            <a:solidFill>
              <a:srgbClr val="1FB8C9"/>
            </a:solidFill>
            <a:prstDash val="solid"/>
          </a:ln>
        </p:spPr>
      </p:sp>
      <p:sp>
        <p:nvSpPr>
          <p:cNvPr id="8" name="Shape 6"/>
          <p:cNvSpPr/>
          <p:nvPr/>
        </p:nvSpPr>
        <p:spPr>
          <a:xfrm>
            <a:off x="0" y="6675120"/>
            <a:ext cx="12191695" cy="182880"/>
          </a:xfrm>
          <a:prstGeom prst="rect">
            <a:avLst/>
          </a:prstGeom>
          <a:solidFill>
            <a:srgbClr val="F4F7FB"/>
          </a:solidFill>
          <a:ln w="12700">
            <a:solidFill>
              <a:srgbClr val="F4F7FB"/>
            </a:solidFill>
            <a:prstDash val="solid"/>
          </a:ln>
        </p:spPr>
      </p:sp>
      <p:sp>
        <p:nvSpPr>
          <p:cNvPr id="9" name="Text 7"/>
          <p:cNvSpPr/>
          <p:nvPr/>
        </p:nvSpPr>
        <p:spPr>
          <a:xfrm>
            <a:off x="365760" y="6656832"/>
            <a:ext cx="7315200" cy="201168"/>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Infinite Computer Solutions • Placement Case Study</a:t>
            </a:r>
            <a:endParaRPr lang="en-US" sz="900" dirty="0"/>
          </a:p>
        </p:txBody>
      </p:sp>
      <p:sp>
        <p:nvSpPr>
          <p:cNvPr id="10" name="Text 8"/>
          <p:cNvSpPr/>
          <p:nvPr/>
        </p:nvSpPr>
        <p:spPr>
          <a:xfrm>
            <a:off x="11247120" y="6656832"/>
            <a:ext cx="640080" cy="201168"/>
          </a:xfrm>
          <a:prstGeom prst="rect">
            <a:avLst/>
          </a:prstGeom>
          <a:noFill/>
          <a:ln/>
        </p:spPr>
        <p:txBody>
          <a:bodyPr wrap="square" rtlCol="0" anchor="ctr"/>
          <a:lstStyle/>
          <a:p>
            <a:pPr algn="r" indent="0" marL="0">
              <a:buNone/>
            </a:pPr>
            <a:r>
              <a:rPr lang="en-US" sz="900" b="1" dirty="0">
                <a:solidFill>
                  <a:srgbClr val="5A6B7C"/>
                </a:solidFill>
                <a:latin typeface="Calibri" pitchFamily="34" charset="0"/>
                <a:ea typeface="Calibri" pitchFamily="34" charset="-122"/>
                <a:cs typeface="Calibri" pitchFamily="34" charset="-120"/>
              </a:rPr>
              <a:t>9 / 15</a:t>
            </a:r>
            <a:endParaRPr lang="en-US" sz="900" dirty="0"/>
          </a:p>
        </p:txBody>
      </p:sp>
      <p:sp>
        <p:nvSpPr>
          <p:cNvPr id="11" name="Text 9"/>
          <p:cNvSpPr/>
          <p:nvPr/>
        </p:nvSpPr>
        <p:spPr>
          <a:xfrm>
            <a:off x="457200" y="1874520"/>
            <a:ext cx="10972800" cy="365760"/>
          </a:xfrm>
          <a:prstGeom prst="rect">
            <a:avLst/>
          </a:prstGeom>
          <a:noFill/>
          <a:ln/>
        </p:spPr>
        <p:txBody>
          <a:bodyPr wrap="square" rtlCol="0" anchor="ctr"/>
          <a:lstStyle/>
          <a:p>
            <a:pPr indent="0" marL="0">
              <a:buNone/>
            </a:pPr>
            <a:r>
              <a:rPr lang="en-US" sz="1600" b="1" dirty="0">
                <a:solidFill>
                  <a:srgbClr val="0B1E3F"/>
                </a:solidFill>
                <a:latin typeface="Calibri" pitchFamily="34" charset="0"/>
                <a:ea typeface="Calibri" pitchFamily="34" charset="-122"/>
                <a:cs typeface="Calibri" pitchFamily="34" charset="-120"/>
              </a:rPr>
              <a:t>Preserving Critical IT Terminology</a:t>
            </a:r>
            <a:endParaRPr lang="en-US" sz="1600" dirty="0"/>
          </a:p>
        </p:txBody>
      </p:sp>
      <p:sp>
        <p:nvSpPr>
          <p:cNvPr id="12" name="Shape 10"/>
          <p:cNvSpPr/>
          <p:nvPr/>
        </p:nvSpPr>
        <p:spPr>
          <a:xfrm>
            <a:off x="457200" y="2331720"/>
            <a:ext cx="2798064" cy="2103120"/>
          </a:xfrm>
          <a:prstGeom prst="rect">
            <a:avLst/>
          </a:prstGeom>
          <a:solidFill>
            <a:srgbClr val="FFFFFF"/>
          </a:solidFill>
          <a:ln w="12700">
            <a:solidFill>
              <a:srgbClr val="D9E1EC"/>
            </a:solidFill>
            <a:prstDash val="solid"/>
          </a:ln>
        </p:spPr>
      </p:sp>
      <p:sp>
        <p:nvSpPr>
          <p:cNvPr id="13" name="Shape 11"/>
          <p:cNvSpPr/>
          <p:nvPr/>
        </p:nvSpPr>
        <p:spPr>
          <a:xfrm>
            <a:off x="457200" y="2331720"/>
            <a:ext cx="2798064" cy="411480"/>
          </a:xfrm>
          <a:prstGeom prst="rect">
            <a:avLst/>
          </a:prstGeom>
          <a:solidFill>
            <a:srgbClr val="0B1E3F"/>
          </a:solidFill>
          <a:ln w="12700">
            <a:solidFill>
              <a:srgbClr val="0B1E3F"/>
            </a:solidFill>
            <a:prstDash val="solid"/>
          </a:ln>
        </p:spPr>
      </p:sp>
      <p:sp>
        <p:nvSpPr>
          <p:cNvPr id="14" name="Text 12"/>
          <p:cNvSpPr/>
          <p:nvPr/>
        </p:nvSpPr>
        <p:spPr>
          <a:xfrm>
            <a:off x="594360" y="2331720"/>
            <a:ext cx="2523744" cy="411480"/>
          </a:xfrm>
          <a:prstGeom prst="rect">
            <a:avLst/>
          </a:prstGeom>
          <a:noFill/>
          <a:ln/>
        </p:spPr>
        <p:txBody>
          <a:bodyPr wrap="square" rtlCol="0" anchor="ctr"/>
          <a:lstStyle/>
          <a:p>
            <a:pPr indent="0" marL="0">
              <a:buNone/>
            </a:pPr>
            <a:r>
              <a:rPr lang="en-US" sz="1000" b="1" spc="300" kern="0" dirty="0">
                <a:solidFill>
                  <a:srgbClr val="FFFFFF"/>
                </a:solidFill>
                <a:latin typeface="Calibri" pitchFamily="34" charset="0"/>
                <a:ea typeface="Calibri" pitchFamily="34" charset="-122"/>
                <a:cs typeface="Calibri" pitchFamily="34" charset="-120"/>
              </a:rPr>
              <a:t>STAGE 1  ·  ORIGINAL</a:t>
            </a:r>
            <a:endParaRPr lang="en-US" sz="1000" dirty="0"/>
          </a:p>
        </p:txBody>
      </p:sp>
      <p:sp>
        <p:nvSpPr>
          <p:cNvPr id="15" name="Text 13"/>
          <p:cNvSpPr/>
          <p:nvPr/>
        </p:nvSpPr>
        <p:spPr>
          <a:xfrm>
            <a:off x="594360" y="2834640"/>
            <a:ext cx="2523744" cy="274320"/>
          </a:xfrm>
          <a:prstGeom prst="rect">
            <a:avLst/>
          </a:prstGeom>
          <a:noFill/>
          <a:ln/>
        </p:spPr>
        <p:txBody>
          <a:bodyPr wrap="square" rtlCol="0" anchor="ctr"/>
          <a:lstStyle/>
          <a:p>
            <a:pPr indent="0" marL="0">
              <a:buNone/>
            </a:pPr>
            <a:r>
              <a:rPr lang="en-US" sz="900" i="1" spc="200" kern="0" dirty="0">
                <a:solidFill>
                  <a:srgbClr val="5A6B7C"/>
                </a:solidFill>
                <a:latin typeface="Calibri" pitchFamily="34" charset="0"/>
                <a:ea typeface="Calibri" pitchFamily="34" charset="-122"/>
                <a:cs typeface="Calibri" pitchFamily="34" charset="-120"/>
              </a:rPr>
              <a:t>Customer Input</a:t>
            </a:r>
            <a:endParaRPr lang="en-US" sz="900" dirty="0"/>
          </a:p>
        </p:txBody>
      </p:sp>
      <p:sp>
        <p:nvSpPr>
          <p:cNvPr id="16" name="Shape 14"/>
          <p:cNvSpPr/>
          <p:nvPr/>
        </p:nvSpPr>
        <p:spPr>
          <a:xfrm>
            <a:off x="594360" y="3200400"/>
            <a:ext cx="2523744" cy="1097280"/>
          </a:xfrm>
          <a:prstGeom prst="rect">
            <a:avLst/>
          </a:prstGeom>
          <a:solidFill>
            <a:srgbClr val="F4F7FB"/>
          </a:solidFill>
          <a:ln w="6350">
            <a:solidFill>
              <a:srgbClr val="D9E1EC"/>
            </a:solidFill>
            <a:prstDash val="solid"/>
          </a:ln>
        </p:spPr>
      </p:sp>
      <p:sp>
        <p:nvSpPr>
          <p:cNvPr id="17" name="Text 15"/>
          <p:cNvSpPr/>
          <p:nvPr/>
        </p:nvSpPr>
        <p:spPr>
          <a:xfrm>
            <a:off x="685800" y="3200400"/>
            <a:ext cx="2340864" cy="1097280"/>
          </a:xfrm>
          <a:prstGeom prst="rect">
            <a:avLst/>
          </a:prstGeom>
          <a:noFill/>
          <a:ln/>
        </p:spPr>
        <p:txBody>
          <a:bodyPr wrap="square" rtlCol="0" anchor="ctr"/>
          <a:lstStyle/>
          <a:p>
            <a:pPr indent="0" marL="0">
              <a:buNone/>
            </a:pPr>
            <a:r>
              <a:rPr lang="en-US" sz="1100" dirty="0">
                <a:solidFill>
                  <a:srgbClr val="0B1E3F"/>
                </a:solidFill>
                <a:latin typeface="Consolas" pitchFamily="34" charset="0"/>
                <a:ea typeface="Consolas" pitchFamily="34" charset="-122"/>
                <a:cs typeface="Consolas" pitchFamily="34" charset="-120"/>
              </a:rPr>
              <a:t>"My VPN is not connecting to Azure."</a:t>
            </a:r>
            <a:endParaRPr lang="en-US" sz="1100" dirty="0"/>
          </a:p>
        </p:txBody>
      </p:sp>
      <p:sp>
        <p:nvSpPr>
          <p:cNvPr id="18" name="Text 16"/>
          <p:cNvSpPr/>
          <p:nvPr/>
        </p:nvSpPr>
        <p:spPr>
          <a:xfrm>
            <a:off x="3264408" y="3200400"/>
            <a:ext cx="118872" cy="365760"/>
          </a:xfrm>
          <a:prstGeom prst="rect">
            <a:avLst/>
          </a:prstGeom>
          <a:noFill/>
          <a:ln/>
        </p:spPr>
        <p:txBody>
          <a:bodyPr wrap="square" rtlCol="0" anchor="ctr"/>
          <a:lstStyle/>
          <a:p>
            <a:pPr algn="ctr" indent="0" marL="0">
              <a:buNone/>
            </a:pPr>
            <a:r>
              <a:rPr lang="en-US" sz="1400" b="1" dirty="0">
                <a:solidFill>
                  <a:srgbClr val="1FB8C9"/>
                </a:solidFill>
              </a:rPr>
              <a:t>▶</a:t>
            </a:r>
            <a:endParaRPr lang="en-US" sz="1400" dirty="0"/>
          </a:p>
        </p:txBody>
      </p:sp>
      <p:sp>
        <p:nvSpPr>
          <p:cNvPr id="19" name="Shape 17"/>
          <p:cNvSpPr/>
          <p:nvPr/>
        </p:nvSpPr>
        <p:spPr>
          <a:xfrm>
            <a:off x="3392424" y="2331720"/>
            <a:ext cx="2798064" cy="2103120"/>
          </a:xfrm>
          <a:prstGeom prst="rect">
            <a:avLst/>
          </a:prstGeom>
          <a:solidFill>
            <a:srgbClr val="FFFFFF"/>
          </a:solidFill>
          <a:ln w="12700">
            <a:solidFill>
              <a:srgbClr val="D9E1EC"/>
            </a:solidFill>
            <a:prstDash val="solid"/>
          </a:ln>
        </p:spPr>
      </p:sp>
      <p:sp>
        <p:nvSpPr>
          <p:cNvPr id="20" name="Shape 18"/>
          <p:cNvSpPr/>
          <p:nvPr/>
        </p:nvSpPr>
        <p:spPr>
          <a:xfrm>
            <a:off x="3392424" y="2331720"/>
            <a:ext cx="2798064" cy="411480"/>
          </a:xfrm>
          <a:prstGeom prst="rect">
            <a:avLst/>
          </a:prstGeom>
          <a:solidFill>
            <a:srgbClr val="1FB8C9"/>
          </a:solidFill>
          <a:ln w="12700">
            <a:solidFill>
              <a:srgbClr val="1FB8C9"/>
            </a:solidFill>
            <a:prstDash val="solid"/>
          </a:ln>
        </p:spPr>
      </p:sp>
      <p:sp>
        <p:nvSpPr>
          <p:cNvPr id="21" name="Text 19"/>
          <p:cNvSpPr/>
          <p:nvPr/>
        </p:nvSpPr>
        <p:spPr>
          <a:xfrm>
            <a:off x="3529584" y="2331720"/>
            <a:ext cx="2523744" cy="411480"/>
          </a:xfrm>
          <a:prstGeom prst="rect">
            <a:avLst/>
          </a:prstGeom>
          <a:noFill/>
          <a:ln/>
        </p:spPr>
        <p:txBody>
          <a:bodyPr wrap="square" rtlCol="0" anchor="ctr"/>
          <a:lstStyle/>
          <a:p>
            <a:pPr indent="0" marL="0">
              <a:buNone/>
            </a:pPr>
            <a:r>
              <a:rPr lang="en-US" sz="1000" b="1" spc="300" kern="0" dirty="0">
                <a:solidFill>
                  <a:srgbClr val="FFFFFF"/>
                </a:solidFill>
                <a:latin typeface="Calibri" pitchFamily="34" charset="0"/>
                <a:ea typeface="Calibri" pitchFamily="34" charset="-122"/>
                <a:cs typeface="Calibri" pitchFamily="34" charset="-120"/>
              </a:rPr>
              <a:t>STAGE 2  ·  PROTECTED</a:t>
            </a:r>
            <a:endParaRPr lang="en-US" sz="1000" dirty="0"/>
          </a:p>
        </p:txBody>
      </p:sp>
      <p:sp>
        <p:nvSpPr>
          <p:cNvPr id="22" name="Text 20"/>
          <p:cNvSpPr/>
          <p:nvPr/>
        </p:nvSpPr>
        <p:spPr>
          <a:xfrm>
            <a:off x="3529584" y="2834640"/>
            <a:ext cx="2523744" cy="274320"/>
          </a:xfrm>
          <a:prstGeom prst="rect">
            <a:avLst/>
          </a:prstGeom>
          <a:noFill/>
          <a:ln/>
        </p:spPr>
        <p:txBody>
          <a:bodyPr wrap="square" rtlCol="0" anchor="ctr"/>
          <a:lstStyle/>
          <a:p>
            <a:pPr indent="0" marL="0">
              <a:buNone/>
            </a:pPr>
            <a:r>
              <a:rPr lang="en-US" sz="900" i="1" spc="200" kern="0" dirty="0">
                <a:solidFill>
                  <a:srgbClr val="5A6B7C"/>
                </a:solidFill>
                <a:latin typeface="Calibri" pitchFamily="34" charset="0"/>
                <a:ea typeface="Calibri" pitchFamily="34" charset="-122"/>
                <a:cs typeface="Calibri" pitchFamily="34" charset="-120"/>
              </a:rPr>
              <a:t>Mask glossary terms</a:t>
            </a:r>
            <a:endParaRPr lang="en-US" sz="900" dirty="0"/>
          </a:p>
        </p:txBody>
      </p:sp>
      <p:sp>
        <p:nvSpPr>
          <p:cNvPr id="23" name="Shape 21"/>
          <p:cNvSpPr/>
          <p:nvPr/>
        </p:nvSpPr>
        <p:spPr>
          <a:xfrm>
            <a:off x="3529584" y="3200400"/>
            <a:ext cx="2523744" cy="1097280"/>
          </a:xfrm>
          <a:prstGeom prst="rect">
            <a:avLst/>
          </a:prstGeom>
          <a:solidFill>
            <a:srgbClr val="F4F7FB"/>
          </a:solidFill>
          <a:ln w="6350">
            <a:solidFill>
              <a:srgbClr val="D9E1EC"/>
            </a:solidFill>
            <a:prstDash val="solid"/>
          </a:ln>
        </p:spPr>
      </p:sp>
      <p:sp>
        <p:nvSpPr>
          <p:cNvPr id="24" name="Text 22"/>
          <p:cNvSpPr/>
          <p:nvPr/>
        </p:nvSpPr>
        <p:spPr>
          <a:xfrm>
            <a:off x="3621024" y="3200400"/>
            <a:ext cx="2340864" cy="1097280"/>
          </a:xfrm>
          <a:prstGeom prst="rect">
            <a:avLst/>
          </a:prstGeom>
          <a:noFill/>
          <a:ln/>
        </p:spPr>
        <p:txBody>
          <a:bodyPr wrap="square" rtlCol="0" anchor="ctr"/>
          <a:lstStyle/>
          <a:p>
            <a:pPr indent="0" marL="0">
              <a:buNone/>
            </a:pPr>
            <a:r>
              <a:rPr lang="en-US" sz="1100" dirty="0">
                <a:solidFill>
                  <a:srgbClr val="0B1E3F"/>
                </a:solidFill>
                <a:latin typeface="Consolas" pitchFamily="34" charset="0"/>
                <a:ea typeface="Consolas" pitchFamily="34" charset="-122"/>
                <a:cs typeface="Consolas" pitchFamily="34" charset="-120"/>
              </a:rPr>
              <a:t>"My ##TERM_0## is not connecting to ##TERM_1##."</a:t>
            </a:r>
            <a:endParaRPr lang="en-US" sz="1100" dirty="0"/>
          </a:p>
        </p:txBody>
      </p:sp>
      <p:sp>
        <p:nvSpPr>
          <p:cNvPr id="25" name="Text 23"/>
          <p:cNvSpPr/>
          <p:nvPr/>
        </p:nvSpPr>
        <p:spPr>
          <a:xfrm>
            <a:off x="6199632" y="3200400"/>
            <a:ext cx="118872" cy="365760"/>
          </a:xfrm>
          <a:prstGeom prst="rect">
            <a:avLst/>
          </a:prstGeom>
          <a:noFill/>
          <a:ln/>
        </p:spPr>
        <p:txBody>
          <a:bodyPr wrap="square" rtlCol="0" anchor="ctr"/>
          <a:lstStyle/>
          <a:p>
            <a:pPr algn="ctr" indent="0" marL="0">
              <a:buNone/>
            </a:pPr>
            <a:r>
              <a:rPr lang="en-US" sz="1400" b="1" dirty="0">
                <a:solidFill>
                  <a:srgbClr val="1FB8C9"/>
                </a:solidFill>
              </a:rPr>
              <a:t>▶</a:t>
            </a:r>
            <a:endParaRPr lang="en-US" sz="1400" dirty="0"/>
          </a:p>
        </p:txBody>
      </p:sp>
      <p:sp>
        <p:nvSpPr>
          <p:cNvPr id="26" name="Shape 24"/>
          <p:cNvSpPr/>
          <p:nvPr/>
        </p:nvSpPr>
        <p:spPr>
          <a:xfrm>
            <a:off x="6327648" y="2331720"/>
            <a:ext cx="2798064" cy="2103120"/>
          </a:xfrm>
          <a:prstGeom prst="rect">
            <a:avLst/>
          </a:prstGeom>
          <a:solidFill>
            <a:srgbClr val="FFFFFF"/>
          </a:solidFill>
          <a:ln w="12700">
            <a:solidFill>
              <a:srgbClr val="D9E1EC"/>
            </a:solidFill>
            <a:prstDash val="solid"/>
          </a:ln>
        </p:spPr>
      </p:sp>
      <p:sp>
        <p:nvSpPr>
          <p:cNvPr id="27" name="Shape 25"/>
          <p:cNvSpPr/>
          <p:nvPr/>
        </p:nvSpPr>
        <p:spPr>
          <a:xfrm>
            <a:off x="6327648" y="2331720"/>
            <a:ext cx="2798064" cy="411480"/>
          </a:xfrm>
          <a:prstGeom prst="rect">
            <a:avLst/>
          </a:prstGeom>
          <a:solidFill>
            <a:srgbClr val="6C7BFF"/>
          </a:solidFill>
          <a:ln w="12700">
            <a:solidFill>
              <a:srgbClr val="6C7BFF"/>
            </a:solidFill>
            <a:prstDash val="solid"/>
          </a:ln>
        </p:spPr>
      </p:sp>
      <p:sp>
        <p:nvSpPr>
          <p:cNvPr id="28" name="Text 26"/>
          <p:cNvSpPr/>
          <p:nvPr/>
        </p:nvSpPr>
        <p:spPr>
          <a:xfrm>
            <a:off x="6464808" y="2331720"/>
            <a:ext cx="2523744" cy="411480"/>
          </a:xfrm>
          <a:prstGeom prst="rect">
            <a:avLst/>
          </a:prstGeom>
          <a:noFill/>
          <a:ln/>
        </p:spPr>
        <p:txBody>
          <a:bodyPr wrap="square" rtlCol="0" anchor="ctr"/>
          <a:lstStyle/>
          <a:p>
            <a:pPr indent="0" marL="0">
              <a:buNone/>
            </a:pPr>
            <a:r>
              <a:rPr lang="en-US" sz="1000" b="1" spc="300" kern="0" dirty="0">
                <a:solidFill>
                  <a:srgbClr val="FFFFFF"/>
                </a:solidFill>
                <a:latin typeface="Calibri" pitchFamily="34" charset="0"/>
                <a:ea typeface="Calibri" pitchFamily="34" charset="-122"/>
                <a:cs typeface="Calibri" pitchFamily="34" charset="-120"/>
              </a:rPr>
              <a:t>STAGE 3  ·  TRANSLATED</a:t>
            </a:r>
            <a:endParaRPr lang="en-US" sz="1000" dirty="0"/>
          </a:p>
        </p:txBody>
      </p:sp>
      <p:sp>
        <p:nvSpPr>
          <p:cNvPr id="29" name="Text 27"/>
          <p:cNvSpPr/>
          <p:nvPr/>
        </p:nvSpPr>
        <p:spPr>
          <a:xfrm>
            <a:off x="6464808" y="2834640"/>
            <a:ext cx="2523744" cy="274320"/>
          </a:xfrm>
          <a:prstGeom prst="rect">
            <a:avLst/>
          </a:prstGeom>
          <a:noFill/>
          <a:ln/>
        </p:spPr>
        <p:txBody>
          <a:bodyPr wrap="square" rtlCol="0" anchor="ctr"/>
          <a:lstStyle/>
          <a:p>
            <a:pPr indent="0" marL="0">
              <a:buNone/>
            </a:pPr>
            <a:r>
              <a:rPr lang="en-US" sz="900" i="1" spc="200" kern="0" dirty="0">
                <a:solidFill>
                  <a:srgbClr val="5A6B7C"/>
                </a:solidFill>
                <a:latin typeface="Calibri" pitchFamily="34" charset="0"/>
                <a:ea typeface="Calibri" pitchFamily="34" charset="-122"/>
                <a:cs typeface="Calibri" pitchFamily="34" charset="-120"/>
              </a:rPr>
              <a:t>Translation engine</a:t>
            </a:r>
            <a:endParaRPr lang="en-US" sz="900" dirty="0"/>
          </a:p>
        </p:txBody>
      </p:sp>
      <p:sp>
        <p:nvSpPr>
          <p:cNvPr id="30" name="Shape 28"/>
          <p:cNvSpPr/>
          <p:nvPr/>
        </p:nvSpPr>
        <p:spPr>
          <a:xfrm>
            <a:off x="6464808" y="3200400"/>
            <a:ext cx="2523744" cy="1097280"/>
          </a:xfrm>
          <a:prstGeom prst="rect">
            <a:avLst/>
          </a:prstGeom>
          <a:solidFill>
            <a:srgbClr val="F4F7FB"/>
          </a:solidFill>
          <a:ln w="6350">
            <a:solidFill>
              <a:srgbClr val="D9E1EC"/>
            </a:solidFill>
            <a:prstDash val="solid"/>
          </a:ln>
        </p:spPr>
      </p:sp>
      <p:sp>
        <p:nvSpPr>
          <p:cNvPr id="31" name="Text 29"/>
          <p:cNvSpPr/>
          <p:nvPr/>
        </p:nvSpPr>
        <p:spPr>
          <a:xfrm>
            <a:off x="6556248" y="3200400"/>
            <a:ext cx="2340864" cy="1097280"/>
          </a:xfrm>
          <a:prstGeom prst="rect">
            <a:avLst/>
          </a:prstGeom>
          <a:noFill/>
          <a:ln/>
        </p:spPr>
        <p:txBody>
          <a:bodyPr wrap="square" rtlCol="0" anchor="ctr"/>
          <a:lstStyle/>
          <a:p>
            <a:pPr indent="0" marL="0">
              <a:buNone/>
            </a:pPr>
            <a:r>
              <a:rPr lang="en-US" sz="1100" dirty="0">
                <a:solidFill>
                  <a:srgbClr val="0B1E3F"/>
                </a:solidFill>
                <a:latin typeface="Consolas" pitchFamily="34" charset="0"/>
                <a:ea typeface="Consolas" pitchFamily="34" charset="-122"/>
                <a:cs typeface="Consolas" pitchFamily="34" charset="-120"/>
              </a:rPr>
              <a:t>"मेरा ##TERM_0## ##TERM_1## से कनेक्ट नहीं हो रहा है।"</a:t>
            </a:r>
            <a:endParaRPr lang="en-US" sz="1100" dirty="0"/>
          </a:p>
        </p:txBody>
      </p:sp>
      <p:sp>
        <p:nvSpPr>
          <p:cNvPr id="32" name="Text 30"/>
          <p:cNvSpPr/>
          <p:nvPr/>
        </p:nvSpPr>
        <p:spPr>
          <a:xfrm>
            <a:off x="9134856" y="3200400"/>
            <a:ext cx="118872" cy="365760"/>
          </a:xfrm>
          <a:prstGeom prst="rect">
            <a:avLst/>
          </a:prstGeom>
          <a:noFill/>
          <a:ln/>
        </p:spPr>
        <p:txBody>
          <a:bodyPr wrap="square" rtlCol="0" anchor="ctr"/>
          <a:lstStyle/>
          <a:p>
            <a:pPr algn="ctr" indent="0" marL="0">
              <a:buNone/>
            </a:pPr>
            <a:r>
              <a:rPr lang="en-US" sz="1400" b="1" dirty="0">
                <a:solidFill>
                  <a:srgbClr val="1FB8C9"/>
                </a:solidFill>
              </a:rPr>
              <a:t>▶</a:t>
            </a:r>
            <a:endParaRPr lang="en-US" sz="1400" dirty="0"/>
          </a:p>
        </p:txBody>
      </p:sp>
      <p:sp>
        <p:nvSpPr>
          <p:cNvPr id="33" name="Shape 31"/>
          <p:cNvSpPr/>
          <p:nvPr/>
        </p:nvSpPr>
        <p:spPr>
          <a:xfrm>
            <a:off x="9262872" y="2331720"/>
            <a:ext cx="2798064" cy="2103120"/>
          </a:xfrm>
          <a:prstGeom prst="rect">
            <a:avLst/>
          </a:prstGeom>
          <a:solidFill>
            <a:srgbClr val="FFFFFF"/>
          </a:solidFill>
          <a:ln w="12700">
            <a:solidFill>
              <a:srgbClr val="D9E1EC"/>
            </a:solidFill>
            <a:prstDash val="solid"/>
          </a:ln>
        </p:spPr>
      </p:sp>
      <p:sp>
        <p:nvSpPr>
          <p:cNvPr id="34" name="Shape 32"/>
          <p:cNvSpPr/>
          <p:nvPr/>
        </p:nvSpPr>
        <p:spPr>
          <a:xfrm>
            <a:off x="9262872" y="2331720"/>
            <a:ext cx="2798064" cy="411480"/>
          </a:xfrm>
          <a:prstGeom prst="rect">
            <a:avLst/>
          </a:prstGeom>
          <a:solidFill>
            <a:srgbClr val="0B1E3F"/>
          </a:solidFill>
          <a:ln w="12700">
            <a:solidFill>
              <a:srgbClr val="0B1E3F"/>
            </a:solidFill>
            <a:prstDash val="solid"/>
          </a:ln>
        </p:spPr>
      </p:sp>
      <p:sp>
        <p:nvSpPr>
          <p:cNvPr id="35" name="Text 33"/>
          <p:cNvSpPr/>
          <p:nvPr/>
        </p:nvSpPr>
        <p:spPr>
          <a:xfrm>
            <a:off x="9400032" y="2331720"/>
            <a:ext cx="2523744" cy="411480"/>
          </a:xfrm>
          <a:prstGeom prst="rect">
            <a:avLst/>
          </a:prstGeom>
          <a:noFill/>
          <a:ln/>
        </p:spPr>
        <p:txBody>
          <a:bodyPr wrap="square" rtlCol="0" anchor="ctr"/>
          <a:lstStyle/>
          <a:p>
            <a:pPr indent="0" marL="0">
              <a:buNone/>
            </a:pPr>
            <a:r>
              <a:rPr lang="en-US" sz="1000" b="1" spc="300" kern="0" dirty="0">
                <a:solidFill>
                  <a:srgbClr val="FFFFFF"/>
                </a:solidFill>
                <a:latin typeface="Calibri" pitchFamily="34" charset="0"/>
                <a:ea typeface="Calibri" pitchFamily="34" charset="-122"/>
                <a:cs typeface="Calibri" pitchFamily="34" charset="-120"/>
              </a:rPr>
              <a:t>STAGE 4  ·  RESTORED</a:t>
            </a:r>
            <a:endParaRPr lang="en-US" sz="1000" dirty="0"/>
          </a:p>
        </p:txBody>
      </p:sp>
      <p:sp>
        <p:nvSpPr>
          <p:cNvPr id="36" name="Text 34"/>
          <p:cNvSpPr/>
          <p:nvPr/>
        </p:nvSpPr>
        <p:spPr>
          <a:xfrm>
            <a:off x="9400032" y="2834640"/>
            <a:ext cx="2523744" cy="274320"/>
          </a:xfrm>
          <a:prstGeom prst="rect">
            <a:avLst/>
          </a:prstGeom>
          <a:noFill/>
          <a:ln/>
        </p:spPr>
        <p:txBody>
          <a:bodyPr wrap="square" rtlCol="0" anchor="ctr"/>
          <a:lstStyle/>
          <a:p>
            <a:pPr indent="0" marL="0">
              <a:buNone/>
            </a:pPr>
            <a:r>
              <a:rPr lang="en-US" sz="900" i="1" spc="200" kern="0" dirty="0">
                <a:solidFill>
                  <a:srgbClr val="5A6B7C"/>
                </a:solidFill>
                <a:latin typeface="Calibri" pitchFamily="34" charset="0"/>
                <a:ea typeface="Calibri" pitchFamily="34" charset="-122"/>
                <a:cs typeface="Calibri" pitchFamily="34" charset="-120"/>
              </a:rPr>
              <a:t>Reinsert original terms</a:t>
            </a:r>
            <a:endParaRPr lang="en-US" sz="900" dirty="0"/>
          </a:p>
        </p:txBody>
      </p:sp>
      <p:sp>
        <p:nvSpPr>
          <p:cNvPr id="37" name="Shape 35"/>
          <p:cNvSpPr/>
          <p:nvPr/>
        </p:nvSpPr>
        <p:spPr>
          <a:xfrm>
            <a:off x="9400032" y="3200400"/>
            <a:ext cx="2523744" cy="1097280"/>
          </a:xfrm>
          <a:prstGeom prst="rect">
            <a:avLst/>
          </a:prstGeom>
          <a:solidFill>
            <a:srgbClr val="F4F7FB"/>
          </a:solidFill>
          <a:ln w="6350">
            <a:solidFill>
              <a:srgbClr val="D9E1EC"/>
            </a:solidFill>
            <a:prstDash val="solid"/>
          </a:ln>
        </p:spPr>
      </p:sp>
      <p:sp>
        <p:nvSpPr>
          <p:cNvPr id="38" name="Text 36"/>
          <p:cNvSpPr/>
          <p:nvPr/>
        </p:nvSpPr>
        <p:spPr>
          <a:xfrm>
            <a:off x="9491472" y="3200400"/>
            <a:ext cx="2340864" cy="1097280"/>
          </a:xfrm>
          <a:prstGeom prst="rect">
            <a:avLst/>
          </a:prstGeom>
          <a:noFill/>
          <a:ln/>
        </p:spPr>
        <p:txBody>
          <a:bodyPr wrap="square" rtlCol="0" anchor="ctr"/>
          <a:lstStyle/>
          <a:p>
            <a:pPr indent="0" marL="0">
              <a:buNone/>
            </a:pPr>
            <a:r>
              <a:rPr lang="en-US" sz="1100" dirty="0">
                <a:solidFill>
                  <a:srgbClr val="0B1E3F"/>
                </a:solidFill>
                <a:latin typeface="Consolas" pitchFamily="34" charset="0"/>
                <a:ea typeface="Consolas" pitchFamily="34" charset="-122"/>
                <a:cs typeface="Consolas" pitchFamily="34" charset="-120"/>
              </a:rPr>
              <a:t>"मेरा VPN, Azure से कनेक्ट नहीं हो रहा है।"</a:t>
            </a:r>
            <a:endParaRPr lang="en-US" sz="1100" dirty="0"/>
          </a:p>
        </p:txBody>
      </p:sp>
      <p:sp>
        <p:nvSpPr>
          <p:cNvPr id="39" name="Shape 37"/>
          <p:cNvSpPr/>
          <p:nvPr/>
        </p:nvSpPr>
        <p:spPr>
          <a:xfrm>
            <a:off x="457200" y="4663440"/>
            <a:ext cx="11247120" cy="1920240"/>
          </a:xfrm>
          <a:prstGeom prst="rect">
            <a:avLst/>
          </a:prstGeom>
          <a:solidFill>
            <a:srgbClr val="0B1E3F"/>
          </a:solidFill>
          <a:ln w="12700">
            <a:solidFill>
              <a:srgbClr val="0B1E3F"/>
            </a:solidFill>
            <a:prstDash val="solid"/>
          </a:ln>
        </p:spPr>
      </p:sp>
      <p:sp>
        <p:nvSpPr>
          <p:cNvPr id="40" name="Shape 38"/>
          <p:cNvSpPr/>
          <p:nvPr/>
        </p:nvSpPr>
        <p:spPr>
          <a:xfrm>
            <a:off x="457200" y="4663440"/>
            <a:ext cx="73152" cy="1920240"/>
          </a:xfrm>
          <a:prstGeom prst="rect">
            <a:avLst/>
          </a:prstGeom>
          <a:solidFill>
            <a:srgbClr val="1FB8C9"/>
          </a:solidFill>
          <a:ln w="12700">
            <a:solidFill>
              <a:srgbClr val="1FB8C9"/>
            </a:solidFill>
            <a:prstDash val="solid"/>
          </a:ln>
        </p:spPr>
      </p:sp>
      <p:sp>
        <p:nvSpPr>
          <p:cNvPr id="41" name="Text 39"/>
          <p:cNvSpPr/>
          <p:nvPr/>
        </p:nvSpPr>
        <p:spPr>
          <a:xfrm>
            <a:off x="731520" y="4800600"/>
            <a:ext cx="10972800" cy="274320"/>
          </a:xfrm>
          <a:prstGeom prst="rect">
            <a:avLst/>
          </a:prstGeom>
          <a:noFill/>
          <a:ln/>
        </p:spPr>
        <p:txBody>
          <a:bodyPr wrap="square" rtlCol="0" anchor="ctr"/>
          <a:lstStyle/>
          <a:p>
            <a:pPr indent="0" marL="0">
              <a:buNone/>
            </a:pPr>
            <a:r>
              <a:rPr lang="en-US" sz="1100" b="1" spc="400" kern="0" dirty="0">
                <a:solidFill>
                  <a:srgbClr val="1FB8C9"/>
                </a:solidFill>
                <a:latin typeface="Calibri" pitchFamily="34" charset="0"/>
                <a:ea typeface="Calibri" pitchFamily="34" charset="-122"/>
                <a:cs typeface="Calibri" pitchFamily="34" charset="-120"/>
              </a:rPr>
              <a:t>WHY THIS MATTERS</a:t>
            </a:r>
            <a:endParaRPr lang="en-US" sz="1100" dirty="0"/>
          </a:p>
        </p:txBody>
      </p:sp>
      <p:sp>
        <p:nvSpPr>
          <p:cNvPr id="42" name="Text 40"/>
          <p:cNvSpPr/>
          <p:nvPr/>
        </p:nvSpPr>
        <p:spPr>
          <a:xfrm>
            <a:off x="777240" y="5166360"/>
            <a:ext cx="228600" cy="365760"/>
          </a:xfrm>
          <a:prstGeom prst="rect">
            <a:avLst/>
          </a:prstGeom>
          <a:noFill/>
          <a:ln/>
        </p:spPr>
        <p:txBody>
          <a:bodyPr wrap="square" rtlCol="0" anchor="ctr"/>
          <a:lstStyle/>
          <a:p>
            <a:pPr indent="0" marL="0">
              <a:buNone/>
            </a:pPr>
            <a:r>
              <a:rPr lang="en-US" sz="1400" b="1" dirty="0">
                <a:solidFill>
                  <a:srgbClr val="1FB8C9"/>
                </a:solidFill>
              </a:rPr>
              <a:t>●</a:t>
            </a:r>
            <a:endParaRPr lang="en-US" sz="1400" dirty="0"/>
          </a:p>
        </p:txBody>
      </p:sp>
      <p:sp>
        <p:nvSpPr>
          <p:cNvPr id="43" name="Text 41"/>
          <p:cNvSpPr/>
          <p:nvPr/>
        </p:nvSpPr>
        <p:spPr>
          <a:xfrm>
            <a:off x="1005840" y="5166360"/>
            <a:ext cx="1554480"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Brand-safe</a:t>
            </a:r>
            <a:endParaRPr lang="en-US" sz="1200" dirty="0"/>
          </a:p>
        </p:txBody>
      </p:sp>
      <p:sp>
        <p:nvSpPr>
          <p:cNvPr id="44" name="Text 42"/>
          <p:cNvSpPr/>
          <p:nvPr/>
        </p:nvSpPr>
        <p:spPr>
          <a:xfrm>
            <a:off x="2560320" y="5166360"/>
            <a:ext cx="3657600" cy="365760"/>
          </a:xfrm>
          <a:prstGeom prst="rect">
            <a:avLst/>
          </a:prstGeom>
          <a:noFill/>
          <a:ln/>
        </p:spPr>
        <p:txBody>
          <a:bodyPr wrap="square" rtlCol="0" anchor="ctr"/>
          <a:lstStyle/>
          <a:p>
            <a:pPr indent="0" marL="0">
              <a:buNone/>
            </a:pPr>
            <a:r>
              <a:rPr lang="en-US" sz="1000" dirty="0">
                <a:solidFill>
                  <a:srgbClr val="C7D3E8"/>
                </a:solidFill>
                <a:latin typeface="Calibri" pitchFamily="34" charset="0"/>
                <a:ea typeface="Calibri" pitchFamily="34" charset="-122"/>
                <a:cs typeface="Calibri" pitchFamily="34" charset="-120"/>
              </a:rPr>
              <a:t>Product names (Azure, AWS, Outlook) never become localized words.</a:t>
            </a:r>
            <a:endParaRPr lang="en-US" sz="1000" dirty="0"/>
          </a:p>
        </p:txBody>
      </p:sp>
      <p:sp>
        <p:nvSpPr>
          <p:cNvPr id="45" name="Text 43"/>
          <p:cNvSpPr/>
          <p:nvPr/>
        </p:nvSpPr>
        <p:spPr>
          <a:xfrm>
            <a:off x="6263640" y="5166360"/>
            <a:ext cx="228600" cy="365760"/>
          </a:xfrm>
          <a:prstGeom prst="rect">
            <a:avLst/>
          </a:prstGeom>
          <a:noFill/>
          <a:ln/>
        </p:spPr>
        <p:txBody>
          <a:bodyPr wrap="square" rtlCol="0" anchor="ctr"/>
          <a:lstStyle/>
          <a:p>
            <a:pPr indent="0" marL="0">
              <a:buNone/>
            </a:pPr>
            <a:r>
              <a:rPr lang="en-US" sz="1400" b="1" dirty="0">
                <a:solidFill>
                  <a:srgbClr val="1FB8C9"/>
                </a:solidFill>
              </a:rPr>
              <a:t>●</a:t>
            </a:r>
            <a:endParaRPr lang="en-US" sz="1400" dirty="0"/>
          </a:p>
        </p:txBody>
      </p:sp>
      <p:sp>
        <p:nvSpPr>
          <p:cNvPr id="46" name="Text 44"/>
          <p:cNvSpPr/>
          <p:nvPr/>
        </p:nvSpPr>
        <p:spPr>
          <a:xfrm>
            <a:off x="6492240" y="5166360"/>
            <a:ext cx="1554480"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Searchable</a:t>
            </a:r>
            <a:endParaRPr lang="en-US" sz="1200" dirty="0"/>
          </a:p>
        </p:txBody>
      </p:sp>
      <p:sp>
        <p:nvSpPr>
          <p:cNvPr id="47" name="Text 45"/>
          <p:cNvSpPr/>
          <p:nvPr/>
        </p:nvSpPr>
        <p:spPr>
          <a:xfrm>
            <a:off x="8046720" y="5166360"/>
            <a:ext cx="3657600" cy="365760"/>
          </a:xfrm>
          <a:prstGeom prst="rect">
            <a:avLst/>
          </a:prstGeom>
          <a:noFill/>
          <a:ln/>
        </p:spPr>
        <p:txBody>
          <a:bodyPr wrap="square" rtlCol="0" anchor="ctr"/>
          <a:lstStyle/>
          <a:p>
            <a:pPr indent="0" marL="0">
              <a:buNone/>
            </a:pPr>
            <a:r>
              <a:rPr lang="en-US" sz="1000" dirty="0">
                <a:solidFill>
                  <a:srgbClr val="C7D3E8"/>
                </a:solidFill>
                <a:latin typeface="Calibri" pitchFamily="34" charset="0"/>
                <a:ea typeface="Calibri" pitchFamily="34" charset="-122"/>
                <a:cs typeface="Calibri" pitchFamily="34" charset="-120"/>
              </a:rPr>
              <a:t>Engineers can still query historical tickets by exact tool name.</a:t>
            </a:r>
            <a:endParaRPr lang="en-US" sz="1000" dirty="0"/>
          </a:p>
        </p:txBody>
      </p:sp>
      <p:sp>
        <p:nvSpPr>
          <p:cNvPr id="48" name="Text 46"/>
          <p:cNvSpPr/>
          <p:nvPr/>
        </p:nvSpPr>
        <p:spPr>
          <a:xfrm>
            <a:off x="777240" y="5760720"/>
            <a:ext cx="228600" cy="365760"/>
          </a:xfrm>
          <a:prstGeom prst="rect">
            <a:avLst/>
          </a:prstGeom>
          <a:noFill/>
          <a:ln/>
        </p:spPr>
        <p:txBody>
          <a:bodyPr wrap="square" rtlCol="0" anchor="ctr"/>
          <a:lstStyle/>
          <a:p>
            <a:pPr indent="0" marL="0">
              <a:buNone/>
            </a:pPr>
            <a:r>
              <a:rPr lang="en-US" sz="1400" b="1" dirty="0">
                <a:solidFill>
                  <a:srgbClr val="1FB8C9"/>
                </a:solidFill>
              </a:rPr>
              <a:t>●</a:t>
            </a:r>
            <a:endParaRPr lang="en-US" sz="1400" dirty="0"/>
          </a:p>
        </p:txBody>
      </p:sp>
      <p:sp>
        <p:nvSpPr>
          <p:cNvPr id="49" name="Text 47"/>
          <p:cNvSpPr/>
          <p:nvPr/>
        </p:nvSpPr>
        <p:spPr>
          <a:xfrm>
            <a:off x="1005840" y="5760720"/>
            <a:ext cx="1554480"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Schema validation</a:t>
            </a:r>
            <a:endParaRPr lang="en-US" sz="1200" dirty="0"/>
          </a:p>
        </p:txBody>
      </p:sp>
      <p:sp>
        <p:nvSpPr>
          <p:cNvPr id="50" name="Text 48"/>
          <p:cNvSpPr/>
          <p:nvPr/>
        </p:nvSpPr>
        <p:spPr>
          <a:xfrm>
            <a:off x="2560320" y="5760720"/>
            <a:ext cx="3657600" cy="365760"/>
          </a:xfrm>
          <a:prstGeom prst="rect">
            <a:avLst/>
          </a:prstGeom>
          <a:noFill/>
          <a:ln/>
        </p:spPr>
        <p:txBody>
          <a:bodyPr wrap="square" rtlCol="0" anchor="ctr"/>
          <a:lstStyle/>
          <a:p>
            <a:pPr indent="0" marL="0">
              <a:buNone/>
            </a:pPr>
            <a:r>
              <a:rPr lang="en-US" sz="1000" dirty="0">
                <a:solidFill>
                  <a:srgbClr val="C7D3E8"/>
                </a:solidFill>
                <a:latin typeface="Calibri" pitchFamily="34" charset="0"/>
                <a:ea typeface="Calibri" pitchFamily="34" charset="-122"/>
                <a:cs typeface="Calibri" pitchFamily="34" charset="-120"/>
              </a:rPr>
              <a:t>AST-style check ensures every ##TERM_n## token is restored.</a:t>
            </a:r>
            <a:endParaRPr lang="en-US" sz="1000" dirty="0"/>
          </a:p>
        </p:txBody>
      </p:sp>
      <p:sp>
        <p:nvSpPr>
          <p:cNvPr id="51" name="Text 49"/>
          <p:cNvSpPr/>
          <p:nvPr/>
        </p:nvSpPr>
        <p:spPr>
          <a:xfrm>
            <a:off x="6263640" y="5760720"/>
            <a:ext cx="228600" cy="365760"/>
          </a:xfrm>
          <a:prstGeom prst="rect">
            <a:avLst/>
          </a:prstGeom>
          <a:noFill/>
          <a:ln/>
        </p:spPr>
        <p:txBody>
          <a:bodyPr wrap="square" rtlCol="0" anchor="ctr"/>
          <a:lstStyle/>
          <a:p>
            <a:pPr indent="0" marL="0">
              <a:buNone/>
            </a:pPr>
            <a:r>
              <a:rPr lang="en-US" sz="1400" b="1" dirty="0">
                <a:solidFill>
                  <a:srgbClr val="1FB8C9"/>
                </a:solidFill>
              </a:rPr>
              <a:t>●</a:t>
            </a:r>
            <a:endParaRPr lang="en-US" sz="1400" dirty="0"/>
          </a:p>
        </p:txBody>
      </p:sp>
      <p:sp>
        <p:nvSpPr>
          <p:cNvPr id="52" name="Text 50"/>
          <p:cNvSpPr/>
          <p:nvPr/>
        </p:nvSpPr>
        <p:spPr>
          <a:xfrm>
            <a:off x="6492240" y="5760720"/>
            <a:ext cx="1554480"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Extensible</a:t>
            </a:r>
            <a:endParaRPr lang="en-US" sz="1200" dirty="0"/>
          </a:p>
        </p:txBody>
      </p:sp>
      <p:sp>
        <p:nvSpPr>
          <p:cNvPr id="53" name="Text 51"/>
          <p:cNvSpPr/>
          <p:nvPr/>
        </p:nvSpPr>
        <p:spPr>
          <a:xfrm>
            <a:off x="8046720" y="5760720"/>
            <a:ext cx="3657600" cy="365760"/>
          </a:xfrm>
          <a:prstGeom prst="rect">
            <a:avLst/>
          </a:prstGeom>
          <a:noFill/>
          <a:ln/>
        </p:spPr>
        <p:txBody>
          <a:bodyPr wrap="square" rtlCol="0" anchor="ctr"/>
          <a:lstStyle/>
          <a:p>
            <a:pPr indent="0" marL="0">
              <a:buNone/>
            </a:pPr>
            <a:r>
              <a:rPr lang="en-US" sz="1000" dirty="0">
                <a:solidFill>
                  <a:srgbClr val="C7D3E8"/>
                </a:solidFill>
                <a:latin typeface="Calibri" pitchFamily="34" charset="0"/>
                <a:ea typeface="Calibri" pitchFamily="34" charset="-122"/>
                <a:cs typeface="Calibri" pitchFamily="34" charset="-120"/>
              </a:rPr>
              <a:t>Glossary lives in JSON — admins can add terms without code changes.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E3F"/>
          </a:solidFill>
          <a:ln/>
        </p:spPr>
      </p:sp>
      <p:sp>
        <p:nvSpPr>
          <p:cNvPr id="3" name="Shape 1"/>
          <p:cNvSpPr/>
          <p:nvPr/>
        </p:nvSpPr>
        <p:spPr>
          <a:xfrm>
            <a:off x="0" y="502920"/>
            <a:ext cx="12191695" cy="36576"/>
          </a:xfrm>
          <a:prstGeom prst="rect">
            <a:avLst/>
          </a:prstGeom>
          <a:solidFill>
            <a:srgbClr val="1FB8C9"/>
          </a:solidFill>
          <a:ln/>
        </p:spPr>
      </p:sp>
      <p:sp>
        <p:nvSpPr>
          <p:cNvPr id="4" name="Text 2"/>
          <p:cNvSpPr/>
          <p:nvPr/>
        </p:nvSpPr>
        <p:spPr>
          <a:xfrm>
            <a:off x="365760" y="0"/>
            <a:ext cx="11430000" cy="502920"/>
          </a:xfrm>
          <a:prstGeom prst="rect">
            <a:avLst/>
          </a:prstGeom>
          <a:noFill/>
          <a:ln/>
        </p:spPr>
        <p:txBody>
          <a:bodyPr wrap="square" rtlCol="0" anchor="ctr"/>
          <a:lstStyle/>
          <a:p>
            <a:pPr indent="0" marL="0">
              <a:buNone/>
            </a:pPr>
            <a:r>
              <a:rPr lang="en-US" sz="1000" b="1" spc="300" kern="0" dirty="0">
                <a:solidFill>
                  <a:srgbClr val="FFFFFF"/>
                </a:solidFill>
                <a:latin typeface="Calibri" pitchFamily="34" charset="0"/>
                <a:ea typeface="Calibri" pitchFamily="34" charset="-122"/>
                <a:cs typeface="Calibri" pitchFamily="34" charset="-120"/>
              </a:rPr>
              <a:t>MULTILINGUAL TICKET TRANSLATOR  •  TEAM 9  •  SD-04</a:t>
            </a:r>
            <a:endParaRPr lang="en-US" sz="1000" dirty="0"/>
          </a:p>
        </p:txBody>
      </p:sp>
      <p:sp>
        <p:nvSpPr>
          <p:cNvPr id="5" name="Text 3"/>
          <p:cNvSpPr/>
          <p:nvPr/>
        </p:nvSpPr>
        <p:spPr>
          <a:xfrm>
            <a:off x="457200" y="685800"/>
            <a:ext cx="11247120" cy="320040"/>
          </a:xfrm>
          <a:prstGeom prst="rect">
            <a:avLst/>
          </a:prstGeom>
          <a:noFill/>
          <a:ln/>
        </p:spPr>
        <p:txBody>
          <a:bodyPr wrap="square" rtlCol="0" anchor="ctr"/>
          <a:lstStyle/>
          <a:p>
            <a:pPr indent="0" marL="0">
              <a:buNone/>
            </a:pPr>
            <a:r>
              <a:rPr lang="en-US" sz="1100" b="1" spc="400" kern="0" dirty="0">
                <a:solidFill>
                  <a:srgbClr val="1FB8C9"/>
                </a:solidFill>
                <a:latin typeface="Calibri" pitchFamily="34" charset="0"/>
                <a:ea typeface="Calibri" pitchFamily="34" charset="-122"/>
                <a:cs typeface="Calibri" pitchFamily="34" charset="-120"/>
              </a:rPr>
              <a:t>09 — BIDIRECTIONAL FLOW</a:t>
            </a:r>
            <a:endParaRPr lang="en-US" sz="1100" dirty="0"/>
          </a:p>
        </p:txBody>
      </p:sp>
      <p:sp>
        <p:nvSpPr>
          <p:cNvPr id="6" name="Text 4"/>
          <p:cNvSpPr/>
          <p:nvPr/>
        </p:nvSpPr>
        <p:spPr>
          <a:xfrm>
            <a:off x="457200" y="960120"/>
            <a:ext cx="11247120" cy="640080"/>
          </a:xfrm>
          <a:prstGeom prst="rect">
            <a:avLst/>
          </a:prstGeom>
          <a:noFill/>
          <a:ln/>
        </p:spPr>
        <p:txBody>
          <a:bodyPr wrap="square" rtlCol="0" anchor="ctr"/>
          <a:lstStyle/>
          <a:p>
            <a:pPr indent="0" marL="0">
              <a:buNone/>
            </a:pPr>
            <a:r>
              <a:rPr lang="en-US" sz="3000" b="1" dirty="0">
                <a:solidFill>
                  <a:srgbClr val="0B1E3F"/>
                </a:solidFill>
                <a:latin typeface="Calibri" pitchFamily="34" charset="0"/>
                <a:ea typeface="Calibri" pitchFamily="34" charset="-122"/>
                <a:cs typeface="Calibri" pitchFamily="34" charset="-120"/>
              </a:rPr>
              <a:t>Core Logic 4 — Translation Pipeline</a:t>
            </a:r>
            <a:endParaRPr lang="en-US" sz="3000" dirty="0"/>
          </a:p>
        </p:txBody>
      </p:sp>
      <p:sp>
        <p:nvSpPr>
          <p:cNvPr id="7" name="Shape 5"/>
          <p:cNvSpPr/>
          <p:nvPr/>
        </p:nvSpPr>
        <p:spPr>
          <a:xfrm>
            <a:off x="457200" y="1627632"/>
            <a:ext cx="548640" cy="54864"/>
          </a:xfrm>
          <a:prstGeom prst="rect">
            <a:avLst/>
          </a:prstGeom>
          <a:solidFill>
            <a:srgbClr val="1FB8C9"/>
          </a:solidFill>
          <a:ln w="12700">
            <a:solidFill>
              <a:srgbClr val="1FB8C9"/>
            </a:solidFill>
            <a:prstDash val="solid"/>
          </a:ln>
        </p:spPr>
      </p:sp>
      <p:sp>
        <p:nvSpPr>
          <p:cNvPr id="8" name="Shape 6"/>
          <p:cNvSpPr/>
          <p:nvPr/>
        </p:nvSpPr>
        <p:spPr>
          <a:xfrm>
            <a:off x="0" y="6675120"/>
            <a:ext cx="12191695" cy="182880"/>
          </a:xfrm>
          <a:prstGeom prst="rect">
            <a:avLst/>
          </a:prstGeom>
          <a:solidFill>
            <a:srgbClr val="F4F7FB"/>
          </a:solidFill>
          <a:ln w="12700">
            <a:solidFill>
              <a:srgbClr val="F4F7FB"/>
            </a:solidFill>
            <a:prstDash val="solid"/>
          </a:ln>
        </p:spPr>
      </p:sp>
      <p:sp>
        <p:nvSpPr>
          <p:cNvPr id="9" name="Text 7"/>
          <p:cNvSpPr/>
          <p:nvPr/>
        </p:nvSpPr>
        <p:spPr>
          <a:xfrm>
            <a:off x="365760" y="6656832"/>
            <a:ext cx="7315200" cy="201168"/>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Infinite Computer Solutions • Placement Case Study</a:t>
            </a:r>
            <a:endParaRPr lang="en-US" sz="900" dirty="0"/>
          </a:p>
        </p:txBody>
      </p:sp>
      <p:sp>
        <p:nvSpPr>
          <p:cNvPr id="10" name="Text 8"/>
          <p:cNvSpPr/>
          <p:nvPr/>
        </p:nvSpPr>
        <p:spPr>
          <a:xfrm>
            <a:off x="11247120" y="6656832"/>
            <a:ext cx="640080" cy="201168"/>
          </a:xfrm>
          <a:prstGeom prst="rect">
            <a:avLst/>
          </a:prstGeom>
          <a:noFill/>
          <a:ln/>
        </p:spPr>
        <p:txBody>
          <a:bodyPr wrap="square" rtlCol="0" anchor="ctr"/>
          <a:lstStyle/>
          <a:p>
            <a:pPr algn="r" indent="0" marL="0">
              <a:buNone/>
            </a:pPr>
            <a:r>
              <a:rPr lang="en-US" sz="900" b="1" dirty="0">
                <a:solidFill>
                  <a:srgbClr val="5A6B7C"/>
                </a:solidFill>
                <a:latin typeface="Calibri" pitchFamily="34" charset="0"/>
                <a:ea typeface="Calibri" pitchFamily="34" charset="-122"/>
                <a:cs typeface="Calibri" pitchFamily="34" charset="-120"/>
              </a:rPr>
              <a:t>10 / 15</a:t>
            </a:r>
            <a:endParaRPr lang="en-US" sz="900" dirty="0"/>
          </a:p>
        </p:txBody>
      </p:sp>
      <p:sp>
        <p:nvSpPr>
          <p:cNvPr id="11" name="Shape 9"/>
          <p:cNvSpPr/>
          <p:nvPr/>
        </p:nvSpPr>
        <p:spPr>
          <a:xfrm>
            <a:off x="457200" y="1920240"/>
            <a:ext cx="11247120" cy="411480"/>
          </a:xfrm>
          <a:prstGeom prst="rect">
            <a:avLst/>
          </a:prstGeom>
          <a:solidFill>
            <a:srgbClr val="0B1E3F"/>
          </a:solidFill>
          <a:ln w="12700">
            <a:solidFill>
              <a:srgbClr val="0B1E3F"/>
            </a:solidFill>
            <a:prstDash val="solid"/>
          </a:ln>
        </p:spPr>
      </p:sp>
      <p:sp>
        <p:nvSpPr>
          <p:cNvPr id="12" name="Text 10"/>
          <p:cNvSpPr/>
          <p:nvPr/>
        </p:nvSpPr>
        <p:spPr>
          <a:xfrm>
            <a:off x="640080" y="1920240"/>
            <a:ext cx="7315200" cy="411480"/>
          </a:xfrm>
          <a:prstGeom prst="rect">
            <a:avLst/>
          </a:prstGeom>
          <a:noFill/>
          <a:ln/>
        </p:spPr>
        <p:txBody>
          <a:bodyPr wrap="square" rtlCol="0" anchor="ctr"/>
          <a:lstStyle/>
          <a:p>
            <a:pPr indent="0" marL="0">
              <a:buNone/>
            </a:pPr>
            <a:r>
              <a:rPr lang="en-US" sz="1100" b="1" spc="400" kern="0" dirty="0">
                <a:solidFill>
                  <a:srgbClr val="FFFFFF"/>
                </a:solidFill>
                <a:latin typeface="Calibri" pitchFamily="34" charset="0"/>
                <a:ea typeface="Calibri" pitchFamily="34" charset="-122"/>
                <a:cs typeface="Calibri" pitchFamily="34" charset="-120"/>
              </a:rPr>
              <a:t>CUSTOMER → ENGINEER  ·  Inbound</a:t>
            </a:r>
            <a:endParaRPr lang="en-US" sz="1100" dirty="0"/>
          </a:p>
        </p:txBody>
      </p:sp>
      <p:sp>
        <p:nvSpPr>
          <p:cNvPr id="13" name="Shape 11"/>
          <p:cNvSpPr/>
          <p:nvPr/>
        </p:nvSpPr>
        <p:spPr>
          <a:xfrm>
            <a:off x="457200" y="1920240"/>
            <a:ext cx="73152" cy="411480"/>
          </a:xfrm>
          <a:prstGeom prst="rect">
            <a:avLst/>
          </a:prstGeom>
          <a:solidFill>
            <a:srgbClr val="1FB8C9"/>
          </a:solidFill>
          <a:ln w="12700">
            <a:solidFill>
              <a:srgbClr val="1FB8C9"/>
            </a:solidFill>
            <a:prstDash val="solid"/>
          </a:ln>
        </p:spPr>
      </p:sp>
      <p:sp>
        <p:nvSpPr>
          <p:cNvPr id="14" name="Shape 12"/>
          <p:cNvSpPr/>
          <p:nvPr/>
        </p:nvSpPr>
        <p:spPr>
          <a:xfrm>
            <a:off x="640080" y="2560320"/>
            <a:ext cx="1993392" cy="1371600"/>
          </a:xfrm>
          <a:prstGeom prst="roundRect">
            <a:avLst>
              <a:gd name="adj" fmla="val 5333"/>
            </a:avLst>
          </a:prstGeom>
          <a:solidFill>
            <a:srgbClr val="F4F7FB"/>
          </a:solidFill>
          <a:ln w="12700">
            <a:solidFill>
              <a:srgbClr val="0B1E3F"/>
            </a:solidFill>
            <a:prstDash val="solid"/>
          </a:ln>
        </p:spPr>
      </p:sp>
      <p:sp>
        <p:nvSpPr>
          <p:cNvPr id="15" name="Shape 13"/>
          <p:cNvSpPr/>
          <p:nvPr/>
        </p:nvSpPr>
        <p:spPr>
          <a:xfrm>
            <a:off x="1408176" y="2743200"/>
            <a:ext cx="457200" cy="457200"/>
          </a:xfrm>
          <a:prstGeom prst="ellipse">
            <a:avLst/>
          </a:prstGeom>
          <a:solidFill>
            <a:srgbClr val="0B1E3F"/>
          </a:solidFill>
          <a:ln w="12700">
            <a:solidFill>
              <a:srgbClr val="0B1E3F"/>
            </a:solidFill>
            <a:prstDash val="solid"/>
          </a:ln>
        </p:spPr>
      </p:sp>
      <p:sp>
        <p:nvSpPr>
          <p:cNvPr id="16" name="Text 14"/>
          <p:cNvSpPr/>
          <p:nvPr/>
        </p:nvSpPr>
        <p:spPr>
          <a:xfrm>
            <a:off x="1408176" y="2743200"/>
            <a:ext cx="457200" cy="457200"/>
          </a:xfrm>
          <a:prstGeom prst="rect">
            <a:avLst/>
          </a:prstGeom>
          <a:noFill/>
          <a:ln/>
        </p:spPr>
        <p:txBody>
          <a:bodyPr wrap="square" rtlCol="0" anchor="ctr"/>
          <a:lstStyle/>
          <a:p>
            <a:pPr algn="ctr" indent="0" marL="0">
              <a:buNone/>
            </a:pPr>
            <a:r>
              <a:rPr lang="en-US" sz="1600" dirty="0">
                <a:solidFill>
                  <a:srgbClr val="1FB8C9"/>
                </a:solidFill>
              </a:rPr>
              <a:t>👤</a:t>
            </a:r>
            <a:endParaRPr lang="en-US" sz="1600" dirty="0"/>
          </a:p>
        </p:txBody>
      </p:sp>
      <p:sp>
        <p:nvSpPr>
          <p:cNvPr id="17" name="Text 15"/>
          <p:cNvSpPr/>
          <p:nvPr/>
        </p:nvSpPr>
        <p:spPr>
          <a:xfrm>
            <a:off x="640080" y="3246120"/>
            <a:ext cx="1993392" cy="274320"/>
          </a:xfrm>
          <a:prstGeom prst="rect">
            <a:avLst/>
          </a:prstGeom>
          <a:noFill/>
          <a:ln/>
        </p:spPr>
        <p:txBody>
          <a:bodyPr wrap="square" rtlCol="0" anchor="ctr"/>
          <a:lstStyle/>
          <a:p>
            <a:pPr algn="ctr" indent="0" marL="0">
              <a:buNone/>
            </a:pPr>
            <a:r>
              <a:rPr lang="en-US" sz="1100" b="1" dirty="0">
                <a:solidFill>
                  <a:srgbClr val="0B1E3F"/>
                </a:solidFill>
                <a:latin typeface="Calibri" pitchFamily="34" charset="0"/>
                <a:ea typeface="Calibri" pitchFamily="34" charset="-122"/>
                <a:cs typeface="Calibri" pitchFamily="34" charset="-120"/>
              </a:rPr>
              <a:t>Customer</a:t>
            </a:r>
            <a:endParaRPr lang="en-US" sz="1100" dirty="0"/>
          </a:p>
        </p:txBody>
      </p:sp>
      <p:sp>
        <p:nvSpPr>
          <p:cNvPr id="18" name="Text 16"/>
          <p:cNvSpPr/>
          <p:nvPr/>
        </p:nvSpPr>
        <p:spPr>
          <a:xfrm>
            <a:off x="731520" y="3520440"/>
            <a:ext cx="1810512" cy="365760"/>
          </a:xfrm>
          <a:prstGeom prst="rect">
            <a:avLst/>
          </a:prstGeom>
          <a:noFill/>
          <a:ln/>
        </p:spPr>
        <p:txBody>
          <a:bodyPr wrap="square" rtlCol="0" anchor="ctr"/>
          <a:lstStyle/>
          <a:p>
            <a:pPr algn="ctr" indent="0" marL="0">
              <a:buNone/>
            </a:pPr>
            <a:r>
              <a:rPr lang="en-US" sz="900" dirty="0">
                <a:solidFill>
                  <a:srgbClr val="5A6B7C"/>
                </a:solidFill>
                <a:latin typeface="Calibri" pitchFamily="34" charset="0"/>
                <a:ea typeface="Calibri" pitchFamily="34" charset="-122"/>
                <a:cs typeface="Calibri" pitchFamily="34" charset="-120"/>
              </a:rPr>
              <a:t>writes in native language</a:t>
            </a:r>
            <a:endParaRPr lang="en-US" sz="900" dirty="0"/>
          </a:p>
        </p:txBody>
      </p:sp>
      <p:sp>
        <p:nvSpPr>
          <p:cNvPr id="19" name="Text 17"/>
          <p:cNvSpPr/>
          <p:nvPr/>
        </p:nvSpPr>
        <p:spPr>
          <a:xfrm>
            <a:off x="2651760" y="3017520"/>
            <a:ext cx="146304" cy="457200"/>
          </a:xfrm>
          <a:prstGeom prst="rect">
            <a:avLst/>
          </a:prstGeom>
          <a:noFill/>
          <a:ln/>
        </p:spPr>
        <p:txBody>
          <a:bodyPr wrap="square" rtlCol="0" anchor="ctr"/>
          <a:lstStyle/>
          <a:p>
            <a:pPr algn="ctr" indent="0" marL="0">
              <a:buNone/>
            </a:pPr>
            <a:r>
              <a:rPr lang="en-US" sz="1400" b="1" dirty="0">
                <a:solidFill>
                  <a:srgbClr val="1FB8C9"/>
                </a:solidFill>
              </a:rPr>
              <a:t>▶</a:t>
            </a:r>
            <a:endParaRPr lang="en-US" sz="1400" dirty="0"/>
          </a:p>
        </p:txBody>
      </p:sp>
      <p:sp>
        <p:nvSpPr>
          <p:cNvPr id="20" name="Shape 18"/>
          <p:cNvSpPr/>
          <p:nvPr/>
        </p:nvSpPr>
        <p:spPr>
          <a:xfrm>
            <a:off x="2816352" y="2560320"/>
            <a:ext cx="1993392" cy="1371600"/>
          </a:xfrm>
          <a:prstGeom prst="roundRect">
            <a:avLst>
              <a:gd name="adj" fmla="val 5333"/>
            </a:avLst>
          </a:prstGeom>
          <a:solidFill>
            <a:srgbClr val="FFFFFF"/>
          </a:solidFill>
          <a:ln w="12700">
            <a:solidFill>
              <a:srgbClr val="0B1E3F"/>
            </a:solidFill>
            <a:prstDash val="solid"/>
          </a:ln>
        </p:spPr>
      </p:sp>
      <p:sp>
        <p:nvSpPr>
          <p:cNvPr id="21" name="Shape 19"/>
          <p:cNvSpPr/>
          <p:nvPr/>
        </p:nvSpPr>
        <p:spPr>
          <a:xfrm>
            <a:off x="3584448" y="2743200"/>
            <a:ext cx="457200" cy="457200"/>
          </a:xfrm>
          <a:prstGeom prst="ellipse">
            <a:avLst/>
          </a:prstGeom>
          <a:solidFill>
            <a:srgbClr val="0B1E3F"/>
          </a:solidFill>
          <a:ln w="12700">
            <a:solidFill>
              <a:srgbClr val="0B1E3F"/>
            </a:solidFill>
            <a:prstDash val="solid"/>
          </a:ln>
        </p:spPr>
      </p:sp>
      <p:sp>
        <p:nvSpPr>
          <p:cNvPr id="22" name="Text 20"/>
          <p:cNvSpPr/>
          <p:nvPr/>
        </p:nvSpPr>
        <p:spPr>
          <a:xfrm>
            <a:off x="3584448" y="2743200"/>
            <a:ext cx="457200" cy="457200"/>
          </a:xfrm>
          <a:prstGeom prst="rect">
            <a:avLst/>
          </a:prstGeom>
          <a:noFill/>
          <a:ln/>
        </p:spPr>
        <p:txBody>
          <a:bodyPr wrap="square" rtlCol="0" anchor="ctr"/>
          <a:lstStyle/>
          <a:p>
            <a:pPr algn="ctr" indent="0" marL="0">
              <a:buNone/>
            </a:pPr>
            <a:r>
              <a:rPr lang="en-US" sz="1600" dirty="0">
                <a:solidFill>
                  <a:srgbClr val="1FB8C9"/>
                </a:solidFill>
              </a:rPr>
              <a:t>🌐</a:t>
            </a:r>
            <a:endParaRPr lang="en-US" sz="1600" dirty="0"/>
          </a:p>
        </p:txBody>
      </p:sp>
      <p:sp>
        <p:nvSpPr>
          <p:cNvPr id="23" name="Text 21"/>
          <p:cNvSpPr/>
          <p:nvPr/>
        </p:nvSpPr>
        <p:spPr>
          <a:xfrm>
            <a:off x="2816352" y="3246120"/>
            <a:ext cx="1993392" cy="274320"/>
          </a:xfrm>
          <a:prstGeom prst="rect">
            <a:avLst/>
          </a:prstGeom>
          <a:noFill/>
          <a:ln/>
        </p:spPr>
        <p:txBody>
          <a:bodyPr wrap="square" rtlCol="0" anchor="ctr"/>
          <a:lstStyle/>
          <a:p>
            <a:pPr algn="ctr" indent="0" marL="0">
              <a:buNone/>
            </a:pPr>
            <a:r>
              <a:rPr lang="en-US" sz="1100" b="1" dirty="0">
                <a:solidFill>
                  <a:srgbClr val="0B1E3F"/>
                </a:solidFill>
                <a:latin typeface="Calibri" pitchFamily="34" charset="0"/>
                <a:ea typeface="Calibri" pitchFamily="34" charset="-122"/>
                <a:cs typeface="Calibri" pitchFamily="34" charset="-120"/>
              </a:rPr>
              <a:t>Detect Lang</a:t>
            </a:r>
            <a:endParaRPr lang="en-US" sz="1100" dirty="0"/>
          </a:p>
        </p:txBody>
      </p:sp>
      <p:sp>
        <p:nvSpPr>
          <p:cNvPr id="24" name="Text 22"/>
          <p:cNvSpPr/>
          <p:nvPr/>
        </p:nvSpPr>
        <p:spPr>
          <a:xfrm>
            <a:off x="2907792" y="3520440"/>
            <a:ext cx="1810512" cy="365760"/>
          </a:xfrm>
          <a:prstGeom prst="rect">
            <a:avLst/>
          </a:prstGeom>
          <a:noFill/>
          <a:ln/>
        </p:spPr>
        <p:txBody>
          <a:bodyPr wrap="square" rtlCol="0" anchor="ctr"/>
          <a:lstStyle/>
          <a:p>
            <a:pPr algn="ctr" indent="0" marL="0">
              <a:buNone/>
            </a:pPr>
            <a:r>
              <a:rPr lang="en-US" sz="900" dirty="0">
                <a:solidFill>
                  <a:srgbClr val="5A6B7C"/>
                </a:solidFill>
                <a:latin typeface="Calibri" pitchFamily="34" charset="0"/>
                <a:ea typeface="Calibri" pitchFamily="34" charset="-122"/>
                <a:cs typeface="Calibri" pitchFamily="34" charset="-120"/>
              </a:rPr>
              <a:t>identify source</a:t>
            </a:r>
            <a:endParaRPr lang="en-US" sz="900" dirty="0"/>
          </a:p>
        </p:txBody>
      </p:sp>
      <p:sp>
        <p:nvSpPr>
          <p:cNvPr id="25" name="Text 23"/>
          <p:cNvSpPr/>
          <p:nvPr/>
        </p:nvSpPr>
        <p:spPr>
          <a:xfrm>
            <a:off x="4828032" y="3017520"/>
            <a:ext cx="146304" cy="457200"/>
          </a:xfrm>
          <a:prstGeom prst="rect">
            <a:avLst/>
          </a:prstGeom>
          <a:noFill/>
          <a:ln/>
        </p:spPr>
        <p:txBody>
          <a:bodyPr wrap="square" rtlCol="0" anchor="ctr"/>
          <a:lstStyle/>
          <a:p>
            <a:pPr algn="ctr" indent="0" marL="0">
              <a:buNone/>
            </a:pPr>
            <a:r>
              <a:rPr lang="en-US" sz="1400" b="1" dirty="0">
                <a:solidFill>
                  <a:srgbClr val="1FB8C9"/>
                </a:solidFill>
              </a:rPr>
              <a:t>▶</a:t>
            </a:r>
            <a:endParaRPr lang="en-US" sz="1400" dirty="0"/>
          </a:p>
        </p:txBody>
      </p:sp>
      <p:sp>
        <p:nvSpPr>
          <p:cNvPr id="26" name="Shape 24"/>
          <p:cNvSpPr/>
          <p:nvPr/>
        </p:nvSpPr>
        <p:spPr>
          <a:xfrm>
            <a:off x="4992624" y="2560320"/>
            <a:ext cx="1993392" cy="1371600"/>
          </a:xfrm>
          <a:prstGeom prst="roundRect">
            <a:avLst>
              <a:gd name="adj" fmla="val 5333"/>
            </a:avLst>
          </a:prstGeom>
          <a:solidFill>
            <a:srgbClr val="FFFFFF"/>
          </a:solidFill>
          <a:ln w="12700">
            <a:solidFill>
              <a:srgbClr val="0B1E3F"/>
            </a:solidFill>
            <a:prstDash val="solid"/>
          </a:ln>
        </p:spPr>
      </p:sp>
      <p:sp>
        <p:nvSpPr>
          <p:cNvPr id="27" name="Shape 25"/>
          <p:cNvSpPr/>
          <p:nvPr/>
        </p:nvSpPr>
        <p:spPr>
          <a:xfrm>
            <a:off x="5760720" y="2743200"/>
            <a:ext cx="457200" cy="457200"/>
          </a:xfrm>
          <a:prstGeom prst="ellipse">
            <a:avLst/>
          </a:prstGeom>
          <a:solidFill>
            <a:srgbClr val="0B1E3F"/>
          </a:solidFill>
          <a:ln w="12700">
            <a:solidFill>
              <a:srgbClr val="0B1E3F"/>
            </a:solidFill>
            <a:prstDash val="solid"/>
          </a:ln>
        </p:spPr>
      </p:sp>
      <p:sp>
        <p:nvSpPr>
          <p:cNvPr id="28" name="Text 26"/>
          <p:cNvSpPr/>
          <p:nvPr/>
        </p:nvSpPr>
        <p:spPr>
          <a:xfrm>
            <a:off x="5760720" y="2743200"/>
            <a:ext cx="457200" cy="457200"/>
          </a:xfrm>
          <a:prstGeom prst="rect">
            <a:avLst/>
          </a:prstGeom>
          <a:noFill/>
          <a:ln/>
        </p:spPr>
        <p:txBody>
          <a:bodyPr wrap="square" rtlCol="0" anchor="ctr"/>
          <a:lstStyle/>
          <a:p>
            <a:pPr algn="ctr" indent="0" marL="0">
              <a:buNone/>
            </a:pPr>
            <a:r>
              <a:rPr lang="en-US" sz="1600" dirty="0">
                <a:solidFill>
                  <a:srgbClr val="1FB8C9"/>
                </a:solidFill>
              </a:rPr>
              <a:t>🔒</a:t>
            </a:r>
            <a:endParaRPr lang="en-US" sz="1600" dirty="0"/>
          </a:p>
        </p:txBody>
      </p:sp>
      <p:sp>
        <p:nvSpPr>
          <p:cNvPr id="29" name="Text 27"/>
          <p:cNvSpPr/>
          <p:nvPr/>
        </p:nvSpPr>
        <p:spPr>
          <a:xfrm>
            <a:off x="4992624" y="3246120"/>
            <a:ext cx="1993392" cy="274320"/>
          </a:xfrm>
          <a:prstGeom prst="rect">
            <a:avLst/>
          </a:prstGeom>
          <a:noFill/>
          <a:ln/>
        </p:spPr>
        <p:txBody>
          <a:bodyPr wrap="square" rtlCol="0" anchor="ctr"/>
          <a:lstStyle/>
          <a:p>
            <a:pPr algn="ctr" indent="0" marL="0">
              <a:buNone/>
            </a:pPr>
            <a:r>
              <a:rPr lang="en-US" sz="1100" b="1" dirty="0">
                <a:solidFill>
                  <a:srgbClr val="0B1E3F"/>
                </a:solidFill>
                <a:latin typeface="Calibri" pitchFamily="34" charset="0"/>
                <a:ea typeface="Calibri" pitchFamily="34" charset="-122"/>
                <a:cs typeface="Calibri" pitchFamily="34" charset="-120"/>
              </a:rPr>
              <a:t>Mask Terms</a:t>
            </a:r>
            <a:endParaRPr lang="en-US" sz="1100" dirty="0"/>
          </a:p>
        </p:txBody>
      </p:sp>
      <p:sp>
        <p:nvSpPr>
          <p:cNvPr id="30" name="Text 28"/>
          <p:cNvSpPr/>
          <p:nvPr/>
        </p:nvSpPr>
        <p:spPr>
          <a:xfrm>
            <a:off x="5084064" y="3520440"/>
            <a:ext cx="1810512" cy="365760"/>
          </a:xfrm>
          <a:prstGeom prst="rect">
            <a:avLst/>
          </a:prstGeom>
          <a:noFill/>
          <a:ln/>
        </p:spPr>
        <p:txBody>
          <a:bodyPr wrap="square" rtlCol="0" anchor="ctr"/>
          <a:lstStyle/>
          <a:p>
            <a:pPr algn="ctr" indent="0" marL="0">
              <a:buNone/>
            </a:pPr>
            <a:r>
              <a:rPr lang="en-US" sz="900" dirty="0">
                <a:solidFill>
                  <a:srgbClr val="5A6B7C"/>
                </a:solidFill>
                <a:latin typeface="Calibri" pitchFamily="34" charset="0"/>
                <a:ea typeface="Calibri" pitchFamily="34" charset="-122"/>
                <a:cs typeface="Calibri" pitchFamily="34" charset="-120"/>
              </a:rPr>
              <a:t>protect glossary</a:t>
            </a:r>
            <a:endParaRPr lang="en-US" sz="900" dirty="0"/>
          </a:p>
        </p:txBody>
      </p:sp>
      <p:sp>
        <p:nvSpPr>
          <p:cNvPr id="31" name="Text 29"/>
          <p:cNvSpPr/>
          <p:nvPr/>
        </p:nvSpPr>
        <p:spPr>
          <a:xfrm>
            <a:off x="7004304" y="3017520"/>
            <a:ext cx="146304" cy="457200"/>
          </a:xfrm>
          <a:prstGeom prst="rect">
            <a:avLst/>
          </a:prstGeom>
          <a:noFill/>
          <a:ln/>
        </p:spPr>
        <p:txBody>
          <a:bodyPr wrap="square" rtlCol="0" anchor="ctr"/>
          <a:lstStyle/>
          <a:p>
            <a:pPr algn="ctr" indent="0" marL="0">
              <a:buNone/>
            </a:pPr>
            <a:r>
              <a:rPr lang="en-US" sz="1400" b="1" dirty="0">
                <a:solidFill>
                  <a:srgbClr val="1FB8C9"/>
                </a:solidFill>
              </a:rPr>
              <a:t>▶</a:t>
            </a:r>
            <a:endParaRPr lang="en-US" sz="1400" dirty="0"/>
          </a:p>
        </p:txBody>
      </p:sp>
      <p:sp>
        <p:nvSpPr>
          <p:cNvPr id="32" name="Shape 30"/>
          <p:cNvSpPr/>
          <p:nvPr/>
        </p:nvSpPr>
        <p:spPr>
          <a:xfrm>
            <a:off x="7168896" y="2560320"/>
            <a:ext cx="1993392" cy="1371600"/>
          </a:xfrm>
          <a:prstGeom prst="roundRect">
            <a:avLst>
              <a:gd name="adj" fmla="val 5333"/>
            </a:avLst>
          </a:prstGeom>
          <a:solidFill>
            <a:srgbClr val="FFFFFF"/>
          </a:solidFill>
          <a:ln w="12700">
            <a:solidFill>
              <a:srgbClr val="0B1E3F"/>
            </a:solidFill>
            <a:prstDash val="solid"/>
          </a:ln>
        </p:spPr>
      </p:sp>
      <p:sp>
        <p:nvSpPr>
          <p:cNvPr id="33" name="Shape 31"/>
          <p:cNvSpPr/>
          <p:nvPr/>
        </p:nvSpPr>
        <p:spPr>
          <a:xfrm>
            <a:off x="7936992" y="2743200"/>
            <a:ext cx="457200" cy="457200"/>
          </a:xfrm>
          <a:prstGeom prst="ellipse">
            <a:avLst/>
          </a:prstGeom>
          <a:solidFill>
            <a:srgbClr val="0B1E3F"/>
          </a:solidFill>
          <a:ln w="12700">
            <a:solidFill>
              <a:srgbClr val="0B1E3F"/>
            </a:solidFill>
            <a:prstDash val="solid"/>
          </a:ln>
        </p:spPr>
      </p:sp>
      <p:sp>
        <p:nvSpPr>
          <p:cNvPr id="34" name="Text 32"/>
          <p:cNvSpPr/>
          <p:nvPr/>
        </p:nvSpPr>
        <p:spPr>
          <a:xfrm>
            <a:off x="7936992" y="2743200"/>
            <a:ext cx="457200" cy="457200"/>
          </a:xfrm>
          <a:prstGeom prst="rect">
            <a:avLst/>
          </a:prstGeom>
          <a:noFill/>
          <a:ln/>
        </p:spPr>
        <p:txBody>
          <a:bodyPr wrap="square" rtlCol="0" anchor="ctr"/>
          <a:lstStyle/>
          <a:p>
            <a:pPr algn="ctr" indent="0" marL="0">
              <a:buNone/>
            </a:pPr>
            <a:r>
              <a:rPr lang="en-US" sz="1600" dirty="0">
                <a:solidFill>
                  <a:srgbClr val="1FB8C9"/>
                </a:solidFill>
              </a:rPr>
              <a:t>🔁</a:t>
            </a:r>
            <a:endParaRPr lang="en-US" sz="1600" dirty="0"/>
          </a:p>
        </p:txBody>
      </p:sp>
      <p:sp>
        <p:nvSpPr>
          <p:cNvPr id="35" name="Text 33"/>
          <p:cNvSpPr/>
          <p:nvPr/>
        </p:nvSpPr>
        <p:spPr>
          <a:xfrm>
            <a:off x="7168896" y="3246120"/>
            <a:ext cx="1993392" cy="274320"/>
          </a:xfrm>
          <a:prstGeom prst="rect">
            <a:avLst/>
          </a:prstGeom>
          <a:noFill/>
          <a:ln/>
        </p:spPr>
        <p:txBody>
          <a:bodyPr wrap="square" rtlCol="0" anchor="ctr"/>
          <a:lstStyle/>
          <a:p>
            <a:pPr algn="ctr" indent="0" marL="0">
              <a:buNone/>
            </a:pPr>
            <a:r>
              <a:rPr lang="en-US" sz="1100" b="1" dirty="0">
                <a:solidFill>
                  <a:srgbClr val="0B1E3F"/>
                </a:solidFill>
                <a:latin typeface="Calibri" pitchFamily="34" charset="0"/>
                <a:ea typeface="Calibri" pitchFamily="34" charset="-122"/>
                <a:cs typeface="Calibri" pitchFamily="34" charset="-120"/>
              </a:rPr>
              <a:t>Translate</a:t>
            </a:r>
            <a:endParaRPr lang="en-US" sz="1100" dirty="0"/>
          </a:p>
        </p:txBody>
      </p:sp>
      <p:sp>
        <p:nvSpPr>
          <p:cNvPr id="36" name="Text 34"/>
          <p:cNvSpPr/>
          <p:nvPr/>
        </p:nvSpPr>
        <p:spPr>
          <a:xfrm>
            <a:off x="7260336" y="3520440"/>
            <a:ext cx="1810512" cy="365760"/>
          </a:xfrm>
          <a:prstGeom prst="rect">
            <a:avLst/>
          </a:prstGeom>
          <a:noFill/>
          <a:ln/>
        </p:spPr>
        <p:txBody>
          <a:bodyPr wrap="square" rtlCol="0" anchor="ctr"/>
          <a:lstStyle/>
          <a:p>
            <a:pPr algn="ctr" indent="0" marL="0">
              <a:buNone/>
            </a:pPr>
            <a:r>
              <a:rPr lang="en-US" sz="900" dirty="0">
                <a:solidFill>
                  <a:srgbClr val="5A6B7C"/>
                </a:solidFill>
                <a:latin typeface="Calibri" pitchFamily="34" charset="0"/>
                <a:ea typeface="Calibri" pitchFamily="34" charset="-122"/>
                <a:cs typeface="Calibri" pitchFamily="34" charset="-120"/>
              </a:rPr>
              <a:t>to English</a:t>
            </a:r>
            <a:endParaRPr lang="en-US" sz="900" dirty="0"/>
          </a:p>
        </p:txBody>
      </p:sp>
      <p:sp>
        <p:nvSpPr>
          <p:cNvPr id="37" name="Text 35"/>
          <p:cNvSpPr/>
          <p:nvPr/>
        </p:nvSpPr>
        <p:spPr>
          <a:xfrm>
            <a:off x="9180576" y="3017520"/>
            <a:ext cx="146304" cy="457200"/>
          </a:xfrm>
          <a:prstGeom prst="rect">
            <a:avLst/>
          </a:prstGeom>
          <a:noFill/>
          <a:ln/>
        </p:spPr>
        <p:txBody>
          <a:bodyPr wrap="square" rtlCol="0" anchor="ctr"/>
          <a:lstStyle/>
          <a:p>
            <a:pPr algn="ctr" indent="0" marL="0">
              <a:buNone/>
            </a:pPr>
            <a:r>
              <a:rPr lang="en-US" sz="1400" b="1" dirty="0">
                <a:solidFill>
                  <a:srgbClr val="1FB8C9"/>
                </a:solidFill>
              </a:rPr>
              <a:t>▶</a:t>
            </a:r>
            <a:endParaRPr lang="en-US" sz="1400" dirty="0"/>
          </a:p>
        </p:txBody>
      </p:sp>
      <p:sp>
        <p:nvSpPr>
          <p:cNvPr id="38" name="Shape 36"/>
          <p:cNvSpPr/>
          <p:nvPr/>
        </p:nvSpPr>
        <p:spPr>
          <a:xfrm>
            <a:off x="9345168" y="2560320"/>
            <a:ext cx="1993392" cy="1371600"/>
          </a:xfrm>
          <a:prstGeom prst="roundRect">
            <a:avLst>
              <a:gd name="adj" fmla="val 5333"/>
            </a:avLst>
          </a:prstGeom>
          <a:solidFill>
            <a:srgbClr val="1FB8C9"/>
          </a:solidFill>
          <a:ln w="12700">
            <a:solidFill>
              <a:srgbClr val="0B1E3F"/>
            </a:solidFill>
            <a:prstDash val="solid"/>
          </a:ln>
        </p:spPr>
      </p:sp>
      <p:sp>
        <p:nvSpPr>
          <p:cNvPr id="39" name="Shape 37"/>
          <p:cNvSpPr/>
          <p:nvPr/>
        </p:nvSpPr>
        <p:spPr>
          <a:xfrm>
            <a:off x="10113264" y="2743200"/>
            <a:ext cx="457200" cy="457200"/>
          </a:xfrm>
          <a:prstGeom prst="ellipse">
            <a:avLst/>
          </a:prstGeom>
          <a:solidFill>
            <a:srgbClr val="0B1E3F"/>
          </a:solidFill>
          <a:ln w="12700">
            <a:solidFill>
              <a:srgbClr val="0B1E3F"/>
            </a:solidFill>
            <a:prstDash val="solid"/>
          </a:ln>
        </p:spPr>
      </p:sp>
      <p:sp>
        <p:nvSpPr>
          <p:cNvPr id="40" name="Text 38"/>
          <p:cNvSpPr/>
          <p:nvPr/>
        </p:nvSpPr>
        <p:spPr>
          <a:xfrm>
            <a:off x="10113264" y="2743200"/>
            <a:ext cx="457200" cy="457200"/>
          </a:xfrm>
          <a:prstGeom prst="rect">
            <a:avLst/>
          </a:prstGeom>
          <a:noFill/>
          <a:ln/>
        </p:spPr>
        <p:txBody>
          <a:bodyPr wrap="square" rtlCol="0" anchor="ctr"/>
          <a:lstStyle/>
          <a:p>
            <a:pPr algn="ctr" indent="0" marL="0">
              <a:buNone/>
            </a:pPr>
            <a:r>
              <a:rPr lang="en-US" sz="1600" dirty="0">
                <a:solidFill>
                  <a:srgbClr val="1FB8C9"/>
                </a:solidFill>
              </a:rPr>
              <a:t>👨‍💻</a:t>
            </a:r>
            <a:endParaRPr lang="en-US" sz="1600" dirty="0"/>
          </a:p>
        </p:txBody>
      </p:sp>
      <p:sp>
        <p:nvSpPr>
          <p:cNvPr id="41" name="Text 39"/>
          <p:cNvSpPr/>
          <p:nvPr/>
        </p:nvSpPr>
        <p:spPr>
          <a:xfrm>
            <a:off x="9345168" y="3246120"/>
            <a:ext cx="1993392"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Engineer</a:t>
            </a:r>
            <a:endParaRPr lang="en-US" sz="1100" dirty="0"/>
          </a:p>
        </p:txBody>
      </p:sp>
      <p:sp>
        <p:nvSpPr>
          <p:cNvPr id="42" name="Text 40"/>
          <p:cNvSpPr/>
          <p:nvPr/>
        </p:nvSpPr>
        <p:spPr>
          <a:xfrm>
            <a:off x="9436608" y="3520440"/>
            <a:ext cx="1810512" cy="365760"/>
          </a:xfrm>
          <a:prstGeom prst="rect">
            <a:avLst/>
          </a:prstGeom>
          <a:noFill/>
          <a:ln/>
        </p:spPr>
        <p:txBody>
          <a:bodyPr wrap="square" rtlCol="0" anchor="ctr"/>
          <a:lstStyle/>
          <a:p>
            <a:pPr algn="ctr" indent="0" marL="0">
              <a:buNone/>
            </a:pPr>
            <a:r>
              <a:rPr lang="en-US" sz="900" dirty="0">
                <a:solidFill>
                  <a:srgbClr val="E6EEF9"/>
                </a:solidFill>
                <a:latin typeface="Calibri" pitchFamily="34" charset="0"/>
                <a:ea typeface="Calibri" pitchFamily="34" charset="-122"/>
                <a:cs typeface="Calibri" pitchFamily="34" charset="-120"/>
              </a:rPr>
              <a:t>reads clean ticket</a:t>
            </a:r>
            <a:endParaRPr lang="en-US" sz="900" dirty="0"/>
          </a:p>
        </p:txBody>
      </p:sp>
      <p:sp>
        <p:nvSpPr>
          <p:cNvPr id="43" name="Shape 41"/>
          <p:cNvSpPr/>
          <p:nvPr/>
        </p:nvSpPr>
        <p:spPr>
          <a:xfrm>
            <a:off x="457200" y="4297680"/>
            <a:ext cx="11247120" cy="411480"/>
          </a:xfrm>
          <a:prstGeom prst="rect">
            <a:avLst/>
          </a:prstGeom>
          <a:solidFill>
            <a:srgbClr val="0B1E3F"/>
          </a:solidFill>
          <a:ln w="12700">
            <a:solidFill>
              <a:srgbClr val="0B1E3F"/>
            </a:solidFill>
            <a:prstDash val="solid"/>
          </a:ln>
        </p:spPr>
      </p:sp>
      <p:sp>
        <p:nvSpPr>
          <p:cNvPr id="44" name="Text 42"/>
          <p:cNvSpPr/>
          <p:nvPr/>
        </p:nvSpPr>
        <p:spPr>
          <a:xfrm>
            <a:off x="640080" y="4297680"/>
            <a:ext cx="7315200" cy="411480"/>
          </a:xfrm>
          <a:prstGeom prst="rect">
            <a:avLst/>
          </a:prstGeom>
          <a:noFill/>
          <a:ln/>
        </p:spPr>
        <p:txBody>
          <a:bodyPr wrap="square" rtlCol="0" anchor="ctr"/>
          <a:lstStyle/>
          <a:p>
            <a:pPr indent="0" marL="0">
              <a:buNone/>
            </a:pPr>
            <a:r>
              <a:rPr lang="en-US" sz="1100" b="1" spc="400" kern="0" dirty="0">
                <a:solidFill>
                  <a:srgbClr val="FFFFFF"/>
                </a:solidFill>
                <a:latin typeface="Calibri" pitchFamily="34" charset="0"/>
                <a:ea typeface="Calibri" pitchFamily="34" charset="-122"/>
                <a:cs typeface="Calibri" pitchFamily="34" charset="-120"/>
              </a:rPr>
              <a:t>ENGINEER → CUSTOMER  ·  Outbound</a:t>
            </a:r>
            <a:endParaRPr lang="en-US" sz="1100" dirty="0"/>
          </a:p>
        </p:txBody>
      </p:sp>
      <p:sp>
        <p:nvSpPr>
          <p:cNvPr id="45" name="Shape 43"/>
          <p:cNvSpPr/>
          <p:nvPr/>
        </p:nvSpPr>
        <p:spPr>
          <a:xfrm>
            <a:off x="457200" y="4297680"/>
            <a:ext cx="73152" cy="411480"/>
          </a:xfrm>
          <a:prstGeom prst="rect">
            <a:avLst/>
          </a:prstGeom>
          <a:solidFill>
            <a:srgbClr val="6C7BFF"/>
          </a:solidFill>
          <a:ln w="12700">
            <a:solidFill>
              <a:srgbClr val="6C7BFF"/>
            </a:solidFill>
            <a:prstDash val="solid"/>
          </a:ln>
        </p:spPr>
      </p:sp>
      <p:sp>
        <p:nvSpPr>
          <p:cNvPr id="46" name="Shape 44"/>
          <p:cNvSpPr/>
          <p:nvPr/>
        </p:nvSpPr>
        <p:spPr>
          <a:xfrm>
            <a:off x="640080" y="4937760"/>
            <a:ext cx="1993392" cy="1371600"/>
          </a:xfrm>
          <a:prstGeom prst="roundRect">
            <a:avLst>
              <a:gd name="adj" fmla="val 5333"/>
            </a:avLst>
          </a:prstGeom>
          <a:solidFill>
            <a:srgbClr val="F4F7FB"/>
          </a:solidFill>
          <a:ln w="12700">
            <a:solidFill>
              <a:srgbClr val="0B1E3F"/>
            </a:solidFill>
            <a:prstDash val="solid"/>
          </a:ln>
        </p:spPr>
      </p:sp>
      <p:sp>
        <p:nvSpPr>
          <p:cNvPr id="47" name="Shape 45"/>
          <p:cNvSpPr/>
          <p:nvPr/>
        </p:nvSpPr>
        <p:spPr>
          <a:xfrm>
            <a:off x="1408176" y="5120640"/>
            <a:ext cx="457200" cy="457200"/>
          </a:xfrm>
          <a:prstGeom prst="ellipse">
            <a:avLst/>
          </a:prstGeom>
          <a:solidFill>
            <a:srgbClr val="0B1E3F"/>
          </a:solidFill>
          <a:ln w="12700">
            <a:solidFill>
              <a:srgbClr val="0B1E3F"/>
            </a:solidFill>
            <a:prstDash val="solid"/>
          </a:ln>
        </p:spPr>
      </p:sp>
      <p:sp>
        <p:nvSpPr>
          <p:cNvPr id="48" name="Text 46"/>
          <p:cNvSpPr/>
          <p:nvPr/>
        </p:nvSpPr>
        <p:spPr>
          <a:xfrm>
            <a:off x="1408176" y="5120640"/>
            <a:ext cx="457200" cy="457200"/>
          </a:xfrm>
          <a:prstGeom prst="rect">
            <a:avLst/>
          </a:prstGeom>
          <a:noFill/>
          <a:ln/>
        </p:spPr>
        <p:txBody>
          <a:bodyPr wrap="square" rtlCol="0" anchor="ctr"/>
          <a:lstStyle/>
          <a:p>
            <a:pPr algn="ctr" indent="0" marL="0">
              <a:buNone/>
            </a:pPr>
            <a:r>
              <a:rPr lang="en-US" sz="1600" dirty="0">
                <a:solidFill>
                  <a:srgbClr val="1FB8C9"/>
                </a:solidFill>
              </a:rPr>
              <a:t>👨‍💻</a:t>
            </a:r>
            <a:endParaRPr lang="en-US" sz="1600" dirty="0"/>
          </a:p>
        </p:txBody>
      </p:sp>
      <p:sp>
        <p:nvSpPr>
          <p:cNvPr id="49" name="Text 47"/>
          <p:cNvSpPr/>
          <p:nvPr/>
        </p:nvSpPr>
        <p:spPr>
          <a:xfrm>
            <a:off x="640080" y="5623560"/>
            <a:ext cx="1993392" cy="274320"/>
          </a:xfrm>
          <a:prstGeom prst="rect">
            <a:avLst/>
          </a:prstGeom>
          <a:noFill/>
          <a:ln/>
        </p:spPr>
        <p:txBody>
          <a:bodyPr wrap="square" rtlCol="0" anchor="ctr"/>
          <a:lstStyle/>
          <a:p>
            <a:pPr algn="ctr" indent="0" marL="0">
              <a:buNone/>
            </a:pPr>
            <a:r>
              <a:rPr lang="en-US" sz="1100" b="1" dirty="0">
                <a:solidFill>
                  <a:srgbClr val="0B1E3F"/>
                </a:solidFill>
                <a:latin typeface="Calibri" pitchFamily="34" charset="0"/>
                <a:ea typeface="Calibri" pitchFamily="34" charset="-122"/>
                <a:cs typeface="Calibri" pitchFamily="34" charset="-120"/>
              </a:rPr>
              <a:t>Engineer</a:t>
            </a:r>
            <a:endParaRPr lang="en-US" sz="1100" dirty="0"/>
          </a:p>
        </p:txBody>
      </p:sp>
      <p:sp>
        <p:nvSpPr>
          <p:cNvPr id="50" name="Text 48"/>
          <p:cNvSpPr/>
          <p:nvPr/>
        </p:nvSpPr>
        <p:spPr>
          <a:xfrm>
            <a:off x="731520" y="5897880"/>
            <a:ext cx="1810512" cy="365760"/>
          </a:xfrm>
          <a:prstGeom prst="rect">
            <a:avLst/>
          </a:prstGeom>
          <a:noFill/>
          <a:ln/>
        </p:spPr>
        <p:txBody>
          <a:bodyPr wrap="square" rtlCol="0" anchor="ctr"/>
          <a:lstStyle/>
          <a:p>
            <a:pPr algn="ctr" indent="0" marL="0">
              <a:buNone/>
            </a:pPr>
            <a:r>
              <a:rPr lang="en-US" sz="900" dirty="0">
                <a:solidFill>
                  <a:srgbClr val="5A6B7C"/>
                </a:solidFill>
                <a:latin typeface="Calibri" pitchFamily="34" charset="0"/>
                <a:ea typeface="Calibri" pitchFamily="34" charset="-122"/>
                <a:cs typeface="Calibri" pitchFamily="34" charset="-120"/>
              </a:rPr>
              <a:t>replies in English</a:t>
            </a:r>
            <a:endParaRPr lang="en-US" sz="900" dirty="0"/>
          </a:p>
        </p:txBody>
      </p:sp>
      <p:sp>
        <p:nvSpPr>
          <p:cNvPr id="51" name="Text 49"/>
          <p:cNvSpPr/>
          <p:nvPr/>
        </p:nvSpPr>
        <p:spPr>
          <a:xfrm>
            <a:off x="2651760" y="5394960"/>
            <a:ext cx="146304" cy="457200"/>
          </a:xfrm>
          <a:prstGeom prst="rect">
            <a:avLst/>
          </a:prstGeom>
          <a:noFill/>
          <a:ln/>
        </p:spPr>
        <p:txBody>
          <a:bodyPr wrap="square" rtlCol="0" anchor="ctr"/>
          <a:lstStyle/>
          <a:p>
            <a:pPr algn="ctr" indent="0" marL="0">
              <a:buNone/>
            </a:pPr>
            <a:r>
              <a:rPr lang="en-US" sz="1400" b="1" dirty="0">
                <a:solidFill>
                  <a:srgbClr val="1FB8C9"/>
                </a:solidFill>
              </a:rPr>
              <a:t>▶</a:t>
            </a:r>
            <a:endParaRPr lang="en-US" sz="1400" dirty="0"/>
          </a:p>
        </p:txBody>
      </p:sp>
      <p:sp>
        <p:nvSpPr>
          <p:cNvPr id="52" name="Shape 50"/>
          <p:cNvSpPr/>
          <p:nvPr/>
        </p:nvSpPr>
        <p:spPr>
          <a:xfrm>
            <a:off x="2816352" y="4937760"/>
            <a:ext cx="1993392" cy="1371600"/>
          </a:xfrm>
          <a:prstGeom prst="roundRect">
            <a:avLst>
              <a:gd name="adj" fmla="val 5333"/>
            </a:avLst>
          </a:prstGeom>
          <a:solidFill>
            <a:srgbClr val="FFFFFF"/>
          </a:solidFill>
          <a:ln w="12700">
            <a:solidFill>
              <a:srgbClr val="0B1E3F"/>
            </a:solidFill>
            <a:prstDash val="solid"/>
          </a:ln>
        </p:spPr>
      </p:sp>
      <p:sp>
        <p:nvSpPr>
          <p:cNvPr id="53" name="Shape 51"/>
          <p:cNvSpPr/>
          <p:nvPr/>
        </p:nvSpPr>
        <p:spPr>
          <a:xfrm>
            <a:off x="3584448" y="5120640"/>
            <a:ext cx="457200" cy="457200"/>
          </a:xfrm>
          <a:prstGeom prst="ellipse">
            <a:avLst/>
          </a:prstGeom>
          <a:solidFill>
            <a:srgbClr val="0B1E3F"/>
          </a:solidFill>
          <a:ln w="12700">
            <a:solidFill>
              <a:srgbClr val="0B1E3F"/>
            </a:solidFill>
            <a:prstDash val="solid"/>
          </a:ln>
        </p:spPr>
      </p:sp>
      <p:sp>
        <p:nvSpPr>
          <p:cNvPr id="54" name="Text 52"/>
          <p:cNvSpPr/>
          <p:nvPr/>
        </p:nvSpPr>
        <p:spPr>
          <a:xfrm>
            <a:off x="3584448" y="5120640"/>
            <a:ext cx="457200" cy="457200"/>
          </a:xfrm>
          <a:prstGeom prst="rect">
            <a:avLst/>
          </a:prstGeom>
          <a:noFill/>
          <a:ln/>
        </p:spPr>
        <p:txBody>
          <a:bodyPr wrap="square" rtlCol="0" anchor="ctr"/>
          <a:lstStyle/>
          <a:p>
            <a:pPr algn="ctr" indent="0" marL="0">
              <a:buNone/>
            </a:pPr>
            <a:r>
              <a:rPr lang="en-US" sz="1600" dirty="0">
                <a:solidFill>
                  <a:srgbClr val="1FB8C9"/>
                </a:solidFill>
              </a:rPr>
              <a:t>🔒</a:t>
            </a:r>
            <a:endParaRPr lang="en-US" sz="1600" dirty="0"/>
          </a:p>
        </p:txBody>
      </p:sp>
      <p:sp>
        <p:nvSpPr>
          <p:cNvPr id="55" name="Text 53"/>
          <p:cNvSpPr/>
          <p:nvPr/>
        </p:nvSpPr>
        <p:spPr>
          <a:xfrm>
            <a:off x="2816352" y="5623560"/>
            <a:ext cx="1993392" cy="274320"/>
          </a:xfrm>
          <a:prstGeom prst="rect">
            <a:avLst/>
          </a:prstGeom>
          <a:noFill/>
          <a:ln/>
        </p:spPr>
        <p:txBody>
          <a:bodyPr wrap="square" rtlCol="0" anchor="ctr"/>
          <a:lstStyle/>
          <a:p>
            <a:pPr algn="ctr" indent="0" marL="0">
              <a:buNone/>
            </a:pPr>
            <a:r>
              <a:rPr lang="en-US" sz="1100" b="1" dirty="0">
                <a:solidFill>
                  <a:srgbClr val="0B1E3F"/>
                </a:solidFill>
                <a:latin typeface="Calibri" pitchFamily="34" charset="0"/>
                <a:ea typeface="Calibri" pitchFamily="34" charset="-122"/>
                <a:cs typeface="Calibri" pitchFamily="34" charset="-120"/>
              </a:rPr>
              <a:t>Mask Terms</a:t>
            </a:r>
            <a:endParaRPr lang="en-US" sz="1100" dirty="0"/>
          </a:p>
        </p:txBody>
      </p:sp>
      <p:sp>
        <p:nvSpPr>
          <p:cNvPr id="56" name="Text 54"/>
          <p:cNvSpPr/>
          <p:nvPr/>
        </p:nvSpPr>
        <p:spPr>
          <a:xfrm>
            <a:off x="2907792" y="5897880"/>
            <a:ext cx="1810512" cy="365760"/>
          </a:xfrm>
          <a:prstGeom prst="rect">
            <a:avLst/>
          </a:prstGeom>
          <a:noFill/>
          <a:ln/>
        </p:spPr>
        <p:txBody>
          <a:bodyPr wrap="square" rtlCol="0" anchor="ctr"/>
          <a:lstStyle/>
          <a:p>
            <a:pPr algn="ctr" indent="0" marL="0">
              <a:buNone/>
            </a:pPr>
            <a:r>
              <a:rPr lang="en-US" sz="900" dirty="0">
                <a:solidFill>
                  <a:srgbClr val="5A6B7C"/>
                </a:solidFill>
                <a:latin typeface="Calibri" pitchFamily="34" charset="0"/>
                <a:ea typeface="Calibri" pitchFamily="34" charset="-122"/>
                <a:cs typeface="Calibri" pitchFamily="34" charset="-120"/>
              </a:rPr>
              <a:t>protect glossary</a:t>
            </a:r>
            <a:endParaRPr lang="en-US" sz="900" dirty="0"/>
          </a:p>
        </p:txBody>
      </p:sp>
      <p:sp>
        <p:nvSpPr>
          <p:cNvPr id="57" name="Text 55"/>
          <p:cNvSpPr/>
          <p:nvPr/>
        </p:nvSpPr>
        <p:spPr>
          <a:xfrm>
            <a:off x="4828032" y="5394960"/>
            <a:ext cx="146304" cy="457200"/>
          </a:xfrm>
          <a:prstGeom prst="rect">
            <a:avLst/>
          </a:prstGeom>
          <a:noFill/>
          <a:ln/>
        </p:spPr>
        <p:txBody>
          <a:bodyPr wrap="square" rtlCol="0" anchor="ctr"/>
          <a:lstStyle/>
          <a:p>
            <a:pPr algn="ctr" indent="0" marL="0">
              <a:buNone/>
            </a:pPr>
            <a:r>
              <a:rPr lang="en-US" sz="1400" b="1" dirty="0">
                <a:solidFill>
                  <a:srgbClr val="1FB8C9"/>
                </a:solidFill>
              </a:rPr>
              <a:t>▶</a:t>
            </a:r>
            <a:endParaRPr lang="en-US" sz="1400" dirty="0"/>
          </a:p>
        </p:txBody>
      </p:sp>
      <p:sp>
        <p:nvSpPr>
          <p:cNvPr id="58" name="Shape 56"/>
          <p:cNvSpPr/>
          <p:nvPr/>
        </p:nvSpPr>
        <p:spPr>
          <a:xfrm>
            <a:off x="4992624" y="4937760"/>
            <a:ext cx="1993392" cy="1371600"/>
          </a:xfrm>
          <a:prstGeom prst="roundRect">
            <a:avLst>
              <a:gd name="adj" fmla="val 5333"/>
            </a:avLst>
          </a:prstGeom>
          <a:solidFill>
            <a:srgbClr val="FFFFFF"/>
          </a:solidFill>
          <a:ln w="12700">
            <a:solidFill>
              <a:srgbClr val="0B1E3F"/>
            </a:solidFill>
            <a:prstDash val="solid"/>
          </a:ln>
        </p:spPr>
      </p:sp>
      <p:sp>
        <p:nvSpPr>
          <p:cNvPr id="59" name="Shape 57"/>
          <p:cNvSpPr/>
          <p:nvPr/>
        </p:nvSpPr>
        <p:spPr>
          <a:xfrm>
            <a:off x="5760720" y="5120640"/>
            <a:ext cx="457200" cy="457200"/>
          </a:xfrm>
          <a:prstGeom prst="ellipse">
            <a:avLst/>
          </a:prstGeom>
          <a:solidFill>
            <a:srgbClr val="0B1E3F"/>
          </a:solidFill>
          <a:ln w="12700">
            <a:solidFill>
              <a:srgbClr val="0B1E3F"/>
            </a:solidFill>
            <a:prstDash val="solid"/>
          </a:ln>
        </p:spPr>
      </p:sp>
      <p:sp>
        <p:nvSpPr>
          <p:cNvPr id="60" name="Text 58"/>
          <p:cNvSpPr/>
          <p:nvPr/>
        </p:nvSpPr>
        <p:spPr>
          <a:xfrm>
            <a:off x="5760720" y="5120640"/>
            <a:ext cx="457200" cy="457200"/>
          </a:xfrm>
          <a:prstGeom prst="rect">
            <a:avLst/>
          </a:prstGeom>
          <a:noFill/>
          <a:ln/>
        </p:spPr>
        <p:txBody>
          <a:bodyPr wrap="square" rtlCol="0" anchor="ctr"/>
          <a:lstStyle/>
          <a:p>
            <a:pPr algn="ctr" indent="0" marL="0">
              <a:buNone/>
            </a:pPr>
            <a:r>
              <a:rPr lang="en-US" sz="1600" dirty="0">
                <a:solidFill>
                  <a:srgbClr val="1FB8C9"/>
                </a:solidFill>
              </a:rPr>
              <a:t>🔁</a:t>
            </a:r>
            <a:endParaRPr lang="en-US" sz="1600" dirty="0"/>
          </a:p>
        </p:txBody>
      </p:sp>
      <p:sp>
        <p:nvSpPr>
          <p:cNvPr id="61" name="Text 59"/>
          <p:cNvSpPr/>
          <p:nvPr/>
        </p:nvSpPr>
        <p:spPr>
          <a:xfrm>
            <a:off x="4992624" y="5623560"/>
            <a:ext cx="1993392" cy="274320"/>
          </a:xfrm>
          <a:prstGeom prst="rect">
            <a:avLst/>
          </a:prstGeom>
          <a:noFill/>
          <a:ln/>
        </p:spPr>
        <p:txBody>
          <a:bodyPr wrap="square" rtlCol="0" anchor="ctr"/>
          <a:lstStyle/>
          <a:p>
            <a:pPr algn="ctr" indent="0" marL="0">
              <a:buNone/>
            </a:pPr>
            <a:r>
              <a:rPr lang="en-US" sz="1100" b="1" dirty="0">
                <a:solidFill>
                  <a:srgbClr val="0B1E3F"/>
                </a:solidFill>
                <a:latin typeface="Calibri" pitchFamily="34" charset="0"/>
                <a:ea typeface="Calibri" pitchFamily="34" charset="-122"/>
                <a:cs typeface="Calibri" pitchFamily="34" charset="-120"/>
              </a:rPr>
              <a:t>Translate</a:t>
            </a:r>
            <a:endParaRPr lang="en-US" sz="1100" dirty="0"/>
          </a:p>
        </p:txBody>
      </p:sp>
      <p:sp>
        <p:nvSpPr>
          <p:cNvPr id="62" name="Text 60"/>
          <p:cNvSpPr/>
          <p:nvPr/>
        </p:nvSpPr>
        <p:spPr>
          <a:xfrm>
            <a:off x="5084064" y="5897880"/>
            <a:ext cx="1810512" cy="365760"/>
          </a:xfrm>
          <a:prstGeom prst="rect">
            <a:avLst/>
          </a:prstGeom>
          <a:noFill/>
          <a:ln/>
        </p:spPr>
        <p:txBody>
          <a:bodyPr wrap="square" rtlCol="0" anchor="ctr"/>
          <a:lstStyle/>
          <a:p>
            <a:pPr algn="ctr" indent="0" marL="0">
              <a:buNone/>
            </a:pPr>
            <a:r>
              <a:rPr lang="en-US" sz="900" dirty="0">
                <a:solidFill>
                  <a:srgbClr val="5A6B7C"/>
                </a:solidFill>
                <a:latin typeface="Calibri" pitchFamily="34" charset="0"/>
                <a:ea typeface="Calibri" pitchFamily="34" charset="-122"/>
                <a:cs typeface="Calibri" pitchFamily="34" charset="-120"/>
              </a:rPr>
              <a:t>EN → original</a:t>
            </a:r>
            <a:endParaRPr lang="en-US" sz="900" dirty="0"/>
          </a:p>
        </p:txBody>
      </p:sp>
      <p:sp>
        <p:nvSpPr>
          <p:cNvPr id="63" name="Text 61"/>
          <p:cNvSpPr/>
          <p:nvPr/>
        </p:nvSpPr>
        <p:spPr>
          <a:xfrm>
            <a:off x="7004304" y="5394960"/>
            <a:ext cx="146304" cy="457200"/>
          </a:xfrm>
          <a:prstGeom prst="rect">
            <a:avLst/>
          </a:prstGeom>
          <a:noFill/>
          <a:ln/>
        </p:spPr>
        <p:txBody>
          <a:bodyPr wrap="square" rtlCol="0" anchor="ctr"/>
          <a:lstStyle/>
          <a:p>
            <a:pPr algn="ctr" indent="0" marL="0">
              <a:buNone/>
            </a:pPr>
            <a:r>
              <a:rPr lang="en-US" sz="1400" b="1" dirty="0">
                <a:solidFill>
                  <a:srgbClr val="1FB8C9"/>
                </a:solidFill>
              </a:rPr>
              <a:t>▶</a:t>
            </a:r>
            <a:endParaRPr lang="en-US" sz="1400" dirty="0"/>
          </a:p>
        </p:txBody>
      </p:sp>
      <p:sp>
        <p:nvSpPr>
          <p:cNvPr id="64" name="Shape 62"/>
          <p:cNvSpPr/>
          <p:nvPr/>
        </p:nvSpPr>
        <p:spPr>
          <a:xfrm>
            <a:off x="7168896" y="4937760"/>
            <a:ext cx="1993392" cy="1371600"/>
          </a:xfrm>
          <a:prstGeom prst="roundRect">
            <a:avLst>
              <a:gd name="adj" fmla="val 5333"/>
            </a:avLst>
          </a:prstGeom>
          <a:solidFill>
            <a:srgbClr val="FFFFFF"/>
          </a:solidFill>
          <a:ln w="12700">
            <a:solidFill>
              <a:srgbClr val="0B1E3F"/>
            </a:solidFill>
            <a:prstDash val="solid"/>
          </a:ln>
        </p:spPr>
      </p:sp>
      <p:sp>
        <p:nvSpPr>
          <p:cNvPr id="65" name="Shape 63"/>
          <p:cNvSpPr/>
          <p:nvPr/>
        </p:nvSpPr>
        <p:spPr>
          <a:xfrm>
            <a:off x="7936992" y="5120640"/>
            <a:ext cx="457200" cy="457200"/>
          </a:xfrm>
          <a:prstGeom prst="ellipse">
            <a:avLst/>
          </a:prstGeom>
          <a:solidFill>
            <a:srgbClr val="0B1E3F"/>
          </a:solidFill>
          <a:ln w="12700">
            <a:solidFill>
              <a:srgbClr val="0B1E3F"/>
            </a:solidFill>
            <a:prstDash val="solid"/>
          </a:ln>
        </p:spPr>
      </p:sp>
      <p:sp>
        <p:nvSpPr>
          <p:cNvPr id="66" name="Text 64"/>
          <p:cNvSpPr/>
          <p:nvPr/>
        </p:nvSpPr>
        <p:spPr>
          <a:xfrm>
            <a:off x="7936992" y="5120640"/>
            <a:ext cx="457200" cy="457200"/>
          </a:xfrm>
          <a:prstGeom prst="rect">
            <a:avLst/>
          </a:prstGeom>
          <a:noFill/>
          <a:ln/>
        </p:spPr>
        <p:txBody>
          <a:bodyPr wrap="square" rtlCol="0" anchor="ctr"/>
          <a:lstStyle/>
          <a:p>
            <a:pPr algn="ctr" indent="0" marL="0">
              <a:buNone/>
            </a:pPr>
            <a:r>
              <a:rPr lang="en-US" sz="1600" dirty="0">
                <a:solidFill>
                  <a:srgbClr val="1FB8C9"/>
                </a:solidFill>
              </a:rPr>
              <a:t>🔓</a:t>
            </a:r>
            <a:endParaRPr lang="en-US" sz="1600" dirty="0"/>
          </a:p>
        </p:txBody>
      </p:sp>
      <p:sp>
        <p:nvSpPr>
          <p:cNvPr id="67" name="Text 65"/>
          <p:cNvSpPr/>
          <p:nvPr/>
        </p:nvSpPr>
        <p:spPr>
          <a:xfrm>
            <a:off x="7168896" y="5623560"/>
            <a:ext cx="1993392" cy="274320"/>
          </a:xfrm>
          <a:prstGeom prst="rect">
            <a:avLst/>
          </a:prstGeom>
          <a:noFill/>
          <a:ln/>
        </p:spPr>
        <p:txBody>
          <a:bodyPr wrap="square" rtlCol="0" anchor="ctr"/>
          <a:lstStyle/>
          <a:p>
            <a:pPr algn="ctr" indent="0" marL="0">
              <a:buNone/>
            </a:pPr>
            <a:r>
              <a:rPr lang="en-US" sz="1100" b="1" dirty="0">
                <a:solidFill>
                  <a:srgbClr val="0B1E3F"/>
                </a:solidFill>
                <a:latin typeface="Calibri" pitchFamily="34" charset="0"/>
                <a:ea typeface="Calibri" pitchFamily="34" charset="-122"/>
                <a:cs typeface="Calibri" pitchFamily="34" charset="-120"/>
              </a:rPr>
              <a:t>Restore</a:t>
            </a:r>
            <a:endParaRPr lang="en-US" sz="1100" dirty="0"/>
          </a:p>
        </p:txBody>
      </p:sp>
      <p:sp>
        <p:nvSpPr>
          <p:cNvPr id="68" name="Text 66"/>
          <p:cNvSpPr/>
          <p:nvPr/>
        </p:nvSpPr>
        <p:spPr>
          <a:xfrm>
            <a:off x="7260336" y="5897880"/>
            <a:ext cx="1810512" cy="365760"/>
          </a:xfrm>
          <a:prstGeom prst="rect">
            <a:avLst/>
          </a:prstGeom>
          <a:noFill/>
          <a:ln/>
        </p:spPr>
        <p:txBody>
          <a:bodyPr wrap="square" rtlCol="0" anchor="ctr"/>
          <a:lstStyle/>
          <a:p>
            <a:pPr algn="ctr" indent="0" marL="0">
              <a:buNone/>
            </a:pPr>
            <a:r>
              <a:rPr lang="en-US" sz="900" dirty="0">
                <a:solidFill>
                  <a:srgbClr val="5A6B7C"/>
                </a:solidFill>
                <a:latin typeface="Calibri" pitchFamily="34" charset="0"/>
                <a:ea typeface="Calibri" pitchFamily="34" charset="-122"/>
                <a:cs typeface="Calibri" pitchFamily="34" charset="-120"/>
              </a:rPr>
              <a:t>reinsert terms</a:t>
            </a:r>
            <a:endParaRPr lang="en-US" sz="900" dirty="0"/>
          </a:p>
        </p:txBody>
      </p:sp>
      <p:sp>
        <p:nvSpPr>
          <p:cNvPr id="69" name="Text 67"/>
          <p:cNvSpPr/>
          <p:nvPr/>
        </p:nvSpPr>
        <p:spPr>
          <a:xfrm>
            <a:off x="9180576" y="5394960"/>
            <a:ext cx="146304" cy="457200"/>
          </a:xfrm>
          <a:prstGeom prst="rect">
            <a:avLst/>
          </a:prstGeom>
          <a:noFill/>
          <a:ln/>
        </p:spPr>
        <p:txBody>
          <a:bodyPr wrap="square" rtlCol="0" anchor="ctr"/>
          <a:lstStyle/>
          <a:p>
            <a:pPr algn="ctr" indent="0" marL="0">
              <a:buNone/>
            </a:pPr>
            <a:r>
              <a:rPr lang="en-US" sz="1400" b="1" dirty="0">
                <a:solidFill>
                  <a:srgbClr val="1FB8C9"/>
                </a:solidFill>
              </a:rPr>
              <a:t>▶</a:t>
            </a:r>
            <a:endParaRPr lang="en-US" sz="1400" dirty="0"/>
          </a:p>
        </p:txBody>
      </p:sp>
      <p:sp>
        <p:nvSpPr>
          <p:cNvPr id="70" name="Shape 68"/>
          <p:cNvSpPr/>
          <p:nvPr/>
        </p:nvSpPr>
        <p:spPr>
          <a:xfrm>
            <a:off x="9345168" y="4937760"/>
            <a:ext cx="1993392" cy="1371600"/>
          </a:xfrm>
          <a:prstGeom prst="roundRect">
            <a:avLst>
              <a:gd name="adj" fmla="val 5333"/>
            </a:avLst>
          </a:prstGeom>
          <a:solidFill>
            <a:srgbClr val="6C7BFF"/>
          </a:solidFill>
          <a:ln w="12700">
            <a:solidFill>
              <a:srgbClr val="0B1E3F"/>
            </a:solidFill>
            <a:prstDash val="solid"/>
          </a:ln>
        </p:spPr>
      </p:sp>
      <p:sp>
        <p:nvSpPr>
          <p:cNvPr id="71" name="Shape 69"/>
          <p:cNvSpPr/>
          <p:nvPr/>
        </p:nvSpPr>
        <p:spPr>
          <a:xfrm>
            <a:off x="10113264" y="5120640"/>
            <a:ext cx="457200" cy="457200"/>
          </a:xfrm>
          <a:prstGeom prst="ellipse">
            <a:avLst/>
          </a:prstGeom>
          <a:solidFill>
            <a:srgbClr val="0B1E3F"/>
          </a:solidFill>
          <a:ln w="12700">
            <a:solidFill>
              <a:srgbClr val="0B1E3F"/>
            </a:solidFill>
            <a:prstDash val="solid"/>
          </a:ln>
        </p:spPr>
      </p:sp>
      <p:sp>
        <p:nvSpPr>
          <p:cNvPr id="72" name="Text 70"/>
          <p:cNvSpPr/>
          <p:nvPr/>
        </p:nvSpPr>
        <p:spPr>
          <a:xfrm>
            <a:off x="10113264" y="5120640"/>
            <a:ext cx="457200" cy="457200"/>
          </a:xfrm>
          <a:prstGeom prst="rect">
            <a:avLst/>
          </a:prstGeom>
          <a:noFill/>
          <a:ln/>
        </p:spPr>
        <p:txBody>
          <a:bodyPr wrap="square" rtlCol="0" anchor="ctr"/>
          <a:lstStyle/>
          <a:p>
            <a:pPr algn="ctr" indent="0" marL="0">
              <a:buNone/>
            </a:pPr>
            <a:r>
              <a:rPr lang="en-US" sz="1600" dirty="0">
                <a:solidFill>
                  <a:srgbClr val="1FB8C9"/>
                </a:solidFill>
              </a:rPr>
              <a:t>👤</a:t>
            </a:r>
            <a:endParaRPr lang="en-US" sz="1600" dirty="0"/>
          </a:p>
        </p:txBody>
      </p:sp>
      <p:sp>
        <p:nvSpPr>
          <p:cNvPr id="73" name="Text 71"/>
          <p:cNvSpPr/>
          <p:nvPr/>
        </p:nvSpPr>
        <p:spPr>
          <a:xfrm>
            <a:off x="9345168" y="5623560"/>
            <a:ext cx="1993392"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Customer</a:t>
            </a:r>
            <a:endParaRPr lang="en-US" sz="1100" dirty="0"/>
          </a:p>
        </p:txBody>
      </p:sp>
      <p:sp>
        <p:nvSpPr>
          <p:cNvPr id="74" name="Text 72"/>
          <p:cNvSpPr/>
          <p:nvPr/>
        </p:nvSpPr>
        <p:spPr>
          <a:xfrm>
            <a:off x="9436608" y="5897880"/>
            <a:ext cx="1810512" cy="365760"/>
          </a:xfrm>
          <a:prstGeom prst="rect">
            <a:avLst/>
          </a:prstGeom>
          <a:noFill/>
          <a:ln/>
        </p:spPr>
        <p:txBody>
          <a:bodyPr wrap="square" rtlCol="0" anchor="ctr"/>
          <a:lstStyle/>
          <a:p>
            <a:pPr algn="ctr" indent="0" marL="0">
              <a:buNone/>
            </a:pPr>
            <a:r>
              <a:rPr lang="en-US" sz="900" dirty="0">
                <a:solidFill>
                  <a:srgbClr val="E6EEF9"/>
                </a:solidFill>
                <a:latin typeface="Calibri" pitchFamily="34" charset="0"/>
                <a:ea typeface="Calibri" pitchFamily="34" charset="-122"/>
                <a:cs typeface="Calibri" pitchFamily="34" charset="-120"/>
              </a:rPr>
              <a:t>reads in own language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E3F"/>
          </a:solidFill>
          <a:ln/>
        </p:spPr>
      </p:sp>
      <p:sp>
        <p:nvSpPr>
          <p:cNvPr id="3" name="Shape 1"/>
          <p:cNvSpPr/>
          <p:nvPr/>
        </p:nvSpPr>
        <p:spPr>
          <a:xfrm>
            <a:off x="0" y="502920"/>
            <a:ext cx="12191695" cy="36576"/>
          </a:xfrm>
          <a:prstGeom prst="rect">
            <a:avLst/>
          </a:prstGeom>
          <a:solidFill>
            <a:srgbClr val="1FB8C9"/>
          </a:solidFill>
          <a:ln/>
        </p:spPr>
      </p:sp>
      <p:sp>
        <p:nvSpPr>
          <p:cNvPr id="4" name="Text 2"/>
          <p:cNvSpPr/>
          <p:nvPr/>
        </p:nvSpPr>
        <p:spPr>
          <a:xfrm>
            <a:off x="365760" y="0"/>
            <a:ext cx="11430000" cy="502920"/>
          </a:xfrm>
          <a:prstGeom prst="rect">
            <a:avLst/>
          </a:prstGeom>
          <a:noFill/>
          <a:ln/>
        </p:spPr>
        <p:txBody>
          <a:bodyPr wrap="square" rtlCol="0" anchor="ctr"/>
          <a:lstStyle/>
          <a:p>
            <a:pPr indent="0" marL="0">
              <a:buNone/>
            </a:pPr>
            <a:r>
              <a:rPr lang="en-US" sz="1000" b="1" spc="300" kern="0" dirty="0">
                <a:solidFill>
                  <a:srgbClr val="FFFFFF"/>
                </a:solidFill>
                <a:latin typeface="Calibri" pitchFamily="34" charset="0"/>
                <a:ea typeface="Calibri" pitchFamily="34" charset="-122"/>
                <a:cs typeface="Calibri" pitchFamily="34" charset="-120"/>
              </a:rPr>
              <a:t>MULTILINGUAL TICKET TRANSLATOR  •  TEAM 9  •  SD-04</a:t>
            </a:r>
            <a:endParaRPr lang="en-US" sz="1000" dirty="0"/>
          </a:p>
        </p:txBody>
      </p:sp>
      <p:sp>
        <p:nvSpPr>
          <p:cNvPr id="5" name="Text 3"/>
          <p:cNvSpPr/>
          <p:nvPr/>
        </p:nvSpPr>
        <p:spPr>
          <a:xfrm>
            <a:off x="457200" y="685800"/>
            <a:ext cx="11247120" cy="320040"/>
          </a:xfrm>
          <a:prstGeom prst="rect">
            <a:avLst/>
          </a:prstGeom>
          <a:noFill/>
          <a:ln/>
        </p:spPr>
        <p:txBody>
          <a:bodyPr wrap="square" rtlCol="0" anchor="ctr"/>
          <a:lstStyle/>
          <a:p>
            <a:pPr indent="0" marL="0">
              <a:buNone/>
            </a:pPr>
            <a:r>
              <a:rPr lang="en-US" sz="1100" b="1" spc="400" kern="0" dirty="0">
                <a:solidFill>
                  <a:srgbClr val="1FB8C9"/>
                </a:solidFill>
                <a:latin typeface="Calibri" pitchFamily="34" charset="0"/>
                <a:ea typeface="Calibri" pitchFamily="34" charset="-122"/>
                <a:cs typeface="Calibri" pitchFamily="34" charset="-120"/>
              </a:rPr>
              <a:t>10 — DATA LIFECYCLE</a:t>
            </a:r>
            <a:endParaRPr lang="en-US" sz="1100" dirty="0"/>
          </a:p>
        </p:txBody>
      </p:sp>
      <p:sp>
        <p:nvSpPr>
          <p:cNvPr id="6" name="Text 4"/>
          <p:cNvSpPr/>
          <p:nvPr/>
        </p:nvSpPr>
        <p:spPr>
          <a:xfrm>
            <a:off x="457200" y="960120"/>
            <a:ext cx="11247120" cy="640080"/>
          </a:xfrm>
          <a:prstGeom prst="rect">
            <a:avLst/>
          </a:prstGeom>
          <a:noFill/>
          <a:ln/>
        </p:spPr>
        <p:txBody>
          <a:bodyPr wrap="square" rtlCol="0" anchor="ctr"/>
          <a:lstStyle/>
          <a:p>
            <a:pPr indent="0" marL="0">
              <a:buNone/>
            </a:pPr>
            <a:r>
              <a:rPr lang="en-US" sz="3000" b="1" dirty="0">
                <a:solidFill>
                  <a:srgbClr val="0B1E3F"/>
                </a:solidFill>
                <a:latin typeface="Calibri" pitchFamily="34" charset="0"/>
                <a:ea typeface="Calibri" pitchFamily="34" charset="-122"/>
                <a:cs typeface="Calibri" pitchFamily="34" charset="-120"/>
              </a:rPr>
              <a:t>Core Logic 5 — Storage &amp; Audit Trail</a:t>
            </a:r>
            <a:endParaRPr lang="en-US" sz="3000" dirty="0"/>
          </a:p>
        </p:txBody>
      </p:sp>
      <p:sp>
        <p:nvSpPr>
          <p:cNvPr id="7" name="Shape 5"/>
          <p:cNvSpPr/>
          <p:nvPr/>
        </p:nvSpPr>
        <p:spPr>
          <a:xfrm>
            <a:off x="457200" y="1627632"/>
            <a:ext cx="548640" cy="54864"/>
          </a:xfrm>
          <a:prstGeom prst="rect">
            <a:avLst/>
          </a:prstGeom>
          <a:solidFill>
            <a:srgbClr val="1FB8C9"/>
          </a:solidFill>
          <a:ln w="12700">
            <a:solidFill>
              <a:srgbClr val="1FB8C9"/>
            </a:solidFill>
            <a:prstDash val="solid"/>
          </a:ln>
        </p:spPr>
      </p:sp>
      <p:sp>
        <p:nvSpPr>
          <p:cNvPr id="8" name="Shape 6"/>
          <p:cNvSpPr/>
          <p:nvPr/>
        </p:nvSpPr>
        <p:spPr>
          <a:xfrm>
            <a:off x="0" y="6675120"/>
            <a:ext cx="12191695" cy="182880"/>
          </a:xfrm>
          <a:prstGeom prst="rect">
            <a:avLst/>
          </a:prstGeom>
          <a:solidFill>
            <a:srgbClr val="F4F7FB"/>
          </a:solidFill>
          <a:ln w="12700">
            <a:solidFill>
              <a:srgbClr val="F4F7FB"/>
            </a:solidFill>
            <a:prstDash val="solid"/>
          </a:ln>
        </p:spPr>
      </p:sp>
      <p:sp>
        <p:nvSpPr>
          <p:cNvPr id="9" name="Text 7"/>
          <p:cNvSpPr/>
          <p:nvPr/>
        </p:nvSpPr>
        <p:spPr>
          <a:xfrm>
            <a:off x="365760" y="6656832"/>
            <a:ext cx="7315200" cy="201168"/>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Infinite Computer Solutions • Placement Case Study</a:t>
            </a:r>
            <a:endParaRPr lang="en-US" sz="900" dirty="0"/>
          </a:p>
        </p:txBody>
      </p:sp>
      <p:sp>
        <p:nvSpPr>
          <p:cNvPr id="10" name="Text 8"/>
          <p:cNvSpPr/>
          <p:nvPr/>
        </p:nvSpPr>
        <p:spPr>
          <a:xfrm>
            <a:off x="11247120" y="6656832"/>
            <a:ext cx="640080" cy="201168"/>
          </a:xfrm>
          <a:prstGeom prst="rect">
            <a:avLst/>
          </a:prstGeom>
          <a:noFill/>
          <a:ln/>
        </p:spPr>
        <p:txBody>
          <a:bodyPr wrap="square" rtlCol="0" anchor="ctr"/>
          <a:lstStyle/>
          <a:p>
            <a:pPr algn="r" indent="0" marL="0">
              <a:buNone/>
            </a:pPr>
            <a:r>
              <a:rPr lang="en-US" sz="900" b="1" dirty="0">
                <a:solidFill>
                  <a:srgbClr val="5A6B7C"/>
                </a:solidFill>
                <a:latin typeface="Calibri" pitchFamily="34" charset="0"/>
                <a:ea typeface="Calibri" pitchFamily="34" charset="-122"/>
                <a:cs typeface="Calibri" pitchFamily="34" charset="-120"/>
              </a:rPr>
              <a:t>11 / 15</a:t>
            </a:r>
            <a:endParaRPr lang="en-US" sz="900" dirty="0"/>
          </a:p>
        </p:txBody>
      </p:sp>
      <p:sp>
        <p:nvSpPr>
          <p:cNvPr id="11" name="Text 9"/>
          <p:cNvSpPr/>
          <p:nvPr/>
        </p:nvSpPr>
        <p:spPr>
          <a:xfrm>
            <a:off x="457200" y="1920240"/>
            <a:ext cx="5486400" cy="365760"/>
          </a:xfrm>
          <a:prstGeom prst="rect">
            <a:avLst/>
          </a:prstGeom>
          <a:noFill/>
          <a:ln/>
        </p:spPr>
        <p:txBody>
          <a:bodyPr wrap="square" rtlCol="0" anchor="ctr"/>
          <a:lstStyle/>
          <a:p>
            <a:pPr indent="0" marL="0">
              <a:buNone/>
            </a:pPr>
            <a:r>
              <a:rPr lang="en-US" sz="1600" b="1" dirty="0">
                <a:solidFill>
                  <a:srgbClr val="0B1E3F"/>
                </a:solidFill>
                <a:latin typeface="Calibri" pitchFamily="34" charset="0"/>
                <a:ea typeface="Calibri" pitchFamily="34" charset="-122"/>
                <a:cs typeface="Calibri" pitchFamily="34" charset="-120"/>
              </a:rPr>
              <a:t>Automatic CSV Logging</a:t>
            </a:r>
            <a:endParaRPr lang="en-US" sz="1600" dirty="0"/>
          </a:p>
        </p:txBody>
      </p:sp>
      <p:sp>
        <p:nvSpPr>
          <p:cNvPr id="12" name="Shape 10"/>
          <p:cNvSpPr/>
          <p:nvPr/>
        </p:nvSpPr>
        <p:spPr>
          <a:xfrm>
            <a:off x="457200" y="2331720"/>
            <a:ext cx="5760720" cy="685800"/>
          </a:xfrm>
          <a:prstGeom prst="rect">
            <a:avLst/>
          </a:prstGeom>
          <a:solidFill>
            <a:srgbClr val="FFFFFF"/>
          </a:solidFill>
          <a:ln w="12700">
            <a:solidFill>
              <a:srgbClr val="D9E1EC"/>
            </a:solidFill>
            <a:prstDash val="solid"/>
          </a:ln>
        </p:spPr>
      </p:sp>
      <p:sp>
        <p:nvSpPr>
          <p:cNvPr id="13" name="Shape 11"/>
          <p:cNvSpPr/>
          <p:nvPr/>
        </p:nvSpPr>
        <p:spPr>
          <a:xfrm>
            <a:off x="457200" y="2331720"/>
            <a:ext cx="73152" cy="685800"/>
          </a:xfrm>
          <a:prstGeom prst="rect">
            <a:avLst/>
          </a:prstGeom>
          <a:solidFill>
            <a:srgbClr val="1FB8C9"/>
          </a:solidFill>
          <a:ln w="12700">
            <a:solidFill>
              <a:srgbClr val="1FB8C9"/>
            </a:solidFill>
            <a:prstDash val="solid"/>
          </a:ln>
        </p:spPr>
      </p:sp>
      <p:sp>
        <p:nvSpPr>
          <p:cNvPr id="14" name="Text 12"/>
          <p:cNvSpPr/>
          <p:nvPr/>
        </p:nvSpPr>
        <p:spPr>
          <a:xfrm>
            <a:off x="685800" y="2404872"/>
            <a:ext cx="5029200" cy="274320"/>
          </a:xfrm>
          <a:prstGeom prst="rect">
            <a:avLst/>
          </a:prstGeom>
          <a:noFill/>
          <a:ln/>
        </p:spPr>
        <p:txBody>
          <a:bodyPr wrap="square" rtlCol="0" anchor="ctr"/>
          <a:lstStyle/>
          <a:p>
            <a:pPr indent="0" marL="0">
              <a:buNone/>
            </a:pPr>
            <a:r>
              <a:rPr lang="en-US" sz="1200" b="1" dirty="0">
                <a:solidFill>
                  <a:srgbClr val="0B1E3F"/>
                </a:solidFill>
                <a:latin typeface="Calibri" pitchFamily="34" charset="0"/>
                <a:ea typeface="Calibri" pitchFamily="34" charset="-122"/>
                <a:cs typeface="Calibri" pitchFamily="34" charset="-120"/>
              </a:rPr>
              <a:t>Lifecycle Capture</a:t>
            </a:r>
            <a:endParaRPr lang="en-US" sz="1200" dirty="0"/>
          </a:p>
        </p:txBody>
      </p:sp>
      <p:sp>
        <p:nvSpPr>
          <p:cNvPr id="15" name="Text 13"/>
          <p:cNvSpPr/>
          <p:nvPr/>
        </p:nvSpPr>
        <p:spPr>
          <a:xfrm>
            <a:off x="685800" y="2679192"/>
            <a:ext cx="5029200" cy="320040"/>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Every ticket state — original, translated, replied, restored — is written.</a:t>
            </a:r>
            <a:endParaRPr lang="en-US" sz="1000" dirty="0"/>
          </a:p>
        </p:txBody>
      </p:sp>
      <p:sp>
        <p:nvSpPr>
          <p:cNvPr id="16" name="Shape 14"/>
          <p:cNvSpPr/>
          <p:nvPr/>
        </p:nvSpPr>
        <p:spPr>
          <a:xfrm>
            <a:off x="457200" y="3108960"/>
            <a:ext cx="5760720" cy="685800"/>
          </a:xfrm>
          <a:prstGeom prst="rect">
            <a:avLst/>
          </a:prstGeom>
          <a:solidFill>
            <a:srgbClr val="FFFFFF"/>
          </a:solidFill>
          <a:ln w="12700">
            <a:solidFill>
              <a:srgbClr val="D9E1EC"/>
            </a:solidFill>
            <a:prstDash val="solid"/>
          </a:ln>
        </p:spPr>
      </p:sp>
      <p:sp>
        <p:nvSpPr>
          <p:cNvPr id="17" name="Shape 15"/>
          <p:cNvSpPr/>
          <p:nvPr/>
        </p:nvSpPr>
        <p:spPr>
          <a:xfrm>
            <a:off x="457200" y="3108960"/>
            <a:ext cx="73152" cy="685800"/>
          </a:xfrm>
          <a:prstGeom prst="rect">
            <a:avLst/>
          </a:prstGeom>
          <a:solidFill>
            <a:srgbClr val="1FB8C9"/>
          </a:solidFill>
          <a:ln w="12700">
            <a:solidFill>
              <a:srgbClr val="1FB8C9"/>
            </a:solidFill>
            <a:prstDash val="solid"/>
          </a:ln>
        </p:spPr>
      </p:sp>
      <p:sp>
        <p:nvSpPr>
          <p:cNvPr id="18" name="Text 16"/>
          <p:cNvSpPr/>
          <p:nvPr/>
        </p:nvSpPr>
        <p:spPr>
          <a:xfrm>
            <a:off x="685800" y="3182112"/>
            <a:ext cx="5029200" cy="274320"/>
          </a:xfrm>
          <a:prstGeom prst="rect">
            <a:avLst/>
          </a:prstGeom>
          <a:noFill/>
          <a:ln/>
        </p:spPr>
        <p:txBody>
          <a:bodyPr wrap="square" rtlCol="0" anchor="ctr"/>
          <a:lstStyle/>
          <a:p>
            <a:pPr indent="0" marL="0">
              <a:buNone/>
            </a:pPr>
            <a:r>
              <a:rPr lang="en-US" sz="1200" b="1" dirty="0">
                <a:solidFill>
                  <a:srgbClr val="0B1E3F"/>
                </a:solidFill>
                <a:latin typeface="Calibri" pitchFamily="34" charset="0"/>
                <a:ea typeface="Calibri" pitchFamily="34" charset="-122"/>
                <a:cs typeface="Calibri" pitchFamily="34" charset="-120"/>
              </a:rPr>
              <a:t>Timestamped Rows</a:t>
            </a:r>
            <a:endParaRPr lang="en-US" sz="1200" dirty="0"/>
          </a:p>
        </p:txBody>
      </p:sp>
      <p:sp>
        <p:nvSpPr>
          <p:cNvPr id="19" name="Text 17"/>
          <p:cNvSpPr/>
          <p:nvPr/>
        </p:nvSpPr>
        <p:spPr>
          <a:xfrm>
            <a:off x="685800" y="3456432"/>
            <a:ext cx="5029200" cy="320040"/>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ISO-8601 timestamps per stage enable SLA and latency reporting.</a:t>
            </a:r>
            <a:endParaRPr lang="en-US" sz="1000" dirty="0"/>
          </a:p>
        </p:txBody>
      </p:sp>
      <p:sp>
        <p:nvSpPr>
          <p:cNvPr id="20" name="Shape 18"/>
          <p:cNvSpPr/>
          <p:nvPr/>
        </p:nvSpPr>
        <p:spPr>
          <a:xfrm>
            <a:off x="457200" y="3886200"/>
            <a:ext cx="5760720" cy="685800"/>
          </a:xfrm>
          <a:prstGeom prst="rect">
            <a:avLst/>
          </a:prstGeom>
          <a:solidFill>
            <a:srgbClr val="FFFFFF"/>
          </a:solidFill>
          <a:ln w="12700">
            <a:solidFill>
              <a:srgbClr val="D9E1EC"/>
            </a:solidFill>
            <a:prstDash val="solid"/>
          </a:ln>
        </p:spPr>
      </p:sp>
      <p:sp>
        <p:nvSpPr>
          <p:cNvPr id="21" name="Shape 19"/>
          <p:cNvSpPr/>
          <p:nvPr/>
        </p:nvSpPr>
        <p:spPr>
          <a:xfrm>
            <a:off x="457200" y="3886200"/>
            <a:ext cx="73152" cy="685800"/>
          </a:xfrm>
          <a:prstGeom prst="rect">
            <a:avLst/>
          </a:prstGeom>
          <a:solidFill>
            <a:srgbClr val="1FB8C9"/>
          </a:solidFill>
          <a:ln w="12700">
            <a:solidFill>
              <a:srgbClr val="1FB8C9"/>
            </a:solidFill>
            <a:prstDash val="solid"/>
          </a:ln>
        </p:spPr>
      </p:sp>
      <p:sp>
        <p:nvSpPr>
          <p:cNvPr id="22" name="Text 20"/>
          <p:cNvSpPr/>
          <p:nvPr/>
        </p:nvSpPr>
        <p:spPr>
          <a:xfrm>
            <a:off x="685800" y="3959352"/>
            <a:ext cx="5029200" cy="274320"/>
          </a:xfrm>
          <a:prstGeom prst="rect">
            <a:avLst/>
          </a:prstGeom>
          <a:noFill/>
          <a:ln/>
        </p:spPr>
        <p:txBody>
          <a:bodyPr wrap="square" rtlCol="0" anchor="ctr"/>
          <a:lstStyle/>
          <a:p>
            <a:pPr indent="0" marL="0">
              <a:buNone/>
            </a:pPr>
            <a:r>
              <a:rPr lang="en-US" sz="1200" b="1" dirty="0">
                <a:solidFill>
                  <a:srgbClr val="0B1E3F"/>
                </a:solidFill>
                <a:latin typeface="Calibri" pitchFamily="34" charset="0"/>
                <a:ea typeface="Calibri" pitchFamily="34" charset="-122"/>
                <a:cs typeface="Calibri" pitchFamily="34" charset="-120"/>
              </a:rPr>
              <a:t>Append-Only Log</a:t>
            </a:r>
            <a:endParaRPr lang="en-US" sz="1200" dirty="0"/>
          </a:p>
        </p:txBody>
      </p:sp>
      <p:sp>
        <p:nvSpPr>
          <p:cNvPr id="23" name="Text 21"/>
          <p:cNvSpPr/>
          <p:nvPr/>
        </p:nvSpPr>
        <p:spPr>
          <a:xfrm>
            <a:off x="685800" y="4233672"/>
            <a:ext cx="5029200" cy="320040"/>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Immutable rows; updates create new versions rather than mutating history.</a:t>
            </a:r>
            <a:endParaRPr lang="en-US" sz="1000" dirty="0"/>
          </a:p>
        </p:txBody>
      </p:sp>
      <p:sp>
        <p:nvSpPr>
          <p:cNvPr id="24" name="Shape 22"/>
          <p:cNvSpPr/>
          <p:nvPr/>
        </p:nvSpPr>
        <p:spPr>
          <a:xfrm>
            <a:off x="457200" y="4663440"/>
            <a:ext cx="5760720" cy="685800"/>
          </a:xfrm>
          <a:prstGeom prst="rect">
            <a:avLst/>
          </a:prstGeom>
          <a:solidFill>
            <a:srgbClr val="FFFFFF"/>
          </a:solidFill>
          <a:ln w="12700">
            <a:solidFill>
              <a:srgbClr val="D9E1EC"/>
            </a:solidFill>
            <a:prstDash val="solid"/>
          </a:ln>
        </p:spPr>
      </p:sp>
      <p:sp>
        <p:nvSpPr>
          <p:cNvPr id="25" name="Shape 23"/>
          <p:cNvSpPr/>
          <p:nvPr/>
        </p:nvSpPr>
        <p:spPr>
          <a:xfrm>
            <a:off x="457200" y="4663440"/>
            <a:ext cx="73152" cy="685800"/>
          </a:xfrm>
          <a:prstGeom prst="rect">
            <a:avLst/>
          </a:prstGeom>
          <a:solidFill>
            <a:srgbClr val="1FB8C9"/>
          </a:solidFill>
          <a:ln w="12700">
            <a:solidFill>
              <a:srgbClr val="1FB8C9"/>
            </a:solidFill>
            <a:prstDash val="solid"/>
          </a:ln>
        </p:spPr>
      </p:sp>
      <p:sp>
        <p:nvSpPr>
          <p:cNvPr id="26" name="Text 24"/>
          <p:cNvSpPr/>
          <p:nvPr/>
        </p:nvSpPr>
        <p:spPr>
          <a:xfrm>
            <a:off x="685800" y="4736592"/>
            <a:ext cx="5029200" cy="274320"/>
          </a:xfrm>
          <a:prstGeom prst="rect">
            <a:avLst/>
          </a:prstGeom>
          <a:noFill/>
          <a:ln/>
        </p:spPr>
        <p:txBody>
          <a:bodyPr wrap="square" rtlCol="0" anchor="ctr"/>
          <a:lstStyle/>
          <a:p>
            <a:pPr indent="0" marL="0">
              <a:buNone/>
            </a:pPr>
            <a:r>
              <a:rPr lang="en-US" sz="1200" b="1" dirty="0">
                <a:solidFill>
                  <a:srgbClr val="0B1E3F"/>
                </a:solidFill>
                <a:latin typeface="Calibri" pitchFamily="34" charset="0"/>
                <a:ea typeface="Calibri" pitchFamily="34" charset="-122"/>
                <a:cs typeface="Calibri" pitchFamily="34" charset="-120"/>
              </a:rPr>
              <a:t>Portable Format</a:t>
            </a:r>
            <a:endParaRPr lang="en-US" sz="1200" dirty="0"/>
          </a:p>
        </p:txBody>
      </p:sp>
      <p:sp>
        <p:nvSpPr>
          <p:cNvPr id="27" name="Text 25"/>
          <p:cNvSpPr/>
          <p:nvPr/>
        </p:nvSpPr>
        <p:spPr>
          <a:xfrm>
            <a:off x="685800" y="5010912"/>
            <a:ext cx="5029200" cy="320040"/>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CSV opens in Excel, BI tools, or pandas — zero vendor lock-in.</a:t>
            </a:r>
            <a:endParaRPr lang="en-US" sz="1000" dirty="0"/>
          </a:p>
        </p:txBody>
      </p:sp>
      <p:sp>
        <p:nvSpPr>
          <p:cNvPr id="28" name="Shape 26"/>
          <p:cNvSpPr/>
          <p:nvPr/>
        </p:nvSpPr>
        <p:spPr>
          <a:xfrm>
            <a:off x="457200" y="5440680"/>
            <a:ext cx="5760720" cy="685800"/>
          </a:xfrm>
          <a:prstGeom prst="rect">
            <a:avLst/>
          </a:prstGeom>
          <a:solidFill>
            <a:srgbClr val="FFFFFF"/>
          </a:solidFill>
          <a:ln w="12700">
            <a:solidFill>
              <a:srgbClr val="D9E1EC"/>
            </a:solidFill>
            <a:prstDash val="solid"/>
          </a:ln>
        </p:spPr>
      </p:sp>
      <p:sp>
        <p:nvSpPr>
          <p:cNvPr id="29" name="Shape 27"/>
          <p:cNvSpPr/>
          <p:nvPr/>
        </p:nvSpPr>
        <p:spPr>
          <a:xfrm>
            <a:off x="457200" y="5440680"/>
            <a:ext cx="73152" cy="685800"/>
          </a:xfrm>
          <a:prstGeom prst="rect">
            <a:avLst/>
          </a:prstGeom>
          <a:solidFill>
            <a:srgbClr val="1FB8C9"/>
          </a:solidFill>
          <a:ln w="12700">
            <a:solidFill>
              <a:srgbClr val="1FB8C9"/>
            </a:solidFill>
            <a:prstDash val="solid"/>
          </a:ln>
        </p:spPr>
      </p:sp>
      <p:sp>
        <p:nvSpPr>
          <p:cNvPr id="30" name="Text 28"/>
          <p:cNvSpPr/>
          <p:nvPr/>
        </p:nvSpPr>
        <p:spPr>
          <a:xfrm>
            <a:off x="685800" y="5513832"/>
            <a:ext cx="5029200" cy="274320"/>
          </a:xfrm>
          <a:prstGeom prst="rect">
            <a:avLst/>
          </a:prstGeom>
          <a:noFill/>
          <a:ln/>
        </p:spPr>
        <p:txBody>
          <a:bodyPr wrap="square" rtlCol="0" anchor="ctr"/>
          <a:lstStyle/>
          <a:p>
            <a:pPr indent="0" marL="0">
              <a:buNone/>
            </a:pPr>
            <a:r>
              <a:rPr lang="en-US" sz="1200" b="1" dirty="0">
                <a:solidFill>
                  <a:srgbClr val="0B1E3F"/>
                </a:solidFill>
                <a:latin typeface="Calibri" pitchFamily="34" charset="0"/>
                <a:ea typeface="Calibri" pitchFamily="34" charset="-122"/>
                <a:cs typeface="Calibri" pitchFamily="34" charset="-120"/>
              </a:rPr>
              <a:t>Audit-Ready</a:t>
            </a:r>
            <a:endParaRPr lang="en-US" sz="1200" dirty="0"/>
          </a:p>
        </p:txBody>
      </p:sp>
      <p:sp>
        <p:nvSpPr>
          <p:cNvPr id="31" name="Text 29"/>
          <p:cNvSpPr/>
          <p:nvPr/>
        </p:nvSpPr>
        <p:spPr>
          <a:xfrm>
            <a:off x="685800" y="5788152"/>
            <a:ext cx="5029200" cy="320040"/>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Every transformation is traceable end-to-end for compliance review.</a:t>
            </a:r>
            <a:endParaRPr lang="en-US" sz="1000" dirty="0"/>
          </a:p>
        </p:txBody>
      </p:sp>
      <p:sp>
        <p:nvSpPr>
          <p:cNvPr id="32" name="Shape 30"/>
          <p:cNvSpPr/>
          <p:nvPr/>
        </p:nvSpPr>
        <p:spPr>
          <a:xfrm>
            <a:off x="6492240" y="1920240"/>
            <a:ext cx="5257800" cy="4663440"/>
          </a:xfrm>
          <a:prstGeom prst="rect">
            <a:avLst/>
          </a:prstGeom>
          <a:solidFill>
            <a:srgbClr val="F4F7FB"/>
          </a:solidFill>
          <a:ln w="12700">
            <a:solidFill>
              <a:srgbClr val="D9E1EC"/>
            </a:solidFill>
            <a:prstDash val="solid"/>
          </a:ln>
        </p:spPr>
      </p:sp>
      <p:sp>
        <p:nvSpPr>
          <p:cNvPr id="33" name="Text 31"/>
          <p:cNvSpPr/>
          <p:nvPr/>
        </p:nvSpPr>
        <p:spPr>
          <a:xfrm>
            <a:off x="6675120" y="2057400"/>
            <a:ext cx="5257800" cy="274320"/>
          </a:xfrm>
          <a:prstGeom prst="rect">
            <a:avLst/>
          </a:prstGeom>
          <a:noFill/>
          <a:ln/>
        </p:spPr>
        <p:txBody>
          <a:bodyPr wrap="square" rtlCol="0" anchor="ctr"/>
          <a:lstStyle/>
          <a:p>
            <a:pPr indent="0" marL="0">
              <a:buNone/>
            </a:pPr>
            <a:r>
              <a:rPr lang="en-US" sz="1000" b="1" spc="300" kern="0" dirty="0">
                <a:solidFill>
                  <a:srgbClr val="0B1E3F"/>
                </a:solidFill>
                <a:latin typeface="Consolas" pitchFamily="34" charset="0"/>
                <a:ea typeface="Consolas" pitchFamily="34" charset="-122"/>
                <a:cs typeface="Consolas" pitchFamily="34" charset="-120"/>
              </a:rPr>
              <a:t>TICKET_LOG.CSV</a:t>
            </a:r>
            <a:endParaRPr lang="en-US" sz="1000" dirty="0"/>
          </a:p>
        </p:txBody>
      </p:sp>
      <p:sp>
        <p:nvSpPr>
          <p:cNvPr id="34" name="Shape 32"/>
          <p:cNvSpPr/>
          <p:nvPr/>
        </p:nvSpPr>
        <p:spPr>
          <a:xfrm>
            <a:off x="6675120" y="2423160"/>
            <a:ext cx="4892040" cy="365760"/>
          </a:xfrm>
          <a:prstGeom prst="rect">
            <a:avLst/>
          </a:prstGeom>
          <a:solidFill>
            <a:srgbClr val="0B1E3F"/>
          </a:solidFill>
          <a:ln w="12700">
            <a:solidFill>
              <a:srgbClr val="0B1E3F"/>
            </a:solidFill>
            <a:prstDash val="solid"/>
          </a:ln>
        </p:spPr>
      </p:sp>
      <p:sp>
        <p:nvSpPr>
          <p:cNvPr id="35" name="Text 33"/>
          <p:cNvSpPr/>
          <p:nvPr/>
        </p:nvSpPr>
        <p:spPr>
          <a:xfrm>
            <a:off x="6720840" y="2423160"/>
            <a:ext cx="548640" cy="365760"/>
          </a:xfrm>
          <a:prstGeom prst="rect">
            <a:avLst/>
          </a:prstGeom>
          <a:noFill/>
          <a:ln/>
        </p:spPr>
        <p:txBody>
          <a:bodyPr wrap="square"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ID</a:t>
            </a:r>
            <a:endParaRPr lang="en-US" sz="900" dirty="0"/>
          </a:p>
        </p:txBody>
      </p:sp>
      <p:sp>
        <p:nvSpPr>
          <p:cNvPr id="36" name="Text 34"/>
          <p:cNvSpPr/>
          <p:nvPr/>
        </p:nvSpPr>
        <p:spPr>
          <a:xfrm>
            <a:off x="7269480" y="2423160"/>
            <a:ext cx="1691640" cy="365760"/>
          </a:xfrm>
          <a:prstGeom prst="rect">
            <a:avLst/>
          </a:prstGeom>
          <a:noFill/>
          <a:ln/>
        </p:spPr>
        <p:txBody>
          <a:bodyPr wrap="square"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TIMESTAMP</a:t>
            </a:r>
            <a:endParaRPr lang="en-US" sz="900" dirty="0"/>
          </a:p>
        </p:txBody>
      </p:sp>
      <p:sp>
        <p:nvSpPr>
          <p:cNvPr id="37" name="Text 35"/>
          <p:cNvSpPr/>
          <p:nvPr/>
        </p:nvSpPr>
        <p:spPr>
          <a:xfrm>
            <a:off x="8961120" y="2423160"/>
            <a:ext cx="594360" cy="365760"/>
          </a:xfrm>
          <a:prstGeom prst="rect">
            <a:avLst/>
          </a:prstGeom>
          <a:noFill/>
          <a:ln/>
        </p:spPr>
        <p:txBody>
          <a:bodyPr wrap="square"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LANG</a:t>
            </a:r>
            <a:endParaRPr lang="en-US" sz="900" dirty="0"/>
          </a:p>
        </p:txBody>
      </p:sp>
      <p:sp>
        <p:nvSpPr>
          <p:cNvPr id="38" name="Text 36"/>
          <p:cNvSpPr/>
          <p:nvPr/>
        </p:nvSpPr>
        <p:spPr>
          <a:xfrm>
            <a:off x="9555480" y="2423160"/>
            <a:ext cx="2103120" cy="365760"/>
          </a:xfrm>
          <a:prstGeom prst="rect">
            <a:avLst/>
          </a:prstGeom>
          <a:noFill/>
          <a:ln/>
        </p:spPr>
        <p:txBody>
          <a:bodyPr wrap="square"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STAGE</a:t>
            </a:r>
            <a:endParaRPr lang="en-US" sz="900" dirty="0"/>
          </a:p>
        </p:txBody>
      </p:sp>
      <p:sp>
        <p:nvSpPr>
          <p:cNvPr id="39" name="Shape 37"/>
          <p:cNvSpPr/>
          <p:nvPr/>
        </p:nvSpPr>
        <p:spPr>
          <a:xfrm>
            <a:off x="6675120" y="2788920"/>
            <a:ext cx="4892040" cy="384048"/>
          </a:xfrm>
          <a:prstGeom prst="rect">
            <a:avLst/>
          </a:prstGeom>
          <a:solidFill>
            <a:srgbClr val="FFFFFF"/>
          </a:solidFill>
          <a:ln w="6350">
            <a:solidFill>
              <a:srgbClr val="D9E1EC"/>
            </a:solidFill>
            <a:prstDash val="solid"/>
          </a:ln>
        </p:spPr>
      </p:sp>
      <p:sp>
        <p:nvSpPr>
          <p:cNvPr id="40" name="Text 38"/>
          <p:cNvSpPr/>
          <p:nvPr/>
        </p:nvSpPr>
        <p:spPr>
          <a:xfrm>
            <a:off x="6720840" y="2788920"/>
            <a:ext cx="548640" cy="384048"/>
          </a:xfrm>
          <a:prstGeom prst="rect">
            <a:avLst/>
          </a:prstGeom>
          <a:noFill/>
          <a:ln/>
        </p:spPr>
        <p:txBody>
          <a:bodyPr wrap="square" rtlCol="0" anchor="ctr"/>
          <a:lstStyle/>
          <a:p>
            <a:pPr indent="0" marL="0">
              <a:buNone/>
            </a:pPr>
            <a:r>
              <a:rPr lang="en-US" sz="900" b="1" dirty="0">
                <a:solidFill>
                  <a:srgbClr val="6C7BFF"/>
                </a:solidFill>
                <a:latin typeface="Consolas" pitchFamily="34" charset="0"/>
                <a:ea typeface="Consolas" pitchFamily="34" charset="-122"/>
                <a:cs typeface="Consolas" pitchFamily="34" charset="-120"/>
              </a:rPr>
              <a:t>T001</a:t>
            </a:r>
            <a:endParaRPr lang="en-US" sz="900" dirty="0"/>
          </a:p>
        </p:txBody>
      </p:sp>
      <p:sp>
        <p:nvSpPr>
          <p:cNvPr id="41" name="Text 39"/>
          <p:cNvSpPr/>
          <p:nvPr/>
        </p:nvSpPr>
        <p:spPr>
          <a:xfrm>
            <a:off x="7269480" y="2788920"/>
            <a:ext cx="1691640" cy="384048"/>
          </a:xfrm>
          <a:prstGeom prst="rect">
            <a:avLst/>
          </a:prstGeom>
          <a:noFill/>
          <a:ln/>
        </p:spPr>
        <p:txBody>
          <a:bodyPr wrap="square" rtlCol="0" anchor="ctr"/>
          <a:lstStyle/>
          <a:p>
            <a:pPr indent="0" marL="0">
              <a:buNone/>
            </a:pPr>
            <a:r>
              <a:rPr lang="en-US" sz="900" dirty="0">
                <a:solidFill>
                  <a:srgbClr val="0B1E3F"/>
                </a:solidFill>
                <a:latin typeface="Consolas" pitchFamily="34" charset="0"/>
                <a:ea typeface="Consolas" pitchFamily="34" charset="-122"/>
                <a:cs typeface="Consolas" pitchFamily="34" charset="-120"/>
              </a:rPr>
              <a:t>2025-06-16 09:12:04</a:t>
            </a:r>
            <a:endParaRPr lang="en-US" sz="900" dirty="0"/>
          </a:p>
        </p:txBody>
      </p:sp>
      <p:sp>
        <p:nvSpPr>
          <p:cNvPr id="42" name="Text 40"/>
          <p:cNvSpPr/>
          <p:nvPr/>
        </p:nvSpPr>
        <p:spPr>
          <a:xfrm>
            <a:off x="8961120" y="2788920"/>
            <a:ext cx="594360" cy="384048"/>
          </a:xfrm>
          <a:prstGeom prst="rect">
            <a:avLst/>
          </a:prstGeom>
          <a:noFill/>
          <a:ln/>
        </p:spPr>
        <p:txBody>
          <a:bodyPr wrap="square" rtlCol="0" anchor="ctr"/>
          <a:lstStyle/>
          <a:p>
            <a:pPr indent="0" marL="0">
              <a:buNone/>
            </a:pPr>
            <a:r>
              <a:rPr lang="en-US" sz="900" dirty="0">
                <a:solidFill>
                  <a:srgbClr val="0B1E3F"/>
                </a:solidFill>
                <a:latin typeface="Consolas" pitchFamily="34" charset="0"/>
                <a:ea typeface="Consolas" pitchFamily="34" charset="-122"/>
                <a:cs typeface="Consolas" pitchFamily="34" charset="-120"/>
              </a:rPr>
              <a:t>TE</a:t>
            </a:r>
            <a:endParaRPr lang="en-US" sz="900" dirty="0"/>
          </a:p>
        </p:txBody>
      </p:sp>
      <p:sp>
        <p:nvSpPr>
          <p:cNvPr id="43" name="Text 41"/>
          <p:cNvSpPr/>
          <p:nvPr/>
        </p:nvSpPr>
        <p:spPr>
          <a:xfrm>
            <a:off x="9555480" y="2788920"/>
            <a:ext cx="2103120" cy="384048"/>
          </a:xfrm>
          <a:prstGeom prst="rect">
            <a:avLst/>
          </a:prstGeom>
          <a:noFill/>
          <a:ln/>
        </p:spPr>
        <p:txBody>
          <a:bodyPr wrap="square" rtlCol="0" anchor="ctr"/>
          <a:lstStyle/>
          <a:p>
            <a:pPr indent="0" marL="0">
              <a:buNone/>
            </a:pPr>
            <a:r>
              <a:rPr lang="en-US" sz="900" dirty="0">
                <a:solidFill>
                  <a:srgbClr val="0B1E3F"/>
                </a:solidFill>
                <a:latin typeface="Consolas" pitchFamily="34" charset="0"/>
                <a:ea typeface="Consolas" pitchFamily="34" charset="-122"/>
                <a:cs typeface="Consolas" pitchFamily="34" charset="-120"/>
              </a:rPr>
              <a:t>Original received</a:t>
            </a:r>
            <a:endParaRPr lang="en-US" sz="900" dirty="0"/>
          </a:p>
        </p:txBody>
      </p:sp>
      <p:sp>
        <p:nvSpPr>
          <p:cNvPr id="44" name="Shape 42"/>
          <p:cNvSpPr/>
          <p:nvPr/>
        </p:nvSpPr>
        <p:spPr>
          <a:xfrm>
            <a:off x="6675120" y="3172968"/>
            <a:ext cx="4892040" cy="384048"/>
          </a:xfrm>
          <a:prstGeom prst="rect">
            <a:avLst/>
          </a:prstGeom>
          <a:solidFill>
            <a:srgbClr val="F4F7FB"/>
          </a:solidFill>
          <a:ln w="6350">
            <a:solidFill>
              <a:srgbClr val="D9E1EC"/>
            </a:solidFill>
            <a:prstDash val="solid"/>
          </a:ln>
        </p:spPr>
      </p:sp>
      <p:sp>
        <p:nvSpPr>
          <p:cNvPr id="45" name="Text 43"/>
          <p:cNvSpPr/>
          <p:nvPr/>
        </p:nvSpPr>
        <p:spPr>
          <a:xfrm>
            <a:off x="6720840" y="3172968"/>
            <a:ext cx="548640" cy="384048"/>
          </a:xfrm>
          <a:prstGeom prst="rect">
            <a:avLst/>
          </a:prstGeom>
          <a:noFill/>
          <a:ln/>
        </p:spPr>
        <p:txBody>
          <a:bodyPr wrap="square" rtlCol="0" anchor="ctr"/>
          <a:lstStyle/>
          <a:p>
            <a:pPr indent="0" marL="0">
              <a:buNone/>
            </a:pPr>
            <a:r>
              <a:rPr lang="en-US" sz="900" b="1" dirty="0">
                <a:solidFill>
                  <a:srgbClr val="6C7BFF"/>
                </a:solidFill>
                <a:latin typeface="Consolas" pitchFamily="34" charset="0"/>
                <a:ea typeface="Consolas" pitchFamily="34" charset="-122"/>
                <a:cs typeface="Consolas" pitchFamily="34" charset="-120"/>
              </a:rPr>
              <a:t>T001</a:t>
            </a:r>
            <a:endParaRPr lang="en-US" sz="900" dirty="0"/>
          </a:p>
        </p:txBody>
      </p:sp>
      <p:sp>
        <p:nvSpPr>
          <p:cNvPr id="46" name="Text 44"/>
          <p:cNvSpPr/>
          <p:nvPr/>
        </p:nvSpPr>
        <p:spPr>
          <a:xfrm>
            <a:off x="7269480" y="3172968"/>
            <a:ext cx="1691640" cy="384048"/>
          </a:xfrm>
          <a:prstGeom prst="rect">
            <a:avLst/>
          </a:prstGeom>
          <a:noFill/>
          <a:ln/>
        </p:spPr>
        <p:txBody>
          <a:bodyPr wrap="square" rtlCol="0" anchor="ctr"/>
          <a:lstStyle/>
          <a:p>
            <a:pPr indent="0" marL="0">
              <a:buNone/>
            </a:pPr>
            <a:r>
              <a:rPr lang="en-US" sz="900" dirty="0">
                <a:solidFill>
                  <a:srgbClr val="0B1E3F"/>
                </a:solidFill>
                <a:latin typeface="Consolas" pitchFamily="34" charset="0"/>
                <a:ea typeface="Consolas" pitchFamily="34" charset="-122"/>
                <a:cs typeface="Consolas" pitchFamily="34" charset="-120"/>
              </a:rPr>
              <a:t>2025-06-16 09:12:05</a:t>
            </a:r>
            <a:endParaRPr lang="en-US" sz="900" dirty="0"/>
          </a:p>
        </p:txBody>
      </p:sp>
      <p:sp>
        <p:nvSpPr>
          <p:cNvPr id="47" name="Text 45"/>
          <p:cNvSpPr/>
          <p:nvPr/>
        </p:nvSpPr>
        <p:spPr>
          <a:xfrm>
            <a:off x="8961120" y="3172968"/>
            <a:ext cx="594360" cy="384048"/>
          </a:xfrm>
          <a:prstGeom prst="rect">
            <a:avLst/>
          </a:prstGeom>
          <a:noFill/>
          <a:ln/>
        </p:spPr>
        <p:txBody>
          <a:bodyPr wrap="square" rtlCol="0" anchor="ctr"/>
          <a:lstStyle/>
          <a:p>
            <a:pPr indent="0" marL="0">
              <a:buNone/>
            </a:pPr>
            <a:r>
              <a:rPr lang="en-US" sz="900" dirty="0">
                <a:solidFill>
                  <a:srgbClr val="0B1E3F"/>
                </a:solidFill>
                <a:latin typeface="Consolas" pitchFamily="34" charset="0"/>
                <a:ea typeface="Consolas" pitchFamily="34" charset="-122"/>
                <a:cs typeface="Consolas" pitchFamily="34" charset="-120"/>
              </a:rPr>
              <a:t>TE→EN</a:t>
            </a:r>
            <a:endParaRPr lang="en-US" sz="900" dirty="0"/>
          </a:p>
        </p:txBody>
      </p:sp>
      <p:sp>
        <p:nvSpPr>
          <p:cNvPr id="48" name="Text 46"/>
          <p:cNvSpPr/>
          <p:nvPr/>
        </p:nvSpPr>
        <p:spPr>
          <a:xfrm>
            <a:off x="9555480" y="3172968"/>
            <a:ext cx="2103120" cy="384048"/>
          </a:xfrm>
          <a:prstGeom prst="rect">
            <a:avLst/>
          </a:prstGeom>
          <a:noFill/>
          <a:ln/>
        </p:spPr>
        <p:txBody>
          <a:bodyPr wrap="square" rtlCol="0" anchor="ctr"/>
          <a:lstStyle/>
          <a:p>
            <a:pPr indent="0" marL="0">
              <a:buNone/>
            </a:pPr>
            <a:r>
              <a:rPr lang="en-US" sz="900" dirty="0">
                <a:solidFill>
                  <a:srgbClr val="0B1E3F"/>
                </a:solidFill>
                <a:latin typeface="Consolas" pitchFamily="34" charset="0"/>
                <a:ea typeface="Consolas" pitchFamily="34" charset="-122"/>
                <a:cs typeface="Consolas" pitchFamily="34" charset="-120"/>
              </a:rPr>
              <a:t>Translated</a:t>
            </a:r>
            <a:endParaRPr lang="en-US" sz="900" dirty="0"/>
          </a:p>
        </p:txBody>
      </p:sp>
      <p:sp>
        <p:nvSpPr>
          <p:cNvPr id="49" name="Shape 47"/>
          <p:cNvSpPr/>
          <p:nvPr/>
        </p:nvSpPr>
        <p:spPr>
          <a:xfrm>
            <a:off x="6675120" y="3557016"/>
            <a:ext cx="4892040" cy="384048"/>
          </a:xfrm>
          <a:prstGeom prst="rect">
            <a:avLst/>
          </a:prstGeom>
          <a:solidFill>
            <a:srgbClr val="FFFFFF"/>
          </a:solidFill>
          <a:ln w="6350">
            <a:solidFill>
              <a:srgbClr val="D9E1EC"/>
            </a:solidFill>
            <a:prstDash val="solid"/>
          </a:ln>
        </p:spPr>
      </p:sp>
      <p:sp>
        <p:nvSpPr>
          <p:cNvPr id="50" name="Text 48"/>
          <p:cNvSpPr/>
          <p:nvPr/>
        </p:nvSpPr>
        <p:spPr>
          <a:xfrm>
            <a:off x="6720840" y="3557016"/>
            <a:ext cx="548640" cy="384048"/>
          </a:xfrm>
          <a:prstGeom prst="rect">
            <a:avLst/>
          </a:prstGeom>
          <a:noFill/>
          <a:ln/>
        </p:spPr>
        <p:txBody>
          <a:bodyPr wrap="square" rtlCol="0" anchor="ctr"/>
          <a:lstStyle/>
          <a:p>
            <a:pPr indent="0" marL="0">
              <a:buNone/>
            </a:pPr>
            <a:r>
              <a:rPr lang="en-US" sz="900" b="1" dirty="0">
                <a:solidFill>
                  <a:srgbClr val="6C7BFF"/>
                </a:solidFill>
                <a:latin typeface="Consolas" pitchFamily="34" charset="0"/>
                <a:ea typeface="Consolas" pitchFamily="34" charset="-122"/>
                <a:cs typeface="Consolas" pitchFamily="34" charset="-120"/>
              </a:rPr>
              <a:t>T001</a:t>
            </a:r>
            <a:endParaRPr lang="en-US" sz="900" dirty="0"/>
          </a:p>
        </p:txBody>
      </p:sp>
      <p:sp>
        <p:nvSpPr>
          <p:cNvPr id="51" name="Text 49"/>
          <p:cNvSpPr/>
          <p:nvPr/>
        </p:nvSpPr>
        <p:spPr>
          <a:xfrm>
            <a:off x="7269480" y="3557016"/>
            <a:ext cx="1691640" cy="384048"/>
          </a:xfrm>
          <a:prstGeom prst="rect">
            <a:avLst/>
          </a:prstGeom>
          <a:noFill/>
          <a:ln/>
        </p:spPr>
        <p:txBody>
          <a:bodyPr wrap="square" rtlCol="0" anchor="ctr"/>
          <a:lstStyle/>
          <a:p>
            <a:pPr indent="0" marL="0">
              <a:buNone/>
            </a:pPr>
            <a:r>
              <a:rPr lang="en-US" sz="900" dirty="0">
                <a:solidFill>
                  <a:srgbClr val="0B1E3F"/>
                </a:solidFill>
                <a:latin typeface="Consolas" pitchFamily="34" charset="0"/>
                <a:ea typeface="Consolas" pitchFamily="34" charset="-122"/>
                <a:cs typeface="Consolas" pitchFamily="34" charset="-120"/>
              </a:rPr>
              <a:t>2025-06-16 09:12:06</a:t>
            </a:r>
            <a:endParaRPr lang="en-US" sz="900" dirty="0"/>
          </a:p>
        </p:txBody>
      </p:sp>
      <p:sp>
        <p:nvSpPr>
          <p:cNvPr id="52" name="Text 50"/>
          <p:cNvSpPr/>
          <p:nvPr/>
        </p:nvSpPr>
        <p:spPr>
          <a:xfrm>
            <a:off x="8961120" y="3557016"/>
            <a:ext cx="594360" cy="384048"/>
          </a:xfrm>
          <a:prstGeom prst="rect">
            <a:avLst/>
          </a:prstGeom>
          <a:noFill/>
          <a:ln/>
        </p:spPr>
        <p:txBody>
          <a:bodyPr wrap="square" rtlCol="0" anchor="ctr"/>
          <a:lstStyle/>
          <a:p>
            <a:pPr indent="0" marL="0">
              <a:buNone/>
            </a:pPr>
            <a:r>
              <a:rPr lang="en-US" sz="900" dirty="0">
                <a:solidFill>
                  <a:srgbClr val="0B1E3F"/>
                </a:solidFill>
                <a:latin typeface="Consolas" pitchFamily="34" charset="0"/>
                <a:ea typeface="Consolas" pitchFamily="34" charset="-122"/>
                <a:cs typeface="Consolas" pitchFamily="34" charset="-120"/>
              </a:rPr>
              <a:t>EN</a:t>
            </a:r>
            <a:endParaRPr lang="en-US" sz="900" dirty="0"/>
          </a:p>
        </p:txBody>
      </p:sp>
      <p:sp>
        <p:nvSpPr>
          <p:cNvPr id="53" name="Text 51"/>
          <p:cNvSpPr/>
          <p:nvPr/>
        </p:nvSpPr>
        <p:spPr>
          <a:xfrm>
            <a:off x="9555480" y="3557016"/>
            <a:ext cx="2103120" cy="384048"/>
          </a:xfrm>
          <a:prstGeom prst="rect">
            <a:avLst/>
          </a:prstGeom>
          <a:noFill/>
          <a:ln/>
        </p:spPr>
        <p:txBody>
          <a:bodyPr wrap="square" rtlCol="0" anchor="ctr"/>
          <a:lstStyle/>
          <a:p>
            <a:pPr indent="0" marL="0">
              <a:buNone/>
            </a:pPr>
            <a:r>
              <a:rPr lang="en-US" sz="900" dirty="0">
                <a:solidFill>
                  <a:srgbClr val="0B1E3F"/>
                </a:solidFill>
                <a:latin typeface="Consolas" pitchFamily="34" charset="0"/>
                <a:ea typeface="Consolas" pitchFamily="34" charset="-122"/>
                <a:cs typeface="Consolas" pitchFamily="34" charset="-120"/>
              </a:rPr>
              <a:t>Summary + category</a:t>
            </a:r>
            <a:endParaRPr lang="en-US" sz="900" dirty="0"/>
          </a:p>
        </p:txBody>
      </p:sp>
      <p:sp>
        <p:nvSpPr>
          <p:cNvPr id="54" name="Shape 52"/>
          <p:cNvSpPr/>
          <p:nvPr/>
        </p:nvSpPr>
        <p:spPr>
          <a:xfrm>
            <a:off x="6675120" y="3941064"/>
            <a:ext cx="4892040" cy="384048"/>
          </a:xfrm>
          <a:prstGeom prst="rect">
            <a:avLst/>
          </a:prstGeom>
          <a:solidFill>
            <a:srgbClr val="F4F7FB"/>
          </a:solidFill>
          <a:ln w="6350">
            <a:solidFill>
              <a:srgbClr val="D9E1EC"/>
            </a:solidFill>
            <a:prstDash val="solid"/>
          </a:ln>
        </p:spPr>
      </p:sp>
      <p:sp>
        <p:nvSpPr>
          <p:cNvPr id="55" name="Text 53"/>
          <p:cNvSpPr/>
          <p:nvPr/>
        </p:nvSpPr>
        <p:spPr>
          <a:xfrm>
            <a:off x="6720840" y="3941064"/>
            <a:ext cx="548640" cy="384048"/>
          </a:xfrm>
          <a:prstGeom prst="rect">
            <a:avLst/>
          </a:prstGeom>
          <a:noFill/>
          <a:ln/>
        </p:spPr>
        <p:txBody>
          <a:bodyPr wrap="square" rtlCol="0" anchor="ctr"/>
          <a:lstStyle/>
          <a:p>
            <a:pPr indent="0" marL="0">
              <a:buNone/>
            </a:pPr>
            <a:r>
              <a:rPr lang="en-US" sz="900" b="1" dirty="0">
                <a:solidFill>
                  <a:srgbClr val="6C7BFF"/>
                </a:solidFill>
                <a:latin typeface="Consolas" pitchFamily="34" charset="0"/>
                <a:ea typeface="Consolas" pitchFamily="34" charset="-122"/>
                <a:cs typeface="Consolas" pitchFamily="34" charset="-120"/>
              </a:rPr>
              <a:t>T001</a:t>
            </a:r>
            <a:endParaRPr lang="en-US" sz="900" dirty="0"/>
          </a:p>
        </p:txBody>
      </p:sp>
      <p:sp>
        <p:nvSpPr>
          <p:cNvPr id="56" name="Text 54"/>
          <p:cNvSpPr/>
          <p:nvPr/>
        </p:nvSpPr>
        <p:spPr>
          <a:xfrm>
            <a:off x="7269480" y="3941064"/>
            <a:ext cx="1691640" cy="384048"/>
          </a:xfrm>
          <a:prstGeom prst="rect">
            <a:avLst/>
          </a:prstGeom>
          <a:noFill/>
          <a:ln/>
        </p:spPr>
        <p:txBody>
          <a:bodyPr wrap="square" rtlCol="0" anchor="ctr"/>
          <a:lstStyle/>
          <a:p>
            <a:pPr indent="0" marL="0">
              <a:buNone/>
            </a:pPr>
            <a:r>
              <a:rPr lang="en-US" sz="900" dirty="0">
                <a:solidFill>
                  <a:srgbClr val="0B1E3F"/>
                </a:solidFill>
                <a:latin typeface="Consolas" pitchFamily="34" charset="0"/>
                <a:ea typeface="Consolas" pitchFamily="34" charset="-122"/>
                <a:cs typeface="Consolas" pitchFamily="34" charset="-120"/>
              </a:rPr>
              <a:t>2025-06-16 09:18:21</a:t>
            </a:r>
            <a:endParaRPr lang="en-US" sz="900" dirty="0"/>
          </a:p>
        </p:txBody>
      </p:sp>
      <p:sp>
        <p:nvSpPr>
          <p:cNvPr id="57" name="Text 55"/>
          <p:cNvSpPr/>
          <p:nvPr/>
        </p:nvSpPr>
        <p:spPr>
          <a:xfrm>
            <a:off x="8961120" y="3941064"/>
            <a:ext cx="594360" cy="384048"/>
          </a:xfrm>
          <a:prstGeom prst="rect">
            <a:avLst/>
          </a:prstGeom>
          <a:noFill/>
          <a:ln/>
        </p:spPr>
        <p:txBody>
          <a:bodyPr wrap="square" rtlCol="0" anchor="ctr"/>
          <a:lstStyle/>
          <a:p>
            <a:pPr indent="0" marL="0">
              <a:buNone/>
            </a:pPr>
            <a:r>
              <a:rPr lang="en-US" sz="900" dirty="0">
                <a:solidFill>
                  <a:srgbClr val="0B1E3F"/>
                </a:solidFill>
                <a:latin typeface="Consolas" pitchFamily="34" charset="0"/>
                <a:ea typeface="Consolas" pitchFamily="34" charset="-122"/>
                <a:cs typeface="Consolas" pitchFamily="34" charset="-120"/>
              </a:rPr>
              <a:t>EN</a:t>
            </a:r>
            <a:endParaRPr lang="en-US" sz="900" dirty="0"/>
          </a:p>
        </p:txBody>
      </p:sp>
      <p:sp>
        <p:nvSpPr>
          <p:cNvPr id="58" name="Text 56"/>
          <p:cNvSpPr/>
          <p:nvPr/>
        </p:nvSpPr>
        <p:spPr>
          <a:xfrm>
            <a:off x="9555480" y="3941064"/>
            <a:ext cx="2103120" cy="384048"/>
          </a:xfrm>
          <a:prstGeom prst="rect">
            <a:avLst/>
          </a:prstGeom>
          <a:noFill/>
          <a:ln/>
        </p:spPr>
        <p:txBody>
          <a:bodyPr wrap="square" rtlCol="0" anchor="ctr"/>
          <a:lstStyle/>
          <a:p>
            <a:pPr indent="0" marL="0">
              <a:buNone/>
            </a:pPr>
            <a:r>
              <a:rPr lang="en-US" sz="900" dirty="0">
                <a:solidFill>
                  <a:srgbClr val="0B1E3F"/>
                </a:solidFill>
                <a:latin typeface="Consolas" pitchFamily="34" charset="0"/>
                <a:ea typeface="Consolas" pitchFamily="34" charset="-122"/>
                <a:cs typeface="Consolas" pitchFamily="34" charset="-120"/>
              </a:rPr>
              <a:t>Engineer replied</a:t>
            </a:r>
            <a:endParaRPr lang="en-US" sz="900" dirty="0"/>
          </a:p>
        </p:txBody>
      </p:sp>
      <p:sp>
        <p:nvSpPr>
          <p:cNvPr id="59" name="Shape 57"/>
          <p:cNvSpPr/>
          <p:nvPr/>
        </p:nvSpPr>
        <p:spPr>
          <a:xfrm>
            <a:off x="6675120" y="4325112"/>
            <a:ext cx="4892040" cy="384048"/>
          </a:xfrm>
          <a:prstGeom prst="rect">
            <a:avLst/>
          </a:prstGeom>
          <a:solidFill>
            <a:srgbClr val="FFFFFF"/>
          </a:solidFill>
          <a:ln w="6350">
            <a:solidFill>
              <a:srgbClr val="D9E1EC"/>
            </a:solidFill>
            <a:prstDash val="solid"/>
          </a:ln>
        </p:spPr>
      </p:sp>
      <p:sp>
        <p:nvSpPr>
          <p:cNvPr id="60" name="Text 58"/>
          <p:cNvSpPr/>
          <p:nvPr/>
        </p:nvSpPr>
        <p:spPr>
          <a:xfrm>
            <a:off x="6720840" y="4325112"/>
            <a:ext cx="548640" cy="384048"/>
          </a:xfrm>
          <a:prstGeom prst="rect">
            <a:avLst/>
          </a:prstGeom>
          <a:noFill/>
          <a:ln/>
        </p:spPr>
        <p:txBody>
          <a:bodyPr wrap="square" rtlCol="0" anchor="ctr"/>
          <a:lstStyle/>
          <a:p>
            <a:pPr indent="0" marL="0">
              <a:buNone/>
            </a:pPr>
            <a:r>
              <a:rPr lang="en-US" sz="900" b="1" dirty="0">
                <a:solidFill>
                  <a:srgbClr val="6C7BFF"/>
                </a:solidFill>
                <a:latin typeface="Consolas" pitchFamily="34" charset="0"/>
                <a:ea typeface="Consolas" pitchFamily="34" charset="-122"/>
                <a:cs typeface="Consolas" pitchFamily="34" charset="-120"/>
              </a:rPr>
              <a:t>T001</a:t>
            </a:r>
            <a:endParaRPr lang="en-US" sz="900" dirty="0"/>
          </a:p>
        </p:txBody>
      </p:sp>
      <p:sp>
        <p:nvSpPr>
          <p:cNvPr id="61" name="Text 59"/>
          <p:cNvSpPr/>
          <p:nvPr/>
        </p:nvSpPr>
        <p:spPr>
          <a:xfrm>
            <a:off x="7269480" y="4325112"/>
            <a:ext cx="1691640" cy="384048"/>
          </a:xfrm>
          <a:prstGeom prst="rect">
            <a:avLst/>
          </a:prstGeom>
          <a:noFill/>
          <a:ln/>
        </p:spPr>
        <p:txBody>
          <a:bodyPr wrap="square" rtlCol="0" anchor="ctr"/>
          <a:lstStyle/>
          <a:p>
            <a:pPr indent="0" marL="0">
              <a:buNone/>
            </a:pPr>
            <a:r>
              <a:rPr lang="en-US" sz="900" dirty="0">
                <a:solidFill>
                  <a:srgbClr val="0B1E3F"/>
                </a:solidFill>
                <a:latin typeface="Consolas" pitchFamily="34" charset="0"/>
                <a:ea typeface="Consolas" pitchFamily="34" charset="-122"/>
                <a:cs typeface="Consolas" pitchFamily="34" charset="-120"/>
              </a:rPr>
              <a:t>2025-06-16 09:18:22</a:t>
            </a:r>
            <a:endParaRPr lang="en-US" sz="900" dirty="0"/>
          </a:p>
        </p:txBody>
      </p:sp>
      <p:sp>
        <p:nvSpPr>
          <p:cNvPr id="62" name="Text 60"/>
          <p:cNvSpPr/>
          <p:nvPr/>
        </p:nvSpPr>
        <p:spPr>
          <a:xfrm>
            <a:off x="8961120" y="4325112"/>
            <a:ext cx="594360" cy="384048"/>
          </a:xfrm>
          <a:prstGeom prst="rect">
            <a:avLst/>
          </a:prstGeom>
          <a:noFill/>
          <a:ln/>
        </p:spPr>
        <p:txBody>
          <a:bodyPr wrap="square" rtlCol="0" anchor="ctr"/>
          <a:lstStyle/>
          <a:p>
            <a:pPr indent="0" marL="0">
              <a:buNone/>
            </a:pPr>
            <a:r>
              <a:rPr lang="en-US" sz="900" dirty="0">
                <a:solidFill>
                  <a:srgbClr val="0B1E3F"/>
                </a:solidFill>
                <a:latin typeface="Consolas" pitchFamily="34" charset="0"/>
                <a:ea typeface="Consolas" pitchFamily="34" charset="-122"/>
                <a:cs typeface="Consolas" pitchFamily="34" charset="-120"/>
              </a:rPr>
              <a:t>EN→TE</a:t>
            </a:r>
            <a:endParaRPr lang="en-US" sz="900" dirty="0"/>
          </a:p>
        </p:txBody>
      </p:sp>
      <p:sp>
        <p:nvSpPr>
          <p:cNvPr id="63" name="Text 61"/>
          <p:cNvSpPr/>
          <p:nvPr/>
        </p:nvSpPr>
        <p:spPr>
          <a:xfrm>
            <a:off x="9555480" y="4325112"/>
            <a:ext cx="2103120" cy="384048"/>
          </a:xfrm>
          <a:prstGeom prst="rect">
            <a:avLst/>
          </a:prstGeom>
          <a:noFill/>
          <a:ln/>
        </p:spPr>
        <p:txBody>
          <a:bodyPr wrap="square" rtlCol="0" anchor="ctr"/>
          <a:lstStyle/>
          <a:p>
            <a:pPr indent="0" marL="0">
              <a:buNone/>
            </a:pPr>
            <a:r>
              <a:rPr lang="en-US" sz="900" dirty="0">
                <a:solidFill>
                  <a:srgbClr val="0B1E3F"/>
                </a:solidFill>
                <a:latin typeface="Consolas" pitchFamily="34" charset="0"/>
                <a:ea typeface="Consolas" pitchFamily="34" charset="-122"/>
                <a:cs typeface="Consolas" pitchFamily="34" charset="-120"/>
              </a:rPr>
              <a:t>Reply translated</a:t>
            </a:r>
            <a:endParaRPr lang="en-US" sz="900" dirty="0"/>
          </a:p>
        </p:txBody>
      </p:sp>
      <p:sp>
        <p:nvSpPr>
          <p:cNvPr id="64" name="Shape 62"/>
          <p:cNvSpPr/>
          <p:nvPr/>
        </p:nvSpPr>
        <p:spPr>
          <a:xfrm>
            <a:off x="6675120" y="4709160"/>
            <a:ext cx="4892040" cy="384048"/>
          </a:xfrm>
          <a:prstGeom prst="rect">
            <a:avLst/>
          </a:prstGeom>
          <a:solidFill>
            <a:srgbClr val="F4F7FB"/>
          </a:solidFill>
          <a:ln w="6350">
            <a:solidFill>
              <a:srgbClr val="D9E1EC"/>
            </a:solidFill>
            <a:prstDash val="solid"/>
          </a:ln>
        </p:spPr>
      </p:sp>
      <p:sp>
        <p:nvSpPr>
          <p:cNvPr id="65" name="Text 63"/>
          <p:cNvSpPr/>
          <p:nvPr/>
        </p:nvSpPr>
        <p:spPr>
          <a:xfrm>
            <a:off x="6720840" y="4709160"/>
            <a:ext cx="548640" cy="384048"/>
          </a:xfrm>
          <a:prstGeom prst="rect">
            <a:avLst/>
          </a:prstGeom>
          <a:noFill/>
          <a:ln/>
        </p:spPr>
        <p:txBody>
          <a:bodyPr wrap="square" rtlCol="0" anchor="ctr"/>
          <a:lstStyle/>
          <a:p>
            <a:pPr indent="0" marL="0">
              <a:buNone/>
            </a:pPr>
            <a:r>
              <a:rPr lang="en-US" sz="900" b="1" dirty="0">
                <a:solidFill>
                  <a:srgbClr val="6C7BFF"/>
                </a:solidFill>
                <a:latin typeface="Consolas" pitchFamily="34" charset="0"/>
                <a:ea typeface="Consolas" pitchFamily="34" charset="-122"/>
                <a:cs typeface="Consolas" pitchFamily="34" charset="-120"/>
              </a:rPr>
              <a:t>T001</a:t>
            </a:r>
            <a:endParaRPr lang="en-US" sz="900" dirty="0"/>
          </a:p>
        </p:txBody>
      </p:sp>
      <p:sp>
        <p:nvSpPr>
          <p:cNvPr id="66" name="Text 64"/>
          <p:cNvSpPr/>
          <p:nvPr/>
        </p:nvSpPr>
        <p:spPr>
          <a:xfrm>
            <a:off x="7269480" y="4709160"/>
            <a:ext cx="1691640" cy="384048"/>
          </a:xfrm>
          <a:prstGeom prst="rect">
            <a:avLst/>
          </a:prstGeom>
          <a:noFill/>
          <a:ln/>
        </p:spPr>
        <p:txBody>
          <a:bodyPr wrap="square" rtlCol="0" anchor="ctr"/>
          <a:lstStyle/>
          <a:p>
            <a:pPr indent="0" marL="0">
              <a:buNone/>
            </a:pPr>
            <a:r>
              <a:rPr lang="en-US" sz="900" dirty="0">
                <a:solidFill>
                  <a:srgbClr val="0B1E3F"/>
                </a:solidFill>
                <a:latin typeface="Consolas" pitchFamily="34" charset="0"/>
                <a:ea typeface="Consolas" pitchFamily="34" charset="-122"/>
                <a:cs typeface="Consolas" pitchFamily="34" charset="-120"/>
              </a:rPr>
              <a:t>2025-06-16 09:18:22</a:t>
            </a:r>
            <a:endParaRPr lang="en-US" sz="900" dirty="0"/>
          </a:p>
        </p:txBody>
      </p:sp>
      <p:sp>
        <p:nvSpPr>
          <p:cNvPr id="67" name="Text 65"/>
          <p:cNvSpPr/>
          <p:nvPr/>
        </p:nvSpPr>
        <p:spPr>
          <a:xfrm>
            <a:off x="8961120" y="4709160"/>
            <a:ext cx="594360" cy="384048"/>
          </a:xfrm>
          <a:prstGeom prst="rect">
            <a:avLst/>
          </a:prstGeom>
          <a:noFill/>
          <a:ln/>
        </p:spPr>
        <p:txBody>
          <a:bodyPr wrap="square" rtlCol="0" anchor="ctr"/>
          <a:lstStyle/>
          <a:p>
            <a:pPr indent="0" marL="0">
              <a:buNone/>
            </a:pPr>
            <a:r>
              <a:rPr lang="en-US" sz="900" dirty="0">
                <a:solidFill>
                  <a:srgbClr val="0B1E3F"/>
                </a:solidFill>
                <a:latin typeface="Consolas" pitchFamily="34" charset="0"/>
                <a:ea typeface="Consolas" pitchFamily="34" charset="-122"/>
                <a:cs typeface="Consolas" pitchFamily="34" charset="-120"/>
              </a:rPr>
              <a:t>TE</a:t>
            </a:r>
            <a:endParaRPr lang="en-US" sz="900" dirty="0"/>
          </a:p>
        </p:txBody>
      </p:sp>
      <p:sp>
        <p:nvSpPr>
          <p:cNvPr id="68" name="Text 66"/>
          <p:cNvSpPr/>
          <p:nvPr/>
        </p:nvSpPr>
        <p:spPr>
          <a:xfrm>
            <a:off x="9555480" y="4709160"/>
            <a:ext cx="2103120" cy="384048"/>
          </a:xfrm>
          <a:prstGeom prst="rect">
            <a:avLst/>
          </a:prstGeom>
          <a:noFill/>
          <a:ln/>
        </p:spPr>
        <p:txBody>
          <a:bodyPr wrap="square" rtlCol="0" anchor="ctr"/>
          <a:lstStyle/>
          <a:p>
            <a:pPr indent="0" marL="0">
              <a:buNone/>
            </a:pPr>
            <a:r>
              <a:rPr lang="en-US" sz="900" dirty="0">
                <a:solidFill>
                  <a:srgbClr val="0B1E3F"/>
                </a:solidFill>
                <a:latin typeface="Consolas" pitchFamily="34" charset="0"/>
                <a:ea typeface="Consolas" pitchFamily="34" charset="-122"/>
                <a:cs typeface="Consolas" pitchFamily="34" charset="-120"/>
              </a:rPr>
              <a:t>Terms restored</a:t>
            </a:r>
            <a:endParaRPr lang="en-US" sz="900" dirty="0"/>
          </a:p>
        </p:txBody>
      </p:sp>
      <p:sp>
        <p:nvSpPr>
          <p:cNvPr id="69" name="Shape 67"/>
          <p:cNvSpPr/>
          <p:nvPr/>
        </p:nvSpPr>
        <p:spPr>
          <a:xfrm>
            <a:off x="6675120" y="5093208"/>
            <a:ext cx="4892040" cy="384048"/>
          </a:xfrm>
          <a:prstGeom prst="rect">
            <a:avLst/>
          </a:prstGeom>
          <a:solidFill>
            <a:srgbClr val="FFFFFF"/>
          </a:solidFill>
          <a:ln w="6350">
            <a:solidFill>
              <a:srgbClr val="D9E1EC"/>
            </a:solidFill>
            <a:prstDash val="solid"/>
          </a:ln>
        </p:spPr>
      </p:sp>
      <p:sp>
        <p:nvSpPr>
          <p:cNvPr id="70" name="Text 68"/>
          <p:cNvSpPr/>
          <p:nvPr/>
        </p:nvSpPr>
        <p:spPr>
          <a:xfrm>
            <a:off x="6720840" y="5093208"/>
            <a:ext cx="548640" cy="384048"/>
          </a:xfrm>
          <a:prstGeom prst="rect">
            <a:avLst/>
          </a:prstGeom>
          <a:noFill/>
          <a:ln/>
        </p:spPr>
        <p:txBody>
          <a:bodyPr wrap="square" rtlCol="0" anchor="ctr"/>
          <a:lstStyle/>
          <a:p>
            <a:pPr indent="0" marL="0">
              <a:buNone/>
            </a:pPr>
            <a:r>
              <a:rPr lang="en-US" sz="900" b="1" dirty="0">
                <a:solidFill>
                  <a:srgbClr val="6C7BFF"/>
                </a:solidFill>
                <a:latin typeface="Consolas" pitchFamily="34" charset="0"/>
                <a:ea typeface="Consolas" pitchFamily="34" charset="-122"/>
                <a:cs typeface="Consolas" pitchFamily="34" charset="-120"/>
              </a:rPr>
              <a:t>T002</a:t>
            </a:r>
            <a:endParaRPr lang="en-US" sz="900" dirty="0"/>
          </a:p>
        </p:txBody>
      </p:sp>
      <p:sp>
        <p:nvSpPr>
          <p:cNvPr id="71" name="Text 69"/>
          <p:cNvSpPr/>
          <p:nvPr/>
        </p:nvSpPr>
        <p:spPr>
          <a:xfrm>
            <a:off x="7269480" y="5093208"/>
            <a:ext cx="1691640" cy="384048"/>
          </a:xfrm>
          <a:prstGeom prst="rect">
            <a:avLst/>
          </a:prstGeom>
          <a:noFill/>
          <a:ln/>
        </p:spPr>
        <p:txBody>
          <a:bodyPr wrap="square" rtlCol="0" anchor="ctr"/>
          <a:lstStyle/>
          <a:p>
            <a:pPr indent="0" marL="0">
              <a:buNone/>
            </a:pPr>
            <a:r>
              <a:rPr lang="en-US" sz="900" dirty="0">
                <a:solidFill>
                  <a:srgbClr val="0B1E3F"/>
                </a:solidFill>
                <a:latin typeface="Consolas" pitchFamily="34" charset="0"/>
                <a:ea typeface="Consolas" pitchFamily="34" charset="-122"/>
                <a:cs typeface="Consolas" pitchFamily="34" charset="-120"/>
              </a:rPr>
              <a:t>2025-06-16 09:19:30</a:t>
            </a:r>
            <a:endParaRPr lang="en-US" sz="900" dirty="0"/>
          </a:p>
        </p:txBody>
      </p:sp>
      <p:sp>
        <p:nvSpPr>
          <p:cNvPr id="72" name="Text 70"/>
          <p:cNvSpPr/>
          <p:nvPr/>
        </p:nvSpPr>
        <p:spPr>
          <a:xfrm>
            <a:off x="8961120" y="5093208"/>
            <a:ext cx="594360" cy="384048"/>
          </a:xfrm>
          <a:prstGeom prst="rect">
            <a:avLst/>
          </a:prstGeom>
          <a:noFill/>
          <a:ln/>
        </p:spPr>
        <p:txBody>
          <a:bodyPr wrap="square" rtlCol="0" anchor="ctr"/>
          <a:lstStyle/>
          <a:p>
            <a:pPr indent="0" marL="0">
              <a:buNone/>
            </a:pPr>
            <a:r>
              <a:rPr lang="en-US" sz="900" dirty="0">
                <a:solidFill>
                  <a:srgbClr val="0B1E3F"/>
                </a:solidFill>
                <a:latin typeface="Consolas" pitchFamily="34" charset="0"/>
                <a:ea typeface="Consolas" pitchFamily="34" charset="-122"/>
                <a:cs typeface="Consolas" pitchFamily="34" charset="-120"/>
              </a:rPr>
              <a:t>HI</a:t>
            </a:r>
            <a:endParaRPr lang="en-US" sz="900" dirty="0"/>
          </a:p>
        </p:txBody>
      </p:sp>
      <p:sp>
        <p:nvSpPr>
          <p:cNvPr id="73" name="Text 71"/>
          <p:cNvSpPr/>
          <p:nvPr/>
        </p:nvSpPr>
        <p:spPr>
          <a:xfrm>
            <a:off x="9555480" y="5093208"/>
            <a:ext cx="2103120" cy="384048"/>
          </a:xfrm>
          <a:prstGeom prst="rect">
            <a:avLst/>
          </a:prstGeom>
          <a:noFill/>
          <a:ln/>
        </p:spPr>
        <p:txBody>
          <a:bodyPr wrap="square" rtlCol="0" anchor="ctr"/>
          <a:lstStyle/>
          <a:p>
            <a:pPr indent="0" marL="0">
              <a:buNone/>
            </a:pPr>
            <a:r>
              <a:rPr lang="en-US" sz="900" dirty="0">
                <a:solidFill>
                  <a:srgbClr val="0B1E3F"/>
                </a:solidFill>
                <a:latin typeface="Consolas" pitchFamily="34" charset="0"/>
                <a:ea typeface="Consolas" pitchFamily="34" charset="-122"/>
                <a:cs typeface="Consolas" pitchFamily="34" charset="-120"/>
              </a:rPr>
              <a:t>Original received</a:t>
            </a:r>
            <a:endParaRPr lang="en-US" sz="900" dirty="0"/>
          </a:p>
        </p:txBody>
      </p:sp>
      <p:sp>
        <p:nvSpPr>
          <p:cNvPr id="74" name="Shape 72"/>
          <p:cNvSpPr/>
          <p:nvPr/>
        </p:nvSpPr>
        <p:spPr>
          <a:xfrm>
            <a:off x="6675120" y="5477256"/>
            <a:ext cx="4892040" cy="384048"/>
          </a:xfrm>
          <a:prstGeom prst="rect">
            <a:avLst/>
          </a:prstGeom>
          <a:solidFill>
            <a:srgbClr val="F4F7FB"/>
          </a:solidFill>
          <a:ln w="6350">
            <a:solidFill>
              <a:srgbClr val="D9E1EC"/>
            </a:solidFill>
            <a:prstDash val="solid"/>
          </a:ln>
        </p:spPr>
      </p:sp>
      <p:sp>
        <p:nvSpPr>
          <p:cNvPr id="75" name="Text 73"/>
          <p:cNvSpPr/>
          <p:nvPr/>
        </p:nvSpPr>
        <p:spPr>
          <a:xfrm>
            <a:off x="6720840" y="5477256"/>
            <a:ext cx="548640" cy="384048"/>
          </a:xfrm>
          <a:prstGeom prst="rect">
            <a:avLst/>
          </a:prstGeom>
          <a:noFill/>
          <a:ln/>
        </p:spPr>
        <p:txBody>
          <a:bodyPr wrap="square" rtlCol="0" anchor="ctr"/>
          <a:lstStyle/>
          <a:p>
            <a:pPr indent="0" marL="0">
              <a:buNone/>
            </a:pPr>
            <a:r>
              <a:rPr lang="en-US" sz="900" b="1" dirty="0">
                <a:solidFill>
                  <a:srgbClr val="6C7BFF"/>
                </a:solidFill>
                <a:latin typeface="Consolas" pitchFamily="34" charset="0"/>
                <a:ea typeface="Consolas" pitchFamily="34" charset="-122"/>
                <a:cs typeface="Consolas" pitchFamily="34" charset="-120"/>
              </a:rPr>
              <a:t>T002</a:t>
            </a:r>
            <a:endParaRPr lang="en-US" sz="900" dirty="0"/>
          </a:p>
        </p:txBody>
      </p:sp>
      <p:sp>
        <p:nvSpPr>
          <p:cNvPr id="76" name="Text 74"/>
          <p:cNvSpPr/>
          <p:nvPr/>
        </p:nvSpPr>
        <p:spPr>
          <a:xfrm>
            <a:off x="7269480" y="5477256"/>
            <a:ext cx="1691640" cy="384048"/>
          </a:xfrm>
          <a:prstGeom prst="rect">
            <a:avLst/>
          </a:prstGeom>
          <a:noFill/>
          <a:ln/>
        </p:spPr>
        <p:txBody>
          <a:bodyPr wrap="square" rtlCol="0" anchor="ctr"/>
          <a:lstStyle/>
          <a:p>
            <a:pPr indent="0" marL="0">
              <a:buNone/>
            </a:pPr>
            <a:r>
              <a:rPr lang="en-US" sz="900" dirty="0">
                <a:solidFill>
                  <a:srgbClr val="0B1E3F"/>
                </a:solidFill>
                <a:latin typeface="Consolas" pitchFamily="34" charset="0"/>
                <a:ea typeface="Consolas" pitchFamily="34" charset="-122"/>
                <a:cs typeface="Consolas" pitchFamily="34" charset="-120"/>
              </a:rPr>
              <a:t>2025-06-16 09:19:31</a:t>
            </a:r>
            <a:endParaRPr lang="en-US" sz="900" dirty="0"/>
          </a:p>
        </p:txBody>
      </p:sp>
      <p:sp>
        <p:nvSpPr>
          <p:cNvPr id="77" name="Text 75"/>
          <p:cNvSpPr/>
          <p:nvPr/>
        </p:nvSpPr>
        <p:spPr>
          <a:xfrm>
            <a:off x="8961120" y="5477256"/>
            <a:ext cx="594360" cy="384048"/>
          </a:xfrm>
          <a:prstGeom prst="rect">
            <a:avLst/>
          </a:prstGeom>
          <a:noFill/>
          <a:ln/>
        </p:spPr>
        <p:txBody>
          <a:bodyPr wrap="square" rtlCol="0" anchor="ctr"/>
          <a:lstStyle/>
          <a:p>
            <a:pPr indent="0" marL="0">
              <a:buNone/>
            </a:pPr>
            <a:r>
              <a:rPr lang="en-US" sz="900" dirty="0">
                <a:solidFill>
                  <a:srgbClr val="0B1E3F"/>
                </a:solidFill>
                <a:latin typeface="Consolas" pitchFamily="34" charset="0"/>
                <a:ea typeface="Consolas" pitchFamily="34" charset="-122"/>
                <a:cs typeface="Consolas" pitchFamily="34" charset="-120"/>
              </a:rPr>
              <a:t>HI→EN</a:t>
            </a:r>
            <a:endParaRPr lang="en-US" sz="900" dirty="0"/>
          </a:p>
        </p:txBody>
      </p:sp>
      <p:sp>
        <p:nvSpPr>
          <p:cNvPr id="78" name="Text 76"/>
          <p:cNvSpPr/>
          <p:nvPr/>
        </p:nvSpPr>
        <p:spPr>
          <a:xfrm>
            <a:off x="9555480" y="5477256"/>
            <a:ext cx="2103120" cy="384048"/>
          </a:xfrm>
          <a:prstGeom prst="rect">
            <a:avLst/>
          </a:prstGeom>
          <a:noFill/>
          <a:ln/>
        </p:spPr>
        <p:txBody>
          <a:bodyPr wrap="square" rtlCol="0" anchor="ctr"/>
          <a:lstStyle/>
          <a:p>
            <a:pPr indent="0" marL="0">
              <a:buNone/>
            </a:pPr>
            <a:r>
              <a:rPr lang="en-US" sz="900" dirty="0">
                <a:solidFill>
                  <a:srgbClr val="0B1E3F"/>
                </a:solidFill>
                <a:latin typeface="Consolas" pitchFamily="34" charset="0"/>
                <a:ea typeface="Consolas" pitchFamily="34" charset="-122"/>
                <a:cs typeface="Consolas" pitchFamily="34" charset="-120"/>
              </a:rPr>
              <a:t>Translated</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E3F"/>
          </a:solidFill>
          <a:ln/>
        </p:spPr>
      </p:sp>
      <p:sp>
        <p:nvSpPr>
          <p:cNvPr id="3" name="Shape 1"/>
          <p:cNvSpPr/>
          <p:nvPr/>
        </p:nvSpPr>
        <p:spPr>
          <a:xfrm>
            <a:off x="0" y="502920"/>
            <a:ext cx="12191695" cy="36576"/>
          </a:xfrm>
          <a:prstGeom prst="rect">
            <a:avLst/>
          </a:prstGeom>
          <a:solidFill>
            <a:srgbClr val="1FB8C9"/>
          </a:solidFill>
          <a:ln/>
        </p:spPr>
      </p:sp>
      <p:sp>
        <p:nvSpPr>
          <p:cNvPr id="4" name="Text 2"/>
          <p:cNvSpPr/>
          <p:nvPr/>
        </p:nvSpPr>
        <p:spPr>
          <a:xfrm>
            <a:off x="365760" y="0"/>
            <a:ext cx="11430000" cy="502920"/>
          </a:xfrm>
          <a:prstGeom prst="rect">
            <a:avLst/>
          </a:prstGeom>
          <a:noFill/>
          <a:ln/>
        </p:spPr>
        <p:txBody>
          <a:bodyPr wrap="square" rtlCol="0" anchor="ctr"/>
          <a:lstStyle/>
          <a:p>
            <a:pPr indent="0" marL="0">
              <a:buNone/>
            </a:pPr>
            <a:r>
              <a:rPr lang="en-US" sz="1000" b="1" spc="300" kern="0" dirty="0">
                <a:solidFill>
                  <a:srgbClr val="FFFFFF"/>
                </a:solidFill>
                <a:latin typeface="Calibri" pitchFamily="34" charset="0"/>
                <a:ea typeface="Calibri" pitchFamily="34" charset="-122"/>
                <a:cs typeface="Calibri" pitchFamily="34" charset="-120"/>
              </a:rPr>
              <a:t>MULTILINGUAL TICKET TRANSLATOR  •  TEAM 9  •  SD-04</a:t>
            </a:r>
            <a:endParaRPr lang="en-US" sz="1000" dirty="0"/>
          </a:p>
        </p:txBody>
      </p:sp>
      <p:sp>
        <p:nvSpPr>
          <p:cNvPr id="5" name="Text 3"/>
          <p:cNvSpPr/>
          <p:nvPr/>
        </p:nvSpPr>
        <p:spPr>
          <a:xfrm>
            <a:off x="457200" y="685800"/>
            <a:ext cx="11247120" cy="320040"/>
          </a:xfrm>
          <a:prstGeom prst="rect">
            <a:avLst/>
          </a:prstGeom>
          <a:noFill/>
          <a:ln/>
        </p:spPr>
        <p:txBody>
          <a:bodyPr wrap="square" rtlCol="0" anchor="ctr"/>
          <a:lstStyle/>
          <a:p>
            <a:pPr indent="0" marL="0">
              <a:buNone/>
            </a:pPr>
            <a:r>
              <a:rPr lang="en-US" sz="1100" b="1" spc="400" kern="0" dirty="0">
                <a:solidFill>
                  <a:srgbClr val="1FB8C9"/>
                </a:solidFill>
                <a:latin typeface="Calibri" pitchFamily="34" charset="0"/>
                <a:ea typeface="Calibri" pitchFamily="34" charset="-122"/>
                <a:cs typeface="Calibri" pitchFamily="34" charset="-120"/>
              </a:rPr>
              <a:t>11 — STREAMLIT DASHBOARD</a:t>
            </a:r>
            <a:endParaRPr lang="en-US" sz="1100" dirty="0"/>
          </a:p>
        </p:txBody>
      </p:sp>
      <p:sp>
        <p:nvSpPr>
          <p:cNvPr id="6" name="Text 4"/>
          <p:cNvSpPr/>
          <p:nvPr/>
        </p:nvSpPr>
        <p:spPr>
          <a:xfrm>
            <a:off x="457200" y="960120"/>
            <a:ext cx="11247120" cy="640080"/>
          </a:xfrm>
          <a:prstGeom prst="rect">
            <a:avLst/>
          </a:prstGeom>
          <a:noFill/>
          <a:ln/>
        </p:spPr>
        <p:txBody>
          <a:bodyPr wrap="square" rtlCol="0" anchor="ctr"/>
          <a:lstStyle/>
          <a:p>
            <a:pPr indent="0" marL="0">
              <a:buNone/>
            </a:pPr>
            <a:r>
              <a:rPr lang="en-US" sz="3000" b="1" dirty="0">
                <a:solidFill>
                  <a:srgbClr val="0B1E3F"/>
                </a:solidFill>
                <a:latin typeface="Calibri" pitchFamily="34" charset="0"/>
                <a:ea typeface="Calibri" pitchFamily="34" charset="-122"/>
                <a:cs typeface="Calibri" pitchFamily="34" charset="-120"/>
              </a:rPr>
              <a:t>Application Demonstration</a:t>
            </a:r>
            <a:endParaRPr lang="en-US" sz="3000" dirty="0"/>
          </a:p>
        </p:txBody>
      </p:sp>
      <p:sp>
        <p:nvSpPr>
          <p:cNvPr id="7" name="Shape 5"/>
          <p:cNvSpPr/>
          <p:nvPr/>
        </p:nvSpPr>
        <p:spPr>
          <a:xfrm>
            <a:off x="457200" y="1627632"/>
            <a:ext cx="548640" cy="54864"/>
          </a:xfrm>
          <a:prstGeom prst="rect">
            <a:avLst/>
          </a:prstGeom>
          <a:solidFill>
            <a:srgbClr val="1FB8C9"/>
          </a:solidFill>
          <a:ln w="12700">
            <a:solidFill>
              <a:srgbClr val="1FB8C9"/>
            </a:solidFill>
            <a:prstDash val="solid"/>
          </a:ln>
        </p:spPr>
      </p:sp>
      <p:sp>
        <p:nvSpPr>
          <p:cNvPr id="8" name="Shape 6"/>
          <p:cNvSpPr/>
          <p:nvPr/>
        </p:nvSpPr>
        <p:spPr>
          <a:xfrm>
            <a:off x="0" y="6675120"/>
            <a:ext cx="12191695" cy="182880"/>
          </a:xfrm>
          <a:prstGeom prst="rect">
            <a:avLst/>
          </a:prstGeom>
          <a:solidFill>
            <a:srgbClr val="F4F7FB"/>
          </a:solidFill>
          <a:ln w="12700">
            <a:solidFill>
              <a:srgbClr val="F4F7FB"/>
            </a:solidFill>
            <a:prstDash val="solid"/>
          </a:ln>
        </p:spPr>
      </p:sp>
      <p:sp>
        <p:nvSpPr>
          <p:cNvPr id="9" name="Text 7"/>
          <p:cNvSpPr/>
          <p:nvPr/>
        </p:nvSpPr>
        <p:spPr>
          <a:xfrm>
            <a:off x="365760" y="6656832"/>
            <a:ext cx="7315200" cy="201168"/>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Infinite Computer Solutions • Placement Case Study</a:t>
            </a:r>
            <a:endParaRPr lang="en-US" sz="900" dirty="0"/>
          </a:p>
        </p:txBody>
      </p:sp>
      <p:sp>
        <p:nvSpPr>
          <p:cNvPr id="10" name="Text 8"/>
          <p:cNvSpPr/>
          <p:nvPr/>
        </p:nvSpPr>
        <p:spPr>
          <a:xfrm>
            <a:off x="11247120" y="6656832"/>
            <a:ext cx="640080" cy="201168"/>
          </a:xfrm>
          <a:prstGeom prst="rect">
            <a:avLst/>
          </a:prstGeom>
          <a:noFill/>
          <a:ln/>
        </p:spPr>
        <p:txBody>
          <a:bodyPr wrap="square" rtlCol="0" anchor="ctr"/>
          <a:lstStyle/>
          <a:p>
            <a:pPr algn="r" indent="0" marL="0">
              <a:buNone/>
            </a:pPr>
            <a:r>
              <a:rPr lang="en-US" sz="900" b="1" dirty="0">
                <a:solidFill>
                  <a:srgbClr val="5A6B7C"/>
                </a:solidFill>
                <a:latin typeface="Calibri" pitchFamily="34" charset="0"/>
                <a:ea typeface="Calibri" pitchFamily="34" charset="-122"/>
                <a:cs typeface="Calibri" pitchFamily="34" charset="-120"/>
              </a:rPr>
              <a:t>12 / 15</a:t>
            </a:r>
            <a:endParaRPr lang="en-US" sz="900" dirty="0"/>
          </a:p>
        </p:txBody>
      </p:sp>
      <p:sp>
        <p:nvSpPr>
          <p:cNvPr id="11" name="Shape 9"/>
          <p:cNvSpPr/>
          <p:nvPr/>
        </p:nvSpPr>
        <p:spPr>
          <a:xfrm>
            <a:off x="457200" y="1920240"/>
            <a:ext cx="11247120" cy="4663440"/>
          </a:xfrm>
          <a:prstGeom prst="rect">
            <a:avLst/>
          </a:prstGeom>
          <a:solidFill>
            <a:srgbClr val="FFFFFF"/>
          </a:solidFill>
          <a:ln w="12700">
            <a:solidFill>
              <a:srgbClr val="D9E1EC"/>
            </a:solidFill>
            <a:prstDash val="solid"/>
          </a:ln>
        </p:spPr>
      </p:sp>
      <p:sp>
        <p:nvSpPr>
          <p:cNvPr id="12" name="Shape 10"/>
          <p:cNvSpPr/>
          <p:nvPr/>
        </p:nvSpPr>
        <p:spPr>
          <a:xfrm>
            <a:off x="457200" y="1920240"/>
            <a:ext cx="2926080" cy="4663440"/>
          </a:xfrm>
          <a:prstGeom prst="rect">
            <a:avLst/>
          </a:prstGeom>
          <a:solidFill>
            <a:srgbClr val="0B1E3F"/>
          </a:solidFill>
          <a:ln w="12700">
            <a:solidFill>
              <a:srgbClr val="0B1E3F"/>
            </a:solidFill>
            <a:prstDash val="solid"/>
          </a:ln>
        </p:spPr>
      </p:sp>
      <p:sp>
        <p:nvSpPr>
          <p:cNvPr id="13" name="Text 11"/>
          <p:cNvSpPr/>
          <p:nvPr/>
        </p:nvSpPr>
        <p:spPr>
          <a:xfrm>
            <a:off x="640080" y="2103120"/>
            <a:ext cx="2743200" cy="274320"/>
          </a:xfrm>
          <a:prstGeom prst="rect">
            <a:avLst/>
          </a:prstGeom>
          <a:noFill/>
          <a:ln/>
        </p:spPr>
        <p:txBody>
          <a:bodyPr wrap="square" rtlCol="0" anchor="ctr"/>
          <a:lstStyle/>
          <a:p>
            <a:pPr indent="0" marL="0">
              <a:buNone/>
            </a:pPr>
            <a:r>
              <a:rPr lang="en-US" sz="1000" b="1" spc="300" kern="0" dirty="0">
                <a:solidFill>
                  <a:srgbClr val="1FB8C9"/>
                </a:solidFill>
                <a:latin typeface="Calibri" pitchFamily="34" charset="0"/>
                <a:ea typeface="Calibri" pitchFamily="34" charset="-122"/>
                <a:cs typeface="Calibri" pitchFamily="34" charset="-120"/>
              </a:rPr>
              <a:t>TICKET TRANSLATOR</a:t>
            </a:r>
            <a:endParaRPr lang="en-US" sz="1000" dirty="0"/>
          </a:p>
        </p:txBody>
      </p:sp>
      <p:sp>
        <p:nvSpPr>
          <p:cNvPr id="14" name="Shape 12"/>
          <p:cNvSpPr/>
          <p:nvPr/>
        </p:nvSpPr>
        <p:spPr>
          <a:xfrm>
            <a:off x="640080" y="2423160"/>
            <a:ext cx="365760" cy="36576"/>
          </a:xfrm>
          <a:prstGeom prst="rect">
            <a:avLst/>
          </a:prstGeom>
          <a:solidFill>
            <a:srgbClr val="1FB8C9"/>
          </a:solidFill>
          <a:ln w="12700">
            <a:solidFill>
              <a:srgbClr val="1FB8C9"/>
            </a:solidFill>
            <a:prstDash val="solid"/>
          </a:ln>
        </p:spPr>
      </p:sp>
      <p:sp>
        <p:nvSpPr>
          <p:cNvPr id="15" name="Shape 13"/>
          <p:cNvSpPr/>
          <p:nvPr/>
        </p:nvSpPr>
        <p:spPr>
          <a:xfrm>
            <a:off x="594360" y="2697480"/>
            <a:ext cx="2651760" cy="594360"/>
          </a:xfrm>
          <a:prstGeom prst="rect">
            <a:avLst/>
          </a:prstGeom>
          <a:solidFill>
            <a:srgbClr val="0E2750"/>
          </a:solidFill>
          <a:ln w="12700">
            <a:solidFill>
              <a:srgbClr val="0E2750"/>
            </a:solidFill>
            <a:prstDash val="solid"/>
          </a:ln>
        </p:spPr>
      </p:sp>
      <p:sp>
        <p:nvSpPr>
          <p:cNvPr id="16" name="Text 14"/>
          <p:cNvSpPr/>
          <p:nvPr/>
        </p:nvSpPr>
        <p:spPr>
          <a:xfrm>
            <a:off x="685800" y="2697480"/>
            <a:ext cx="457200" cy="594360"/>
          </a:xfrm>
          <a:prstGeom prst="rect">
            <a:avLst/>
          </a:prstGeom>
          <a:noFill/>
          <a:ln/>
        </p:spPr>
        <p:txBody>
          <a:bodyPr wrap="square" rtlCol="0" anchor="ctr"/>
          <a:lstStyle/>
          <a:p>
            <a:pPr algn="ctr" indent="0" marL="0">
              <a:buNone/>
            </a:pPr>
            <a:r>
              <a:rPr lang="en-US" sz="1600" dirty="0">
                <a:solidFill>
                  <a:srgbClr val="FFFFFF"/>
                </a:solidFill>
              </a:rPr>
              <a:t>🏠</a:t>
            </a:r>
            <a:endParaRPr lang="en-US" sz="1600" dirty="0"/>
          </a:p>
        </p:txBody>
      </p:sp>
      <p:sp>
        <p:nvSpPr>
          <p:cNvPr id="17" name="Text 15"/>
          <p:cNvSpPr/>
          <p:nvPr/>
        </p:nvSpPr>
        <p:spPr>
          <a:xfrm>
            <a:off x="1188720" y="2770632"/>
            <a:ext cx="201168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Home</a:t>
            </a:r>
            <a:endParaRPr lang="en-US" sz="1100" dirty="0"/>
          </a:p>
        </p:txBody>
      </p:sp>
      <p:sp>
        <p:nvSpPr>
          <p:cNvPr id="18" name="Text 16"/>
          <p:cNvSpPr/>
          <p:nvPr/>
        </p:nvSpPr>
        <p:spPr>
          <a:xfrm>
            <a:off x="1188720" y="3026664"/>
            <a:ext cx="2011680" cy="256032"/>
          </a:xfrm>
          <a:prstGeom prst="rect">
            <a:avLst/>
          </a:prstGeom>
          <a:noFill/>
          <a:ln/>
        </p:spPr>
        <p:txBody>
          <a:bodyPr wrap="square" rtlCol="0" anchor="ctr"/>
          <a:lstStyle/>
          <a:p>
            <a:pPr indent="0" marL="0">
              <a:buNone/>
            </a:pPr>
            <a:r>
              <a:rPr lang="en-US" sz="800" dirty="0">
                <a:solidFill>
                  <a:srgbClr val="A8B6CC"/>
                </a:solidFill>
                <a:latin typeface="Calibri" pitchFamily="34" charset="0"/>
                <a:ea typeface="Calibri" pitchFamily="34" charset="-122"/>
                <a:cs typeface="Calibri" pitchFamily="34" charset="-120"/>
              </a:rPr>
              <a:t>Welcome + getting started</a:t>
            </a:r>
            <a:endParaRPr lang="en-US" sz="800" dirty="0"/>
          </a:p>
        </p:txBody>
      </p:sp>
      <p:sp>
        <p:nvSpPr>
          <p:cNvPr id="19" name="Shape 17"/>
          <p:cNvSpPr/>
          <p:nvPr/>
        </p:nvSpPr>
        <p:spPr>
          <a:xfrm>
            <a:off x="594360" y="3410712"/>
            <a:ext cx="2651760" cy="594360"/>
          </a:xfrm>
          <a:prstGeom prst="rect">
            <a:avLst/>
          </a:prstGeom>
          <a:solidFill>
            <a:srgbClr val="1FB8C9"/>
          </a:solidFill>
          <a:ln w="12700">
            <a:solidFill>
              <a:srgbClr val="1FB8C9"/>
            </a:solidFill>
            <a:prstDash val="solid"/>
          </a:ln>
        </p:spPr>
      </p:sp>
      <p:sp>
        <p:nvSpPr>
          <p:cNvPr id="20" name="Text 18"/>
          <p:cNvSpPr/>
          <p:nvPr/>
        </p:nvSpPr>
        <p:spPr>
          <a:xfrm>
            <a:off x="685800" y="3410712"/>
            <a:ext cx="457200" cy="594360"/>
          </a:xfrm>
          <a:prstGeom prst="rect">
            <a:avLst/>
          </a:prstGeom>
          <a:noFill/>
          <a:ln/>
        </p:spPr>
        <p:txBody>
          <a:bodyPr wrap="square" rtlCol="0" anchor="ctr"/>
          <a:lstStyle/>
          <a:p>
            <a:pPr algn="ctr" indent="0" marL="0">
              <a:buNone/>
            </a:pPr>
            <a:r>
              <a:rPr lang="en-US" sz="1600" dirty="0">
                <a:solidFill>
                  <a:srgbClr val="FFFFFF"/>
                </a:solidFill>
              </a:rPr>
              <a:t>🎫</a:t>
            </a:r>
            <a:endParaRPr lang="en-US" sz="1600" dirty="0"/>
          </a:p>
        </p:txBody>
      </p:sp>
      <p:sp>
        <p:nvSpPr>
          <p:cNvPr id="21" name="Text 19"/>
          <p:cNvSpPr/>
          <p:nvPr/>
        </p:nvSpPr>
        <p:spPr>
          <a:xfrm>
            <a:off x="1188720" y="3483864"/>
            <a:ext cx="201168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Single Ticket</a:t>
            </a:r>
            <a:endParaRPr lang="en-US" sz="1100" dirty="0"/>
          </a:p>
        </p:txBody>
      </p:sp>
      <p:sp>
        <p:nvSpPr>
          <p:cNvPr id="22" name="Text 20"/>
          <p:cNvSpPr/>
          <p:nvPr/>
        </p:nvSpPr>
        <p:spPr>
          <a:xfrm>
            <a:off x="1188720" y="3739896"/>
            <a:ext cx="2011680" cy="256032"/>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Process one ticket interactively</a:t>
            </a:r>
            <a:endParaRPr lang="en-US" sz="800" dirty="0"/>
          </a:p>
        </p:txBody>
      </p:sp>
      <p:sp>
        <p:nvSpPr>
          <p:cNvPr id="23" name="Shape 21"/>
          <p:cNvSpPr/>
          <p:nvPr/>
        </p:nvSpPr>
        <p:spPr>
          <a:xfrm>
            <a:off x="594360" y="4123944"/>
            <a:ext cx="2651760" cy="594360"/>
          </a:xfrm>
          <a:prstGeom prst="rect">
            <a:avLst/>
          </a:prstGeom>
          <a:solidFill>
            <a:srgbClr val="0E2750"/>
          </a:solidFill>
          <a:ln w="12700">
            <a:solidFill>
              <a:srgbClr val="0E2750"/>
            </a:solidFill>
            <a:prstDash val="solid"/>
          </a:ln>
        </p:spPr>
      </p:sp>
      <p:sp>
        <p:nvSpPr>
          <p:cNvPr id="24" name="Text 22"/>
          <p:cNvSpPr/>
          <p:nvPr/>
        </p:nvSpPr>
        <p:spPr>
          <a:xfrm>
            <a:off x="685800" y="4123944"/>
            <a:ext cx="457200" cy="594360"/>
          </a:xfrm>
          <a:prstGeom prst="rect">
            <a:avLst/>
          </a:prstGeom>
          <a:noFill/>
          <a:ln/>
        </p:spPr>
        <p:txBody>
          <a:bodyPr wrap="square" rtlCol="0" anchor="ctr"/>
          <a:lstStyle/>
          <a:p>
            <a:pPr algn="ctr" indent="0" marL="0">
              <a:buNone/>
            </a:pPr>
            <a:r>
              <a:rPr lang="en-US" sz="1600" dirty="0">
                <a:solidFill>
                  <a:srgbClr val="FFFFFF"/>
                </a:solidFill>
              </a:rPr>
              <a:t>📦</a:t>
            </a:r>
            <a:endParaRPr lang="en-US" sz="1600" dirty="0"/>
          </a:p>
        </p:txBody>
      </p:sp>
      <p:sp>
        <p:nvSpPr>
          <p:cNvPr id="25" name="Text 23"/>
          <p:cNvSpPr/>
          <p:nvPr/>
        </p:nvSpPr>
        <p:spPr>
          <a:xfrm>
            <a:off x="1188720" y="4197096"/>
            <a:ext cx="201168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Batch Processing</a:t>
            </a:r>
            <a:endParaRPr lang="en-US" sz="1100" dirty="0"/>
          </a:p>
        </p:txBody>
      </p:sp>
      <p:sp>
        <p:nvSpPr>
          <p:cNvPr id="26" name="Text 24"/>
          <p:cNvSpPr/>
          <p:nvPr/>
        </p:nvSpPr>
        <p:spPr>
          <a:xfrm>
            <a:off x="1188720" y="4453128"/>
            <a:ext cx="2011680" cy="256032"/>
          </a:xfrm>
          <a:prstGeom prst="rect">
            <a:avLst/>
          </a:prstGeom>
          <a:noFill/>
          <a:ln/>
        </p:spPr>
        <p:txBody>
          <a:bodyPr wrap="square" rtlCol="0" anchor="ctr"/>
          <a:lstStyle/>
          <a:p>
            <a:pPr indent="0" marL="0">
              <a:buNone/>
            </a:pPr>
            <a:r>
              <a:rPr lang="en-US" sz="800" dirty="0">
                <a:solidFill>
                  <a:srgbClr val="A8B6CC"/>
                </a:solidFill>
                <a:latin typeface="Calibri" pitchFamily="34" charset="0"/>
                <a:ea typeface="Calibri" pitchFamily="34" charset="-122"/>
                <a:cs typeface="Calibri" pitchFamily="34" charset="-120"/>
              </a:rPr>
              <a:t>Upload CSV of multilingual tickets</a:t>
            </a:r>
            <a:endParaRPr lang="en-US" sz="800" dirty="0"/>
          </a:p>
        </p:txBody>
      </p:sp>
      <p:sp>
        <p:nvSpPr>
          <p:cNvPr id="27" name="Shape 25"/>
          <p:cNvSpPr/>
          <p:nvPr/>
        </p:nvSpPr>
        <p:spPr>
          <a:xfrm>
            <a:off x="594360" y="4837176"/>
            <a:ext cx="2651760" cy="594360"/>
          </a:xfrm>
          <a:prstGeom prst="rect">
            <a:avLst/>
          </a:prstGeom>
          <a:solidFill>
            <a:srgbClr val="0E2750"/>
          </a:solidFill>
          <a:ln w="12700">
            <a:solidFill>
              <a:srgbClr val="0E2750"/>
            </a:solidFill>
            <a:prstDash val="solid"/>
          </a:ln>
        </p:spPr>
      </p:sp>
      <p:sp>
        <p:nvSpPr>
          <p:cNvPr id="28" name="Text 26"/>
          <p:cNvSpPr/>
          <p:nvPr/>
        </p:nvSpPr>
        <p:spPr>
          <a:xfrm>
            <a:off x="685800" y="4837176"/>
            <a:ext cx="457200" cy="594360"/>
          </a:xfrm>
          <a:prstGeom prst="rect">
            <a:avLst/>
          </a:prstGeom>
          <a:noFill/>
          <a:ln/>
        </p:spPr>
        <p:txBody>
          <a:bodyPr wrap="square" rtlCol="0" anchor="ctr"/>
          <a:lstStyle/>
          <a:p>
            <a:pPr algn="ctr" indent="0" marL="0">
              <a:buNone/>
            </a:pPr>
            <a:r>
              <a:rPr lang="en-US" sz="1600" dirty="0">
                <a:solidFill>
                  <a:srgbClr val="FFFFFF"/>
                </a:solidFill>
              </a:rPr>
              <a:t>📊</a:t>
            </a:r>
            <a:endParaRPr lang="en-US" sz="1600" dirty="0"/>
          </a:p>
        </p:txBody>
      </p:sp>
      <p:sp>
        <p:nvSpPr>
          <p:cNvPr id="29" name="Text 27"/>
          <p:cNvSpPr/>
          <p:nvPr/>
        </p:nvSpPr>
        <p:spPr>
          <a:xfrm>
            <a:off x="1188720" y="4910328"/>
            <a:ext cx="201168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Summary Dashboard</a:t>
            </a:r>
            <a:endParaRPr lang="en-US" sz="1100" dirty="0"/>
          </a:p>
        </p:txBody>
      </p:sp>
      <p:sp>
        <p:nvSpPr>
          <p:cNvPr id="30" name="Text 28"/>
          <p:cNvSpPr/>
          <p:nvPr/>
        </p:nvSpPr>
        <p:spPr>
          <a:xfrm>
            <a:off x="1188720" y="5166360"/>
            <a:ext cx="2011680" cy="256032"/>
          </a:xfrm>
          <a:prstGeom prst="rect">
            <a:avLst/>
          </a:prstGeom>
          <a:noFill/>
          <a:ln/>
        </p:spPr>
        <p:txBody>
          <a:bodyPr wrap="square" rtlCol="0" anchor="ctr"/>
          <a:lstStyle/>
          <a:p>
            <a:pPr indent="0" marL="0">
              <a:buNone/>
            </a:pPr>
            <a:r>
              <a:rPr lang="en-US" sz="800" dirty="0">
                <a:solidFill>
                  <a:srgbClr val="A8B6CC"/>
                </a:solidFill>
                <a:latin typeface="Calibri" pitchFamily="34" charset="0"/>
                <a:ea typeface="Calibri" pitchFamily="34" charset="-122"/>
                <a:cs typeface="Calibri" pitchFamily="34" charset="-120"/>
              </a:rPr>
              <a:t>Volume, languages, categories</a:t>
            </a:r>
            <a:endParaRPr lang="en-US" sz="800" dirty="0"/>
          </a:p>
        </p:txBody>
      </p:sp>
      <p:sp>
        <p:nvSpPr>
          <p:cNvPr id="31" name="Shape 29"/>
          <p:cNvSpPr/>
          <p:nvPr/>
        </p:nvSpPr>
        <p:spPr>
          <a:xfrm>
            <a:off x="594360" y="5550408"/>
            <a:ext cx="2651760" cy="594360"/>
          </a:xfrm>
          <a:prstGeom prst="rect">
            <a:avLst/>
          </a:prstGeom>
          <a:solidFill>
            <a:srgbClr val="0E2750"/>
          </a:solidFill>
          <a:ln w="12700">
            <a:solidFill>
              <a:srgbClr val="0E2750"/>
            </a:solidFill>
            <a:prstDash val="solid"/>
          </a:ln>
        </p:spPr>
      </p:sp>
      <p:sp>
        <p:nvSpPr>
          <p:cNvPr id="32" name="Text 30"/>
          <p:cNvSpPr/>
          <p:nvPr/>
        </p:nvSpPr>
        <p:spPr>
          <a:xfrm>
            <a:off x="685800" y="5550408"/>
            <a:ext cx="457200" cy="594360"/>
          </a:xfrm>
          <a:prstGeom prst="rect">
            <a:avLst/>
          </a:prstGeom>
          <a:noFill/>
          <a:ln/>
        </p:spPr>
        <p:txBody>
          <a:bodyPr wrap="square" rtlCol="0" anchor="ctr"/>
          <a:lstStyle/>
          <a:p>
            <a:pPr algn="ctr" indent="0" marL="0">
              <a:buNone/>
            </a:pPr>
            <a:r>
              <a:rPr lang="en-US" sz="1600" dirty="0">
                <a:solidFill>
                  <a:srgbClr val="FFFFFF"/>
                </a:solidFill>
              </a:rPr>
              <a:t>📤</a:t>
            </a:r>
            <a:endParaRPr lang="en-US" sz="1600" dirty="0"/>
          </a:p>
        </p:txBody>
      </p:sp>
      <p:sp>
        <p:nvSpPr>
          <p:cNvPr id="33" name="Text 31"/>
          <p:cNvSpPr/>
          <p:nvPr/>
        </p:nvSpPr>
        <p:spPr>
          <a:xfrm>
            <a:off x="1188720" y="5623560"/>
            <a:ext cx="201168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Export Results</a:t>
            </a:r>
            <a:endParaRPr lang="en-US" sz="1100" dirty="0"/>
          </a:p>
        </p:txBody>
      </p:sp>
      <p:sp>
        <p:nvSpPr>
          <p:cNvPr id="34" name="Text 32"/>
          <p:cNvSpPr/>
          <p:nvPr/>
        </p:nvSpPr>
        <p:spPr>
          <a:xfrm>
            <a:off x="1188720" y="5879592"/>
            <a:ext cx="2011680" cy="256032"/>
          </a:xfrm>
          <a:prstGeom prst="rect">
            <a:avLst/>
          </a:prstGeom>
          <a:noFill/>
          <a:ln/>
        </p:spPr>
        <p:txBody>
          <a:bodyPr wrap="square" rtlCol="0" anchor="ctr"/>
          <a:lstStyle/>
          <a:p>
            <a:pPr indent="0" marL="0">
              <a:buNone/>
            </a:pPr>
            <a:r>
              <a:rPr lang="en-US" sz="800" dirty="0">
                <a:solidFill>
                  <a:srgbClr val="A8B6CC"/>
                </a:solidFill>
                <a:latin typeface="Calibri" pitchFamily="34" charset="0"/>
                <a:ea typeface="Calibri" pitchFamily="34" charset="-122"/>
                <a:cs typeface="Calibri" pitchFamily="34" charset="-120"/>
              </a:rPr>
              <a:t>Download processed CSV / Excel</a:t>
            </a:r>
            <a:endParaRPr lang="en-US" sz="800" dirty="0"/>
          </a:p>
        </p:txBody>
      </p:sp>
      <p:sp>
        <p:nvSpPr>
          <p:cNvPr id="35" name="Text 33"/>
          <p:cNvSpPr/>
          <p:nvPr/>
        </p:nvSpPr>
        <p:spPr>
          <a:xfrm>
            <a:off x="3566160" y="2148840"/>
            <a:ext cx="7955280" cy="365760"/>
          </a:xfrm>
          <a:prstGeom prst="rect">
            <a:avLst/>
          </a:prstGeom>
          <a:noFill/>
          <a:ln/>
        </p:spPr>
        <p:txBody>
          <a:bodyPr wrap="square" rtlCol="0" anchor="ctr"/>
          <a:lstStyle/>
          <a:p>
            <a:pPr indent="0" marL="0">
              <a:buNone/>
            </a:pPr>
            <a:r>
              <a:rPr lang="en-US" sz="1600" b="1" dirty="0">
                <a:solidFill>
                  <a:srgbClr val="0B1E3F"/>
                </a:solidFill>
                <a:latin typeface="Calibri" pitchFamily="34" charset="0"/>
                <a:ea typeface="Calibri" pitchFamily="34" charset="-122"/>
                <a:cs typeface="Calibri" pitchFamily="34" charset="-120"/>
              </a:rPr>
              <a:t>Single Ticket Processing</a:t>
            </a:r>
            <a:endParaRPr lang="en-US" sz="1600" dirty="0"/>
          </a:p>
        </p:txBody>
      </p:sp>
      <p:sp>
        <p:nvSpPr>
          <p:cNvPr id="36" name="Text 34"/>
          <p:cNvSpPr/>
          <p:nvPr/>
        </p:nvSpPr>
        <p:spPr>
          <a:xfrm>
            <a:off x="3566160" y="2514600"/>
            <a:ext cx="7955280" cy="411480"/>
          </a:xfrm>
          <a:prstGeom prst="rect">
            <a:avLst/>
          </a:prstGeom>
          <a:noFill/>
          <a:ln/>
        </p:spPr>
        <p:txBody>
          <a:bodyPr wrap="square" rtlCol="0" anchor="ctr"/>
          <a:lstStyle/>
          <a:p>
            <a:pPr indent="0" marL="0">
              <a:buNone/>
            </a:pPr>
            <a:r>
              <a:rPr lang="en-US" sz="1000" i="1" dirty="0">
                <a:solidFill>
                  <a:srgbClr val="5A6B7C"/>
                </a:solidFill>
                <a:latin typeface="Calibri" pitchFamily="34" charset="0"/>
                <a:ea typeface="Calibri" pitchFamily="34" charset="-122"/>
                <a:cs typeface="Calibri" pitchFamily="34" charset="-120"/>
              </a:rPr>
              <a:t>Paste a multilingual ticket below — the agent will detect language, mask glossary terms, translate, classify, and prioritize.</a:t>
            </a:r>
            <a:endParaRPr lang="en-US" sz="1000" dirty="0"/>
          </a:p>
        </p:txBody>
      </p:sp>
      <p:sp>
        <p:nvSpPr>
          <p:cNvPr id="37" name="Text 35"/>
          <p:cNvSpPr/>
          <p:nvPr/>
        </p:nvSpPr>
        <p:spPr>
          <a:xfrm>
            <a:off x="3566160" y="3017520"/>
            <a:ext cx="7955280" cy="228600"/>
          </a:xfrm>
          <a:prstGeom prst="rect">
            <a:avLst/>
          </a:prstGeom>
          <a:noFill/>
          <a:ln/>
        </p:spPr>
        <p:txBody>
          <a:bodyPr wrap="square" rtlCol="0" anchor="ctr"/>
          <a:lstStyle/>
          <a:p>
            <a:pPr indent="0" marL="0">
              <a:buNone/>
            </a:pPr>
            <a:r>
              <a:rPr lang="en-US" sz="900" b="1" spc="300" kern="0" dirty="0">
                <a:solidFill>
                  <a:srgbClr val="0B1E3F"/>
                </a:solidFill>
                <a:latin typeface="Calibri" pitchFamily="34" charset="0"/>
                <a:ea typeface="Calibri" pitchFamily="34" charset="-122"/>
                <a:cs typeface="Calibri" pitchFamily="34" charset="-120"/>
              </a:rPr>
              <a:t>CUSTOMER TICKET</a:t>
            </a:r>
            <a:endParaRPr lang="en-US" sz="900" dirty="0"/>
          </a:p>
        </p:txBody>
      </p:sp>
      <p:sp>
        <p:nvSpPr>
          <p:cNvPr id="38" name="Shape 36"/>
          <p:cNvSpPr/>
          <p:nvPr/>
        </p:nvSpPr>
        <p:spPr>
          <a:xfrm>
            <a:off x="3566160" y="3246120"/>
            <a:ext cx="7955280" cy="640080"/>
          </a:xfrm>
          <a:prstGeom prst="rect">
            <a:avLst/>
          </a:prstGeom>
          <a:solidFill>
            <a:srgbClr val="F4F7FB"/>
          </a:solidFill>
          <a:ln w="12700">
            <a:solidFill>
              <a:srgbClr val="D9E1EC"/>
            </a:solidFill>
            <a:prstDash val="solid"/>
          </a:ln>
        </p:spPr>
      </p:sp>
      <p:sp>
        <p:nvSpPr>
          <p:cNvPr id="39" name="Text 37"/>
          <p:cNvSpPr/>
          <p:nvPr/>
        </p:nvSpPr>
        <p:spPr>
          <a:xfrm>
            <a:off x="3703320" y="3246120"/>
            <a:ext cx="7680960" cy="640080"/>
          </a:xfrm>
          <a:prstGeom prst="rect">
            <a:avLst/>
          </a:prstGeom>
          <a:noFill/>
          <a:ln/>
        </p:spPr>
        <p:txBody>
          <a:bodyPr wrap="square" rtlCol="0" anchor="ctr"/>
          <a:lstStyle/>
          <a:p>
            <a:pPr indent="0" marL="0">
              <a:buNone/>
            </a:pPr>
            <a:r>
              <a:rPr lang="en-US" sz="1300" dirty="0">
                <a:solidFill>
                  <a:srgbClr val="0B1E3F"/>
                </a:solidFill>
                <a:latin typeface="Nirmala UI" pitchFamily="34" charset="0"/>
                <a:ea typeface="Nirmala UI" pitchFamily="34" charset="-122"/>
                <a:cs typeface="Nirmala UI" pitchFamily="34" charset="-120"/>
              </a:rPr>
              <a:t>"నా VPN, Azure కు కనెక్ట్ అవ్వడం లేదు."</a:t>
            </a:r>
            <a:endParaRPr lang="en-US" sz="1300" dirty="0"/>
          </a:p>
        </p:txBody>
      </p:sp>
      <p:sp>
        <p:nvSpPr>
          <p:cNvPr id="40" name="Shape 38"/>
          <p:cNvSpPr/>
          <p:nvPr/>
        </p:nvSpPr>
        <p:spPr>
          <a:xfrm>
            <a:off x="3566160" y="3977640"/>
            <a:ext cx="1463040" cy="365760"/>
          </a:xfrm>
          <a:prstGeom prst="roundRect">
            <a:avLst>
              <a:gd name="adj" fmla="val 12500"/>
            </a:avLst>
          </a:prstGeom>
          <a:solidFill>
            <a:srgbClr val="1FB8C9"/>
          </a:solidFill>
          <a:ln w="12700">
            <a:solidFill>
              <a:srgbClr val="1FB8C9"/>
            </a:solidFill>
            <a:prstDash val="solid"/>
          </a:ln>
        </p:spPr>
      </p:sp>
      <p:sp>
        <p:nvSpPr>
          <p:cNvPr id="41" name="Text 39"/>
          <p:cNvSpPr/>
          <p:nvPr/>
        </p:nvSpPr>
        <p:spPr>
          <a:xfrm>
            <a:off x="3566160" y="3977640"/>
            <a:ext cx="146304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Process</a:t>
            </a:r>
            <a:endParaRPr lang="en-US" sz="1100" dirty="0"/>
          </a:p>
        </p:txBody>
      </p:sp>
      <p:sp>
        <p:nvSpPr>
          <p:cNvPr id="42" name="Shape 40"/>
          <p:cNvSpPr/>
          <p:nvPr/>
        </p:nvSpPr>
        <p:spPr>
          <a:xfrm>
            <a:off x="3566160" y="4526280"/>
            <a:ext cx="3840480" cy="731520"/>
          </a:xfrm>
          <a:prstGeom prst="rect">
            <a:avLst/>
          </a:prstGeom>
          <a:solidFill>
            <a:srgbClr val="FFFFFF"/>
          </a:solidFill>
          <a:ln w="12700">
            <a:solidFill>
              <a:srgbClr val="D9E1EC"/>
            </a:solidFill>
            <a:prstDash val="solid"/>
          </a:ln>
        </p:spPr>
      </p:sp>
      <p:sp>
        <p:nvSpPr>
          <p:cNvPr id="43" name="Shape 41"/>
          <p:cNvSpPr/>
          <p:nvPr/>
        </p:nvSpPr>
        <p:spPr>
          <a:xfrm>
            <a:off x="3566160" y="4526280"/>
            <a:ext cx="54864" cy="731520"/>
          </a:xfrm>
          <a:prstGeom prst="rect">
            <a:avLst/>
          </a:prstGeom>
          <a:solidFill>
            <a:srgbClr val="6C7BFF"/>
          </a:solidFill>
          <a:ln w="12700">
            <a:solidFill>
              <a:srgbClr val="6C7BFF"/>
            </a:solidFill>
            <a:prstDash val="solid"/>
          </a:ln>
        </p:spPr>
      </p:sp>
      <p:sp>
        <p:nvSpPr>
          <p:cNvPr id="44" name="Text 42"/>
          <p:cNvSpPr/>
          <p:nvPr/>
        </p:nvSpPr>
        <p:spPr>
          <a:xfrm>
            <a:off x="3749040" y="4599432"/>
            <a:ext cx="3566160" cy="274320"/>
          </a:xfrm>
          <a:prstGeom prst="rect">
            <a:avLst/>
          </a:prstGeom>
          <a:noFill/>
          <a:ln/>
        </p:spPr>
        <p:txBody>
          <a:bodyPr wrap="square" rtlCol="0" anchor="ctr"/>
          <a:lstStyle/>
          <a:p>
            <a:pPr indent="0" marL="0">
              <a:buNone/>
            </a:pPr>
            <a:r>
              <a:rPr lang="en-US" sz="900" b="1" spc="300" kern="0" dirty="0">
                <a:solidFill>
                  <a:srgbClr val="5A6B7C"/>
                </a:solidFill>
                <a:latin typeface="Calibri" pitchFamily="34" charset="0"/>
                <a:ea typeface="Calibri" pitchFamily="34" charset="-122"/>
                <a:cs typeface="Calibri" pitchFamily="34" charset="-120"/>
              </a:rPr>
              <a:t>LANGUAGE</a:t>
            </a:r>
            <a:endParaRPr lang="en-US" sz="900" dirty="0"/>
          </a:p>
        </p:txBody>
      </p:sp>
      <p:sp>
        <p:nvSpPr>
          <p:cNvPr id="45" name="Text 43"/>
          <p:cNvSpPr/>
          <p:nvPr/>
        </p:nvSpPr>
        <p:spPr>
          <a:xfrm>
            <a:off x="3749040" y="4846320"/>
            <a:ext cx="3566160" cy="365760"/>
          </a:xfrm>
          <a:prstGeom prst="rect">
            <a:avLst/>
          </a:prstGeom>
          <a:noFill/>
          <a:ln/>
        </p:spPr>
        <p:txBody>
          <a:bodyPr wrap="square" rtlCol="0" anchor="ctr"/>
          <a:lstStyle/>
          <a:p>
            <a:pPr indent="0" marL="0">
              <a:buNone/>
            </a:pPr>
            <a:r>
              <a:rPr lang="en-US" sz="1300" b="1" dirty="0">
                <a:solidFill>
                  <a:srgbClr val="0B1E3F"/>
                </a:solidFill>
                <a:latin typeface="Calibri" pitchFamily="34" charset="0"/>
                <a:ea typeface="Calibri" pitchFamily="34" charset="-122"/>
                <a:cs typeface="Calibri" pitchFamily="34" charset="-120"/>
              </a:rPr>
              <a:t>Telugu (te)</a:t>
            </a:r>
            <a:endParaRPr lang="en-US" sz="1300" dirty="0"/>
          </a:p>
        </p:txBody>
      </p:sp>
      <p:sp>
        <p:nvSpPr>
          <p:cNvPr id="46" name="Shape 44"/>
          <p:cNvSpPr/>
          <p:nvPr/>
        </p:nvSpPr>
        <p:spPr>
          <a:xfrm>
            <a:off x="7680960" y="4526280"/>
            <a:ext cx="3840480" cy="731520"/>
          </a:xfrm>
          <a:prstGeom prst="rect">
            <a:avLst/>
          </a:prstGeom>
          <a:solidFill>
            <a:srgbClr val="FFFFFF"/>
          </a:solidFill>
          <a:ln w="12700">
            <a:solidFill>
              <a:srgbClr val="D9E1EC"/>
            </a:solidFill>
            <a:prstDash val="solid"/>
          </a:ln>
        </p:spPr>
      </p:sp>
      <p:sp>
        <p:nvSpPr>
          <p:cNvPr id="47" name="Shape 45"/>
          <p:cNvSpPr/>
          <p:nvPr/>
        </p:nvSpPr>
        <p:spPr>
          <a:xfrm>
            <a:off x="7680960" y="4526280"/>
            <a:ext cx="54864" cy="731520"/>
          </a:xfrm>
          <a:prstGeom prst="rect">
            <a:avLst/>
          </a:prstGeom>
          <a:solidFill>
            <a:srgbClr val="6C7BFF"/>
          </a:solidFill>
          <a:ln w="12700">
            <a:solidFill>
              <a:srgbClr val="6C7BFF"/>
            </a:solidFill>
            <a:prstDash val="solid"/>
          </a:ln>
        </p:spPr>
      </p:sp>
      <p:sp>
        <p:nvSpPr>
          <p:cNvPr id="48" name="Text 46"/>
          <p:cNvSpPr/>
          <p:nvPr/>
        </p:nvSpPr>
        <p:spPr>
          <a:xfrm>
            <a:off x="7863840" y="4599432"/>
            <a:ext cx="3566160" cy="274320"/>
          </a:xfrm>
          <a:prstGeom prst="rect">
            <a:avLst/>
          </a:prstGeom>
          <a:noFill/>
          <a:ln/>
        </p:spPr>
        <p:txBody>
          <a:bodyPr wrap="square" rtlCol="0" anchor="ctr"/>
          <a:lstStyle/>
          <a:p>
            <a:pPr indent="0" marL="0">
              <a:buNone/>
            </a:pPr>
            <a:r>
              <a:rPr lang="en-US" sz="900" b="1" spc="300" kern="0" dirty="0">
                <a:solidFill>
                  <a:srgbClr val="5A6B7C"/>
                </a:solidFill>
                <a:latin typeface="Calibri" pitchFamily="34" charset="0"/>
                <a:ea typeface="Calibri" pitchFamily="34" charset="-122"/>
                <a:cs typeface="Calibri" pitchFamily="34" charset="-120"/>
              </a:rPr>
              <a:t>CATEGORY</a:t>
            </a:r>
            <a:endParaRPr lang="en-US" sz="900" dirty="0"/>
          </a:p>
        </p:txBody>
      </p:sp>
      <p:sp>
        <p:nvSpPr>
          <p:cNvPr id="49" name="Text 47"/>
          <p:cNvSpPr/>
          <p:nvPr/>
        </p:nvSpPr>
        <p:spPr>
          <a:xfrm>
            <a:off x="7863840" y="4846320"/>
            <a:ext cx="3566160" cy="365760"/>
          </a:xfrm>
          <a:prstGeom prst="rect">
            <a:avLst/>
          </a:prstGeom>
          <a:noFill/>
          <a:ln/>
        </p:spPr>
        <p:txBody>
          <a:bodyPr wrap="square" rtlCol="0" anchor="ctr"/>
          <a:lstStyle/>
          <a:p>
            <a:pPr indent="0" marL="0">
              <a:buNone/>
            </a:pPr>
            <a:r>
              <a:rPr lang="en-US" sz="1300" b="1" dirty="0">
                <a:solidFill>
                  <a:srgbClr val="0B1E3F"/>
                </a:solidFill>
                <a:latin typeface="Calibri" pitchFamily="34" charset="0"/>
                <a:ea typeface="Calibri" pitchFamily="34" charset="-122"/>
                <a:cs typeface="Calibri" pitchFamily="34" charset="-120"/>
              </a:rPr>
              <a:t>Network</a:t>
            </a:r>
            <a:endParaRPr lang="en-US" sz="1300" dirty="0"/>
          </a:p>
        </p:txBody>
      </p:sp>
      <p:sp>
        <p:nvSpPr>
          <p:cNvPr id="50" name="Shape 48"/>
          <p:cNvSpPr/>
          <p:nvPr/>
        </p:nvSpPr>
        <p:spPr>
          <a:xfrm>
            <a:off x="3566160" y="5394960"/>
            <a:ext cx="3840480" cy="731520"/>
          </a:xfrm>
          <a:prstGeom prst="rect">
            <a:avLst/>
          </a:prstGeom>
          <a:solidFill>
            <a:srgbClr val="FFFFFF"/>
          </a:solidFill>
          <a:ln w="12700">
            <a:solidFill>
              <a:srgbClr val="D9E1EC"/>
            </a:solidFill>
            <a:prstDash val="solid"/>
          </a:ln>
        </p:spPr>
      </p:sp>
      <p:sp>
        <p:nvSpPr>
          <p:cNvPr id="51" name="Shape 49"/>
          <p:cNvSpPr/>
          <p:nvPr/>
        </p:nvSpPr>
        <p:spPr>
          <a:xfrm>
            <a:off x="3566160" y="5394960"/>
            <a:ext cx="54864" cy="731520"/>
          </a:xfrm>
          <a:prstGeom prst="rect">
            <a:avLst/>
          </a:prstGeom>
          <a:solidFill>
            <a:srgbClr val="6C7BFF"/>
          </a:solidFill>
          <a:ln w="12700">
            <a:solidFill>
              <a:srgbClr val="6C7BFF"/>
            </a:solidFill>
            <a:prstDash val="solid"/>
          </a:ln>
        </p:spPr>
      </p:sp>
      <p:sp>
        <p:nvSpPr>
          <p:cNvPr id="52" name="Text 50"/>
          <p:cNvSpPr/>
          <p:nvPr/>
        </p:nvSpPr>
        <p:spPr>
          <a:xfrm>
            <a:off x="3749040" y="5468112"/>
            <a:ext cx="3566160" cy="274320"/>
          </a:xfrm>
          <a:prstGeom prst="rect">
            <a:avLst/>
          </a:prstGeom>
          <a:noFill/>
          <a:ln/>
        </p:spPr>
        <p:txBody>
          <a:bodyPr wrap="square" rtlCol="0" anchor="ctr"/>
          <a:lstStyle/>
          <a:p>
            <a:pPr indent="0" marL="0">
              <a:buNone/>
            </a:pPr>
            <a:r>
              <a:rPr lang="en-US" sz="900" b="1" spc="300" kern="0" dirty="0">
                <a:solidFill>
                  <a:srgbClr val="5A6B7C"/>
                </a:solidFill>
                <a:latin typeface="Calibri" pitchFamily="34" charset="0"/>
                <a:ea typeface="Calibri" pitchFamily="34" charset="-122"/>
                <a:cs typeface="Calibri" pitchFamily="34" charset="-120"/>
              </a:rPr>
              <a:t>PRIORITY</a:t>
            </a:r>
            <a:endParaRPr lang="en-US" sz="900" dirty="0"/>
          </a:p>
        </p:txBody>
      </p:sp>
      <p:sp>
        <p:nvSpPr>
          <p:cNvPr id="53" name="Text 51"/>
          <p:cNvSpPr/>
          <p:nvPr/>
        </p:nvSpPr>
        <p:spPr>
          <a:xfrm>
            <a:off x="3749040" y="5715000"/>
            <a:ext cx="3566160" cy="365760"/>
          </a:xfrm>
          <a:prstGeom prst="rect">
            <a:avLst/>
          </a:prstGeom>
          <a:noFill/>
          <a:ln/>
        </p:spPr>
        <p:txBody>
          <a:bodyPr wrap="square" rtlCol="0" anchor="ctr"/>
          <a:lstStyle/>
          <a:p>
            <a:pPr indent="0" marL="0">
              <a:buNone/>
            </a:pPr>
            <a:r>
              <a:rPr lang="en-US" sz="1300" b="1" dirty="0">
                <a:solidFill>
                  <a:srgbClr val="0B1E3F"/>
                </a:solidFill>
                <a:latin typeface="Calibri" pitchFamily="34" charset="0"/>
                <a:ea typeface="Calibri" pitchFamily="34" charset="-122"/>
                <a:cs typeface="Calibri" pitchFamily="34" charset="-120"/>
              </a:rPr>
              <a:t>High</a:t>
            </a:r>
            <a:endParaRPr lang="en-US" sz="1300" dirty="0"/>
          </a:p>
        </p:txBody>
      </p:sp>
      <p:sp>
        <p:nvSpPr>
          <p:cNvPr id="54" name="Shape 52"/>
          <p:cNvSpPr/>
          <p:nvPr/>
        </p:nvSpPr>
        <p:spPr>
          <a:xfrm>
            <a:off x="7680960" y="5394960"/>
            <a:ext cx="3840480" cy="731520"/>
          </a:xfrm>
          <a:prstGeom prst="rect">
            <a:avLst/>
          </a:prstGeom>
          <a:solidFill>
            <a:srgbClr val="FFFFFF"/>
          </a:solidFill>
          <a:ln w="12700">
            <a:solidFill>
              <a:srgbClr val="D9E1EC"/>
            </a:solidFill>
            <a:prstDash val="solid"/>
          </a:ln>
        </p:spPr>
      </p:sp>
      <p:sp>
        <p:nvSpPr>
          <p:cNvPr id="55" name="Shape 53"/>
          <p:cNvSpPr/>
          <p:nvPr/>
        </p:nvSpPr>
        <p:spPr>
          <a:xfrm>
            <a:off x="7680960" y="5394960"/>
            <a:ext cx="54864" cy="731520"/>
          </a:xfrm>
          <a:prstGeom prst="rect">
            <a:avLst/>
          </a:prstGeom>
          <a:solidFill>
            <a:srgbClr val="6C7BFF"/>
          </a:solidFill>
          <a:ln w="12700">
            <a:solidFill>
              <a:srgbClr val="6C7BFF"/>
            </a:solidFill>
            <a:prstDash val="solid"/>
          </a:ln>
        </p:spPr>
      </p:sp>
      <p:sp>
        <p:nvSpPr>
          <p:cNvPr id="56" name="Text 54"/>
          <p:cNvSpPr/>
          <p:nvPr/>
        </p:nvSpPr>
        <p:spPr>
          <a:xfrm>
            <a:off x="7863840" y="5468112"/>
            <a:ext cx="3566160" cy="274320"/>
          </a:xfrm>
          <a:prstGeom prst="rect">
            <a:avLst/>
          </a:prstGeom>
          <a:noFill/>
          <a:ln/>
        </p:spPr>
        <p:txBody>
          <a:bodyPr wrap="square" rtlCol="0" anchor="ctr"/>
          <a:lstStyle/>
          <a:p>
            <a:pPr indent="0" marL="0">
              <a:buNone/>
            </a:pPr>
            <a:r>
              <a:rPr lang="en-US" sz="900" b="1" spc="300" kern="0" dirty="0">
                <a:solidFill>
                  <a:srgbClr val="5A6B7C"/>
                </a:solidFill>
                <a:latin typeface="Calibri" pitchFamily="34" charset="0"/>
                <a:ea typeface="Calibri" pitchFamily="34" charset="-122"/>
                <a:cs typeface="Calibri" pitchFamily="34" charset="-120"/>
              </a:rPr>
              <a:t>ENGLISH</a:t>
            </a:r>
            <a:endParaRPr lang="en-US" sz="900" dirty="0"/>
          </a:p>
        </p:txBody>
      </p:sp>
      <p:sp>
        <p:nvSpPr>
          <p:cNvPr id="57" name="Text 55"/>
          <p:cNvSpPr/>
          <p:nvPr/>
        </p:nvSpPr>
        <p:spPr>
          <a:xfrm>
            <a:off x="7863840" y="5715000"/>
            <a:ext cx="3566160" cy="365760"/>
          </a:xfrm>
          <a:prstGeom prst="rect">
            <a:avLst/>
          </a:prstGeom>
          <a:noFill/>
          <a:ln/>
        </p:spPr>
        <p:txBody>
          <a:bodyPr wrap="square" rtlCol="0" anchor="ctr"/>
          <a:lstStyle/>
          <a:p>
            <a:pPr indent="0" marL="0">
              <a:buNone/>
            </a:pPr>
            <a:r>
              <a:rPr lang="en-US" sz="1300" b="1" dirty="0">
                <a:solidFill>
                  <a:srgbClr val="0B1E3F"/>
                </a:solidFill>
                <a:latin typeface="Calibri" pitchFamily="34" charset="0"/>
                <a:ea typeface="Calibri" pitchFamily="34" charset="-122"/>
                <a:cs typeface="Calibri" pitchFamily="34" charset="-120"/>
              </a:rPr>
              <a:t>"My VPN is not connecting to Azure."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E3F"/>
          </a:solidFill>
          <a:ln/>
        </p:spPr>
      </p:sp>
      <p:sp>
        <p:nvSpPr>
          <p:cNvPr id="3" name="Shape 1"/>
          <p:cNvSpPr/>
          <p:nvPr/>
        </p:nvSpPr>
        <p:spPr>
          <a:xfrm>
            <a:off x="0" y="502920"/>
            <a:ext cx="12191695" cy="36576"/>
          </a:xfrm>
          <a:prstGeom prst="rect">
            <a:avLst/>
          </a:prstGeom>
          <a:solidFill>
            <a:srgbClr val="1FB8C9"/>
          </a:solidFill>
          <a:ln/>
        </p:spPr>
      </p:sp>
      <p:sp>
        <p:nvSpPr>
          <p:cNvPr id="4" name="Text 2"/>
          <p:cNvSpPr/>
          <p:nvPr/>
        </p:nvSpPr>
        <p:spPr>
          <a:xfrm>
            <a:off x="365760" y="0"/>
            <a:ext cx="11430000" cy="502920"/>
          </a:xfrm>
          <a:prstGeom prst="rect">
            <a:avLst/>
          </a:prstGeom>
          <a:noFill/>
          <a:ln/>
        </p:spPr>
        <p:txBody>
          <a:bodyPr wrap="square" rtlCol="0" anchor="ctr"/>
          <a:lstStyle/>
          <a:p>
            <a:pPr indent="0" marL="0">
              <a:buNone/>
            </a:pPr>
            <a:r>
              <a:rPr lang="en-US" sz="1000" b="1" spc="300" kern="0" dirty="0">
                <a:solidFill>
                  <a:srgbClr val="FFFFFF"/>
                </a:solidFill>
                <a:latin typeface="Calibri" pitchFamily="34" charset="0"/>
                <a:ea typeface="Calibri" pitchFamily="34" charset="-122"/>
                <a:cs typeface="Calibri" pitchFamily="34" charset="-120"/>
              </a:rPr>
              <a:t>MULTILINGUAL TICKET TRANSLATOR  •  TEAM 9  •  SD-04</a:t>
            </a:r>
            <a:endParaRPr lang="en-US" sz="1000" dirty="0"/>
          </a:p>
        </p:txBody>
      </p:sp>
      <p:sp>
        <p:nvSpPr>
          <p:cNvPr id="5" name="Text 3"/>
          <p:cNvSpPr/>
          <p:nvPr/>
        </p:nvSpPr>
        <p:spPr>
          <a:xfrm>
            <a:off x="457200" y="685800"/>
            <a:ext cx="11247120" cy="320040"/>
          </a:xfrm>
          <a:prstGeom prst="rect">
            <a:avLst/>
          </a:prstGeom>
          <a:noFill/>
          <a:ln/>
        </p:spPr>
        <p:txBody>
          <a:bodyPr wrap="square" rtlCol="0" anchor="ctr"/>
          <a:lstStyle/>
          <a:p>
            <a:pPr indent="0" marL="0">
              <a:buNone/>
            </a:pPr>
            <a:r>
              <a:rPr lang="en-US" sz="1100" b="1" spc="400" kern="0" dirty="0">
                <a:solidFill>
                  <a:srgbClr val="1FB8C9"/>
                </a:solidFill>
                <a:latin typeface="Calibri" pitchFamily="34" charset="0"/>
                <a:ea typeface="Calibri" pitchFamily="34" charset="-122"/>
                <a:cs typeface="Calibri" pitchFamily="34" charset="-120"/>
              </a:rPr>
              <a:t>12 — OUTCOMES</a:t>
            </a:r>
            <a:endParaRPr lang="en-US" sz="1100" dirty="0"/>
          </a:p>
        </p:txBody>
      </p:sp>
      <p:sp>
        <p:nvSpPr>
          <p:cNvPr id="6" name="Text 4"/>
          <p:cNvSpPr/>
          <p:nvPr/>
        </p:nvSpPr>
        <p:spPr>
          <a:xfrm>
            <a:off x="457200" y="960120"/>
            <a:ext cx="11247120" cy="640080"/>
          </a:xfrm>
          <a:prstGeom prst="rect">
            <a:avLst/>
          </a:prstGeom>
          <a:noFill/>
          <a:ln/>
        </p:spPr>
        <p:txBody>
          <a:bodyPr wrap="square" rtlCol="0" anchor="ctr"/>
          <a:lstStyle/>
          <a:p>
            <a:pPr indent="0" marL="0">
              <a:buNone/>
            </a:pPr>
            <a:r>
              <a:rPr lang="en-US" sz="3000" b="1" dirty="0">
                <a:solidFill>
                  <a:srgbClr val="0B1E3F"/>
                </a:solidFill>
                <a:latin typeface="Calibri" pitchFamily="34" charset="0"/>
                <a:ea typeface="Calibri" pitchFamily="34" charset="-122"/>
                <a:cs typeface="Calibri" pitchFamily="34" charset="-120"/>
              </a:rPr>
              <a:t>Results &amp; Business Impact</a:t>
            </a:r>
            <a:endParaRPr lang="en-US" sz="3000" dirty="0"/>
          </a:p>
        </p:txBody>
      </p:sp>
      <p:sp>
        <p:nvSpPr>
          <p:cNvPr id="7" name="Shape 5"/>
          <p:cNvSpPr/>
          <p:nvPr/>
        </p:nvSpPr>
        <p:spPr>
          <a:xfrm>
            <a:off x="457200" y="1627632"/>
            <a:ext cx="548640" cy="54864"/>
          </a:xfrm>
          <a:prstGeom prst="rect">
            <a:avLst/>
          </a:prstGeom>
          <a:solidFill>
            <a:srgbClr val="1FB8C9"/>
          </a:solidFill>
          <a:ln w="12700">
            <a:solidFill>
              <a:srgbClr val="1FB8C9"/>
            </a:solidFill>
            <a:prstDash val="solid"/>
          </a:ln>
        </p:spPr>
      </p:sp>
      <p:sp>
        <p:nvSpPr>
          <p:cNvPr id="8" name="Shape 6"/>
          <p:cNvSpPr/>
          <p:nvPr/>
        </p:nvSpPr>
        <p:spPr>
          <a:xfrm>
            <a:off x="0" y="6675120"/>
            <a:ext cx="12191695" cy="182880"/>
          </a:xfrm>
          <a:prstGeom prst="rect">
            <a:avLst/>
          </a:prstGeom>
          <a:solidFill>
            <a:srgbClr val="F4F7FB"/>
          </a:solidFill>
          <a:ln w="12700">
            <a:solidFill>
              <a:srgbClr val="F4F7FB"/>
            </a:solidFill>
            <a:prstDash val="solid"/>
          </a:ln>
        </p:spPr>
      </p:sp>
      <p:sp>
        <p:nvSpPr>
          <p:cNvPr id="9" name="Text 7"/>
          <p:cNvSpPr/>
          <p:nvPr/>
        </p:nvSpPr>
        <p:spPr>
          <a:xfrm>
            <a:off x="365760" y="6656832"/>
            <a:ext cx="7315200" cy="201168"/>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Infinite Computer Solutions • Placement Case Study</a:t>
            </a:r>
            <a:endParaRPr lang="en-US" sz="900" dirty="0"/>
          </a:p>
        </p:txBody>
      </p:sp>
      <p:sp>
        <p:nvSpPr>
          <p:cNvPr id="10" name="Text 8"/>
          <p:cNvSpPr/>
          <p:nvPr/>
        </p:nvSpPr>
        <p:spPr>
          <a:xfrm>
            <a:off x="11247120" y="6656832"/>
            <a:ext cx="640080" cy="201168"/>
          </a:xfrm>
          <a:prstGeom prst="rect">
            <a:avLst/>
          </a:prstGeom>
          <a:noFill/>
          <a:ln/>
        </p:spPr>
        <p:txBody>
          <a:bodyPr wrap="square" rtlCol="0" anchor="ctr"/>
          <a:lstStyle/>
          <a:p>
            <a:pPr algn="r" indent="0" marL="0">
              <a:buNone/>
            </a:pPr>
            <a:r>
              <a:rPr lang="en-US" sz="900" b="1" dirty="0">
                <a:solidFill>
                  <a:srgbClr val="5A6B7C"/>
                </a:solidFill>
                <a:latin typeface="Calibri" pitchFamily="34" charset="0"/>
                <a:ea typeface="Calibri" pitchFamily="34" charset="-122"/>
                <a:cs typeface="Calibri" pitchFamily="34" charset="-120"/>
              </a:rPr>
              <a:t>13 / 15</a:t>
            </a:r>
            <a:endParaRPr lang="en-US" sz="900" dirty="0"/>
          </a:p>
        </p:txBody>
      </p:sp>
      <p:sp>
        <p:nvSpPr>
          <p:cNvPr id="11" name="Shape 9"/>
          <p:cNvSpPr/>
          <p:nvPr/>
        </p:nvSpPr>
        <p:spPr>
          <a:xfrm>
            <a:off x="457200" y="1828800"/>
            <a:ext cx="2798064" cy="1371600"/>
          </a:xfrm>
          <a:prstGeom prst="rect">
            <a:avLst/>
          </a:prstGeom>
          <a:solidFill>
            <a:srgbClr val="0B1E3F"/>
          </a:solidFill>
          <a:ln w="12700">
            <a:solidFill>
              <a:srgbClr val="0B1E3F"/>
            </a:solidFill>
            <a:prstDash val="solid"/>
          </a:ln>
        </p:spPr>
      </p:sp>
      <p:sp>
        <p:nvSpPr>
          <p:cNvPr id="12" name="Shape 10"/>
          <p:cNvSpPr/>
          <p:nvPr/>
        </p:nvSpPr>
        <p:spPr>
          <a:xfrm>
            <a:off x="457200" y="3145536"/>
            <a:ext cx="2798064" cy="54864"/>
          </a:xfrm>
          <a:prstGeom prst="rect">
            <a:avLst/>
          </a:prstGeom>
          <a:solidFill>
            <a:srgbClr val="1FB8C9"/>
          </a:solidFill>
          <a:ln w="12700">
            <a:solidFill>
              <a:srgbClr val="1FB8C9"/>
            </a:solidFill>
            <a:prstDash val="solid"/>
          </a:ln>
        </p:spPr>
      </p:sp>
      <p:sp>
        <p:nvSpPr>
          <p:cNvPr id="13" name="Text 11"/>
          <p:cNvSpPr/>
          <p:nvPr/>
        </p:nvSpPr>
        <p:spPr>
          <a:xfrm>
            <a:off x="457200" y="1965960"/>
            <a:ext cx="2798064" cy="685800"/>
          </a:xfrm>
          <a:prstGeom prst="rect">
            <a:avLst/>
          </a:prstGeom>
          <a:noFill/>
          <a:ln/>
        </p:spPr>
        <p:txBody>
          <a:bodyPr wrap="square" rtlCol="0" anchor="ctr"/>
          <a:lstStyle/>
          <a:p>
            <a:pPr algn="ctr" indent="0" marL="0">
              <a:buNone/>
            </a:pPr>
            <a:r>
              <a:rPr lang="en-US" sz="4200" b="1" dirty="0">
                <a:solidFill>
                  <a:srgbClr val="1FB8C9"/>
                </a:solidFill>
                <a:latin typeface="Calibri" pitchFamily="34" charset="0"/>
                <a:ea typeface="Calibri" pitchFamily="34" charset="-122"/>
                <a:cs typeface="Calibri" pitchFamily="34" charset="-120"/>
              </a:rPr>
              <a:t>80%</a:t>
            </a:r>
            <a:endParaRPr lang="en-US" sz="4200" dirty="0"/>
          </a:p>
        </p:txBody>
      </p:sp>
      <p:sp>
        <p:nvSpPr>
          <p:cNvPr id="14" name="Text 12"/>
          <p:cNvSpPr/>
          <p:nvPr/>
        </p:nvSpPr>
        <p:spPr>
          <a:xfrm>
            <a:off x="640080" y="2697480"/>
            <a:ext cx="2432304" cy="45720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reduction in ticket triage time</a:t>
            </a:r>
            <a:endParaRPr lang="en-US" sz="1100" dirty="0"/>
          </a:p>
        </p:txBody>
      </p:sp>
      <p:sp>
        <p:nvSpPr>
          <p:cNvPr id="15" name="Shape 13"/>
          <p:cNvSpPr/>
          <p:nvPr/>
        </p:nvSpPr>
        <p:spPr>
          <a:xfrm>
            <a:off x="3392424" y="1828800"/>
            <a:ext cx="2798064" cy="1371600"/>
          </a:xfrm>
          <a:prstGeom prst="rect">
            <a:avLst/>
          </a:prstGeom>
          <a:solidFill>
            <a:srgbClr val="0B1E3F"/>
          </a:solidFill>
          <a:ln w="12700">
            <a:solidFill>
              <a:srgbClr val="0B1E3F"/>
            </a:solidFill>
            <a:prstDash val="solid"/>
          </a:ln>
        </p:spPr>
      </p:sp>
      <p:sp>
        <p:nvSpPr>
          <p:cNvPr id="16" name="Shape 14"/>
          <p:cNvSpPr/>
          <p:nvPr/>
        </p:nvSpPr>
        <p:spPr>
          <a:xfrm>
            <a:off x="3392424" y="3145536"/>
            <a:ext cx="2798064" cy="54864"/>
          </a:xfrm>
          <a:prstGeom prst="rect">
            <a:avLst/>
          </a:prstGeom>
          <a:solidFill>
            <a:srgbClr val="1FB8C9"/>
          </a:solidFill>
          <a:ln w="12700">
            <a:solidFill>
              <a:srgbClr val="1FB8C9"/>
            </a:solidFill>
            <a:prstDash val="solid"/>
          </a:ln>
        </p:spPr>
      </p:sp>
      <p:sp>
        <p:nvSpPr>
          <p:cNvPr id="17" name="Text 15"/>
          <p:cNvSpPr/>
          <p:nvPr/>
        </p:nvSpPr>
        <p:spPr>
          <a:xfrm>
            <a:off x="3392424" y="1965960"/>
            <a:ext cx="2798064" cy="685800"/>
          </a:xfrm>
          <a:prstGeom prst="rect">
            <a:avLst/>
          </a:prstGeom>
          <a:noFill/>
          <a:ln/>
        </p:spPr>
        <p:txBody>
          <a:bodyPr wrap="square" rtlCol="0" anchor="ctr"/>
          <a:lstStyle/>
          <a:p>
            <a:pPr algn="ctr" indent="0" marL="0">
              <a:buNone/>
            </a:pPr>
            <a:r>
              <a:rPr lang="en-US" sz="4200" b="1" dirty="0">
                <a:solidFill>
                  <a:srgbClr val="1FB8C9"/>
                </a:solidFill>
                <a:latin typeface="Calibri" pitchFamily="34" charset="0"/>
                <a:ea typeface="Calibri" pitchFamily="34" charset="-122"/>
                <a:cs typeface="Calibri" pitchFamily="34" charset="-120"/>
              </a:rPr>
              <a:t>5</a:t>
            </a:r>
            <a:endParaRPr lang="en-US" sz="4200" dirty="0"/>
          </a:p>
        </p:txBody>
      </p:sp>
      <p:sp>
        <p:nvSpPr>
          <p:cNvPr id="18" name="Text 16"/>
          <p:cNvSpPr/>
          <p:nvPr/>
        </p:nvSpPr>
        <p:spPr>
          <a:xfrm>
            <a:off x="3575304" y="2697480"/>
            <a:ext cx="2432304" cy="45720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languages supported out-of-the-box</a:t>
            </a:r>
            <a:endParaRPr lang="en-US" sz="1100" dirty="0"/>
          </a:p>
        </p:txBody>
      </p:sp>
      <p:sp>
        <p:nvSpPr>
          <p:cNvPr id="19" name="Shape 17"/>
          <p:cNvSpPr/>
          <p:nvPr/>
        </p:nvSpPr>
        <p:spPr>
          <a:xfrm>
            <a:off x="6327648" y="1828800"/>
            <a:ext cx="2798064" cy="1371600"/>
          </a:xfrm>
          <a:prstGeom prst="rect">
            <a:avLst/>
          </a:prstGeom>
          <a:solidFill>
            <a:srgbClr val="0B1E3F"/>
          </a:solidFill>
          <a:ln w="12700">
            <a:solidFill>
              <a:srgbClr val="0B1E3F"/>
            </a:solidFill>
            <a:prstDash val="solid"/>
          </a:ln>
        </p:spPr>
      </p:sp>
      <p:sp>
        <p:nvSpPr>
          <p:cNvPr id="20" name="Shape 18"/>
          <p:cNvSpPr/>
          <p:nvPr/>
        </p:nvSpPr>
        <p:spPr>
          <a:xfrm>
            <a:off x="6327648" y="3145536"/>
            <a:ext cx="2798064" cy="54864"/>
          </a:xfrm>
          <a:prstGeom prst="rect">
            <a:avLst/>
          </a:prstGeom>
          <a:solidFill>
            <a:srgbClr val="1FB8C9"/>
          </a:solidFill>
          <a:ln w="12700">
            <a:solidFill>
              <a:srgbClr val="1FB8C9"/>
            </a:solidFill>
            <a:prstDash val="solid"/>
          </a:ln>
        </p:spPr>
      </p:sp>
      <p:sp>
        <p:nvSpPr>
          <p:cNvPr id="21" name="Text 19"/>
          <p:cNvSpPr/>
          <p:nvPr/>
        </p:nvSpPr>
        <p:spPr>
          <a:xfrm>
            <a:off x="6327648" y="1965960"/>
            <a:ext cx="2798064" cy="685800"/>
          </a:xfrm>
          <a:prstGeom prst="rect">
            <a:avLst/>
          </a:prstGeom>
          <a:noFill/>
          <a:ln/>
        </p:spPr>
        <p:txBody>
          <a:bodyPr wrap="square" rtlCol="0" anchor="ctr"/>
          <a:lstStyle/>
          <a:p>
            <a:pPr algn="ctr" indent="0" marL="0">
              <a:buNone/>
            </a:pPr>
            <a:r>
              <a:rPr lang="en-US" sz="4200" b="1" dirty="0">
                <a:solidFill>
                  <a:srgbClr val="1FB8C9"/>
                </a:solidFill>
                <a:latin typeface="Calibri" pitchFamily="34" charset="0"/>
                <a:ea typeface="Calibri" pitchFamily="34" charset="-122"/>
                <a:cs typeface="Calibri" pitchFamily="34" charset="-120"/>
              </a:rPr>
              <a:t>100%</a:t>
            </a:r>
            <a:endParaRPr lang="en-US" sz="4200" dirty="0"/>
          </a:p>
        </p:txBody>
      </p:sp>
      <p:sp>
        <p:nvSpPr>
          <p:cNvPr id="22" name="Text 20"/>
          <p:cNvSpPr/>
          <p:nvPr/>
        </p:nvSpPr>
        <p:spPr>
          <a:xfrm>
            <a:off x="6510528" y="2697480"/>
            <a:ext cx="2432304" cy="45720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glossary term preservation accuracy</a:t>
            </a:r>
            <a:endParaRPr lang="en-US" sz="1100" dirty="0"/>
          </a:p>
        </p:txBody>
      </p:sp>
      <p:sp>
        <p:nvSpPr>
          <p:cNvPr id="23" name="Shape 21"/>
          <p:cNvSpPr/>
          <p:nvPr/>
        </p:nvSpPr>
        <p:spPr>
          <a:xfrm>
            <a:off x="9262872" y="1828800"/>
            <a:ext cx="2798064" cy="1371600"/>
          </a:xfrm>
          <a:prstGeom prst="rect">
            <a:avLst/>
          </a:prstGeom>
          <a:solidFill>
            <a:srgbClr val="0B1E3F"/>
          </a:solidFill>
          <a:ln w="12700">
            <a:solidFill>
              <a:srgbClr val="0B1E3F"/>
            </a:solidFill>
            <a:prstDash val="solid"/>
          </a:ln>
        </p:spPr>
      </p:sp>
      <p:sp>
        <p:nvSpPr>
          <p:cNvPr id="24" name="Shape 22"/>
          <p:cNvSpPr/>
          <p:nvPr/>
        </p:nvSpPr>
        <p:spPr>
          <a:xfrm>
            <a:off x="9262872" y="3145536"/>
            <a:ext cx="2798064" cy="54864"/>
          </a:xfrm>
          <a:prstGeom prst="rect">
            <a:avLst/>
          </a:prstGeom>
          <a:solidFill>
            <a:srgbClr val="1FB8C9"/>
          </a:solidFill>
          <a:ln w="12700">
            <a:solidFill>
              <a:srgbClr val="1FB8C9"/>
            </a:solidFill>
            <a:prstDash val="solid"/>
          </a:ln>
        </p:spPr>
      </p:sp>
      <p:sp>
        <p:nvSpPr>
          <p:cNvPr id="25" name="Text 23"/>
          <p:cNvSpPr/>
          <p:nvPr/>
        </p:nvSpPr>
        <p:spPr>
          <a:xfrm>
            <a:off x="9262872" y="1965960"/>
            <a:ext cx="2798064" cy="685800"/>
          </a:xfrm>
          <a:prstGeom prst="rect">
            <a:avLst/>
          </a:prstGeom>
          <a:noFill/>
          <a:ln/>
        </p:spPr>
        <p:txBody>
          <a:bodyPr wrap="square" rtlCol="0" anchor="ctr"/>
          <a:lstStyle/>
          <a:p>
            <a:pPr algn="ctr" indent="0" marL="0">
              <a:buNone/>
            </a:pPr>
            <a:r>
              <a:rPr lang="en-US" sz="4200" b="1" dirty="0">
                <a:solidFill>
                  <a:srgbClr val="1FB8C9"/>
                </a:solidFill>
                <a:latin typeface="Calibri" pitchFamily="34" charset="0"/>
                <a:ea typeface="Calibri" pitchFamily="34" charset="-122"/>
                <a:cs typeface="Calibri" pitchFamily="34" charset="-120"/>
              </a:rPr>
              <a:t>1x</a:t>
            </a:r>
            <a:endParaRPr lang="en-US" sz="4200" dirty="0"/>
          </a:p>
        </p:txBody>
      </p:sp>
      <p:sp>
        <p:nvSpPr>
          <p:cNvPr id="26" name="Text 24"/>
          <p:cNvSpPr/>
          <p:nvPr/>
        </p:nvSpPr>
        <p:spPr>
          <a:xfrm>
            <a:off x="9445752" y="2697480"/>
            <a:ext cx="2432304" cy="45720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engineer serves all language users</a:t>
            </a:r>
            <a:endParaRPr lang="en-US" sz="1100" dirty="0"/>
          </a:p>
        </p:txBody>
      </p:sp>
      <p:sp>
        <p:nvSpPr>
          <p:cNvPr id="27" name="Text 25"/>
          <p:cNvSpPr/>
          <p:nvPr/>
        </p:nvSpPr>
        <p:spPr>
          <a:xfrm>
            <a:off x="457200" y="3383280"/>
            <a:ext cx="5486400" cy="274320"/>
          </a:xfrm>
          <a:prstGeom prst="rect">
            <a:avLst/>
          </a:prstGeom>
          <a:noFill/>
          <a:ln/>
        </p:spPr>
        <p:txBody>
          <a:bodyPr wrap="square" rtlCol="0" anchor="ctr"/>
          <a:lstStyle/>
          <a:p>
            <a:pPr indent="0" marL="0">
              <a:buNone/>
            </a:pPr>
            <a:r>
              <a:rPr lang="en-US" sz="1000" b="1" spc="400" kern="0" dirty="0">
                <a:solidFill>
                  <a:srgbClr val="0B1E3F"/>
                </a:solidFill>
                <a:latin typeface="Calibri" pitchFamily="34" charset="0"/>
                <a:ea typeface="Calibri" pitchFamily="34" charset="-122"/>
                <a:cs typeface="Calibri" pitchFamily="34" charset="-120"/>
              </a:rPr>
              <a:t>OPERATIONAL OUTCOMES</a:t>
            </a:r>
            <a:endParaRPr lang="en-US" sz="1000" dirty="0"/>
          </a:p>
        </p:txBody>
      </p:sp>
      <p:sp>
        <p:nvSpPr>
          <p:cNvPr id="28" name="Shape 26"/>
          <p:cNvSpPr/>
          <p:nvPr/>
        </p:nvSpPr>
        <p:spPr>
          <a:xfrm>
            <a:off x="457200" y="3630168"/>
            <a:ext cx="457200" cy="36576"/>
          </a:xfrm>
          <a:prstGeom prst="rect">
            <a:avLst/>
          </a:prstGeom>
          <a:solidFill>
            <a:srgbClr val="1FB8C9"/>
          </a:solidFill>
          <a:ln w="12700">
            <a:solidFill>
              <a:srgbClr val="1FB8C9"/>
            </a:solidFill>
            <a:prstDash val="solid"/>
          </a:ln>
        </p:spPr>
      </p:sp>
      <p:sp>
        <p:nvSpPr>
          <p:cNvPr id="29" name="Text 27"/>
          <p:cNvSpPr/>
          <p:nvPr/>
        </p:nvSpPr>
        <p:spPr>
          <a:xfrm>
            <a:off x="6309360" y="3383280"/>
            <a:ext cx="5486400" cy="274320"/>
          </a:xfrm>
          <a:prstGeom prst="rect">
            <a:avLst/>
          </a:prstGeom>
          <a:noFill/>
          <a:ln/>
        </p:spPr>
        <p:txBody>
          <a:bodyPr wrap="square" rtlCol="0" anchor="ctr"/>
          <a:lstStyle/>
          <a:p>
            <a:pPr indent="0" marL="0">
              <a:buNone/>
            </a:pPr>
            <a:r>
              <a:rPr lang="en-US" sz="1000" b="1" spc="400" kern="0" dirty="0">
                <a:solidFill>
                  <a:srgbClr val="0B1E3F"/>
                </a:solidFill>
                <a:latin typeface="Calibri" pitchFamily="34" charset="0"/>
                <a:ea typeface="Calibri" pitchFamily="34" charset="-122"/>
                <a:cs typeface="Calibri" pitchFamily="34" charset="-120"/>
              </a:rPr>
              <a:t>BUSINESS OUTCOMES</a:t>
            </a:r>
            <a:endParaRPr lang="en-US" sz="1000" dirty="0"/>
          </a:p>
        </p:txBody>
      </p:sp>
      <p:sp>
        <p:nvSpPr>
          <p:cNvPr id="30" name="Shape 28"/>
          <p:cNvSpPr/>
          <p:nvPr/>
        </p:nvSpPr>
        <p:spPr>
          <a:xfrm>
            <a:off x="6309360" y="3630168"/>
            <a:ext cx="457200" cy="36576"/>
          </a:xfrm>
          <a:prstGeom prst="rect">
            <a:avLst/>
          </a:prstGeom>
          <a:solidFill>
            <a:srgbClr val="1FB8C9"/>
          </a:solidFill>
          <a:ln w="12700">
            <a:solidFill>
              <a:srgbClr val="1FB8C9"/>
            </a:solidFill>
            <a:prstDash val="solid"/>
          </a:ln>
        </p:spPr>
      </p:sp>
      <p:sp>
        <p:nvSpPr>
          <p:cNvPr id="31" name="Shape 29"/>
          <p:cNvSpPr/>
          <p:nvPr/>
        </p:nvSpPr>
        <p:spPr>
          <a:xfrm>
            <a:off x="457200" y="3749040"/>
            <a:ext cx="5486400" cy="502920"/>
          </a:xfrm>
          <a:prstGeom prst="rect">
            <a:avLst/>
          </a:prstGeom>
          <a:solidFill>
            <a:srgbClr val="F4F7FB"/>
          </a:solidFill>
          <a:ln w="6350">
            <a:solidFill>
              <a:srgbClr val="D9E1EC"/>
            </a:solidFill>
            <a:prstDash val="solid"/>
          </a:ln>
        </p:spPr>
      </p:sp>
      <p:sp>
        <p:nvSpPr>
          <p:cNvPr id="32" name="Shape 30"/>
          <p:cNvSpPr/>
          <p:nvPr/>
        </p:nvSpPr>
        <p:spPr>
          <a:xfrm>
            <a:off x="548640" y="3867912"/>
            <a:ext cx="274320" cy="274320"/>
          </a:xfrm>
          <a:prstGeom prst="ellipse">
            <a:avLst/>
          </a:prstGeom>
          <a:solidFill>
            <a:srgbClr val="1FB8C9"/>
          </a:solidFill>
          <a:ln w="12700">
            <a:solidFill>
              <a:srgbClr val="1FB8C9"/>
            </a:solidFill>
            <a:prstDash val="solid"/>
          </a:ln>
        </p:spPr>
      </p:sp>
      <p:sp>
        <p:nvSpPr>
          <p:cNvPr id="33" name="Text 31"/>
          <p:cNvSpPr/>
          <p:nvPr/>
        </p:nvSpPr>
        <p:spPr>
          <a:xfrm>
            <a:off x="548640" y="3867912"/>
            <a:ext cx="274320" cy="274320"/>
          </a:xfrm>
          <a:prstGeom prst="rect">
            <a:avLst/>
          </a:prstGeom>
          <a:noFill/>
          <a:ln/>
        </p:spPr>
        <p:txBody>
          <a:bodyPr wrap="square" rtlCol="0" anchor="ctr"/>
          <a:lstStyle/>
          <a:p>
            <a:pPr algn="ctr" indent="0" marL="0">
              <a:buNone/>
            </a:pPr>
            <a:r>
              <a:rPr lang="en-US" sz="1100" b="1" dirty="0">
                <a:solidFill>
                  <a:srgbClr val="FFFFFF"/>
                </a:solidFill>
              </a:rPr>
              <a:t>✓</a:t>
            </a:r>
            <a:endParaRPr lang="en-US" sz="1100" dirty="0"/>
          </a:p>
        </p:txBody>
      </p:sp>
      <p:sp>
        <p:nvSpPr>
          <p:cNvPr id="34" name="Text 32"/>
          <p:cNvSpPr/>
          <p:nvPr/>
        </p:nvSpPr>
        <p:spPr>
          <a:xfrm>
            <a:off x="914400" y="3749040"/>
            <a:ext cx="1920240" cy="502920"/>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Faster Understanding</a:t>
            </a:r>
            <a:endParaRPr lang="en-US" sz="1100" dirty="0"/>
          </a:p>
        </p:txBody>
      </p:sp>
      <p:sp>
        <p:nvSpPr>
          <p:cNvPr id="35" name="Text 33"/>
          <p:cNvSpPr/>
          <p:nvPr/>
        </p:nvSpPr>
        <p:spPr>
          <a:xfrm>
            <a:off x="2880360" y="3749040"/>
            <a:ext cx="3017520" cy="502920"/>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Engineers grasp ticket intent in seconds, not minutes.</a:t>
            </a:r>
            <a:endParaRPr lang="en-US" sz="900" dirty="0"/>
          </a:p>
        </p:txBody>
      </p:sp>
      <p:sp>
        <p:nvSpPr>
          <p:cNvPr id="36" name="Shape 34"/>
          <p:cNvSpPr/>
          <p:nvPr/>
        </p:nvSpPr>
        <p:spPr>
          <a:xfrm>
            <a:off x="457200" y="4315968"/>
            <a:ext cx="5486400" cy="502920"/>
          </a:xfrm>
          <a:prstGeom prst="rect">
            <a:avLst/>
          </a:prstGeom>
          <a:solidFill>
            <a:srgbClr val="FFFFFF"/>
          </a:solidFill>
          <a:ln w="6350">
            <a:solidFill>
              <a:srgbClr val="D9E1EC"/>
            </a:solidFill>
            <a:prstDash val="solid"/>
          </a:ln>
        </p:spPr>
      </p:sp>
      <p:sp>
        <p:nvSpPr>
          <p:cNvPr id="37" name="Shape 35"/>
          <p:cNvSpPr/>
          <p:nvPr/>
        </p:nvSpPr>
        <p:spPr>
          <a:xfrm>
            <a:off x="548640" y="4434840"/>
            <a:ext cx="274320" cy="274320"/>
          </a:xfrm>
          <a:prstGeom prst="ellipse">
            <a:avLst/>
          </a:prstGeom>
          <a:solidFill>
            <a:srgbClr val="1FB8C9"/>
          </a:solidFill>
          <a:ln w="12700">
            <a:solidFill>
              <a:srgbClr val="1FB8C9"/>
            </a:solidFill>
            <a:prstDash val="solid"/>
          </a:ln>
        </p:spPr>
      </p:sp>
      <p:sp>
        <p:nvSpPr>
          <p:cNvPr id="38" name="Text 36"/>
          <p:cNvSpPr/>
          <p:nvPr/>
        </p:nvSpPr>
        <p:spPr>
          <a:xfrm>
            <a:off x="548640" y="4434840"/>
            <a:ext cx="274320" cy="274320"/>
          </a:xfrm>
          <a:prstGeom prst="rect">
            <a:avLst/>
          </a:prstGeom>
          <a:noFill/>
          <a:ln/>
        </p:spPr>
        <p:txBody>
          <a:bodyPr wrap="square" rtlCol="0" anchor="ctr"/>
          <a:lstStyle/>
          <a:p>
            <a:pPr algn="ctr" indent="0" marL="0">
              <a:buNone/>
            </a:pPr>
            <a:r>
              <a:rPr lang="en-US" sz="1100" b="1" dirty="0">
                <a:solidFill>
                  <a:srgbClr val="FFFFFF"/>
                </a:solidFill>
              </a:rPr>
              <a:t>✓</a:t>
            </a:r>
            <a:endParaRPr lang="en-US" sz="1100" dirty="0"/>
          </a:p>
        </p:txBody>
      </p:sp>
      <p:sp>
        <p:nvSpPr>
          <p:cNvPr id="39" name="Text 37"/>
          <p:cNvSpPr/>
          <p:nvPr/>
        </p:nvSpPr>
        <p:spPr>
          <a:xfrm>
            <a:off x="914400" y="4315968"/>
            <a:ext cx="1920240" cy="502920"/>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Reduced Translation Effort</a:t>
            </a:r>
            <a:endParaRPr lang="en-US" sz="1100" dirty="0"/>
          </a:p>
        </p:txBody>
      </p:sp>
      <p:sp>
        <p:nvSpPr>
          <p:cNvPr id="40" name="Text 38"/>
          <p:cNvSpPr/>
          <p:nvPr/>
        </p:nvSpPr>
        <p:spPr>
          <a:xfrm>
            <a:off x="2880360" y="4315968"/>
            <a:ext cx="3017520" cy="502920"/>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Zero manual translation in steady state.</a:t>
            </a:r>
            <a:endParaRPr lang="en-US" sz="900" dirty="0"/>
          </a:p>
        </p:txBody>
      </p:sp>
      <p:sp>
        <p:nvSpPr>
          <p:cNvPr id="41" name="Shape 39"/>
          <p:cNvSpPr/>
          <p:nvPr/>
        </p:nvSpPr>
        <p:spPr>
          <a:xfrm>
            <a:off x="457200" y="4882896"/>
            <a:ext cx="5486400" cy="502920"/>
          </a:xfrm>
          <a:prstGeom prst="rect">
            <a:avLst/>
          </a:prstGeom>
          <a:solidFill>
            <a:srgbClr val="F4F7FB"/>
          </a:solidFill>
          <a:ln w="6350">
            <a:solidFill>
              <a:srgbClr val="D9E1EC"/>
            </a:solidFill>
            <a:prstDash val="solid"/>
          </a:ln>
        </p:spPr>
      </p:sp>
      <p:sp>
        <p:nvSpPr>
          <p:cNvPr id="42" name="Shape 40"/>
          <p:cNvSpPr/>
          <p:nvPr/>
        </p:nvSpPr>
        <p:spPr>
          <a:xfrm>
            <a:off x="548640" y="5001768"/>
            <a:ext cx="274320" cy="274320"/>
          </a:xfrm>
          <a:prstGeom prst="ellipse">
            <a:avLst/>
          </a:prstGeom>
          <a:solidFill>
            <a:srgbClr val="1FB8C9"/>
          </a:solidFill>
          <a:ln w="12700">
            <a:solidFill>
              <a:srgbClr val="1FB8C9"/>
            </a:solidFill>
            <a:prstDash val="solid"/>
          </a:ln>
        </p:spPr>
      </p:sp>
      <p:sp>
        <p:nvSpPr>
          <p:cNvPr id="43" name="Text 41"/>
          <p:cNvSpPr/>
          <p:nvPr/>
        </p:nvSpPr>
        <p:spPr>
          <a:xfrm>
            <a:off x="548640" y="5001768"/>
            <a:ext cx="274320" cy="274320"/>
          </a:xfrm>
          <a:prstGeom prst="rect">
            <a:avLst/>
          </a:prstGeom>
          <a:noFill/>
          <a:ln/>
        </p:spPr>
        <p:txBody>
          <a:bodyPr wrap="square" rtlCol="0" anchor="ctr"/>
          <a:lstStyle/>
          <a:p>
            <a:pPr algn="ctr" indent="0" marL="0">
              <a:buNone/>
            </a:pPr>
            <a:r>
              <a:rPr lang="en-US" sz="1100" b="1" dirty="0">
                <a:solidFill>
                  <a:srgbClr val="FFFFFF"/>
                </a:solidFill>
              </a:rPr>
              <a:t>✓</a:t>
            </a:r>
            <a:endParaRPr lang="en-US" sz="1100" dirty="0"/>
          </a:p>
        </p:txBody>
      </p:sp>
      <p:sp>
        <p:nvSpPr>
          <p:cNvPr id="44" name="Text 42"/>
          <p:cNvSpPr/>
          <p:nvPr/>
        </p:nvSpPr>
        <p:spPr>
          <a:xfrm>
            <a:off x="914400" y="4882896"/>
            <a:ext cx="1920240" cy="502920"/>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Consistent Term Handling</a:t>
            </a:r>
            <a:endParaRPr lang="en-US" sz="1100" dirty="0"/>
          </a:p>
        </p:txBody>
      </p:sp>
      <p:sp>
        <p:nvSpPr>
          <p:cNvPr id="45" name="Text 43"/>
          <p:cNvSpPr/>
          <p:nvPr/>
        </p:nvSpPr>
        <p:spPr>
          <a:xfrm>
            <a:off x="2880360" y="4882896"/>
            <a:ext cx="3017520" cy="502920"/>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IT terminology preserved across all tickets.</a:t>
            </a:r>
            <a:endParaRPr lang="en-US" sz="900" dirty="0"/>
          </a:p>
        </p:txBody>
      </p:sp>
      <p:sp>
        <p:nvSpPr>
          <p:cNvPr id="46" name="Shape 44"/>
          <p:cNvSpPr/>
          <p:nvPr/>
        </p:nvSpPr>
        <p:spPr>
          <a:xfrm>
            <a:off x="457200" y="5449824"/>
            <a:ext cx="5486400" cy="502920"/>
          </a:xfrm>
          <a:prstGeom prst="rect">
            <a:avLst/>
          </a:prstGeom>
          <a:solidFill>
            <a:srgbClr val="FFFFFF"/>
          </a:solidFill>
          <a:ln w="6350">
            <a:solidFill>
              <a:srgbClr val="D9E1EC"/>
            </a:solidFill>
            <a:prstDash val="solid"/>
          </a:ln>
        </p:spPr>
      </p:sp>
      <p:sp>
        <p:nvSpPr>
          <p:cNvPr id="47" name="Shape 45"/>
          <p:cNvSpPr/>
          <p:nvPr/>
        </p:nvSpPr>
        <p:spPr>
          <a:xfrm>
            <a:off x="548640" y="5568696"/>
            <a:ext cx="274320" cy="274320"/>
          </a:xfrm>
          <a:prstGeom prst="ellipse">
            <a:avLst/>
          </a:prstGeom>
          <a:solidFill>
            <a:srgbClr val="1FB8C9"/>
          </a:solidFill>
          <a:ln w="12700">
            <a:solidFill>
              <a:srgbClr val="1FB8C9"/>
            </a:solidFill>
            <a:prstDash val="solid"/>
          </a:ln>
        </p:spPr>
      </p:sp>
      <p:sp>
        <p:nvSpPr>
          <p:cNvPr id="48" name="Text 46"/>
          <p:cNvSpPr/>
          <p:nvPr/>
        </p:nvSpPr>
        <p:spPr>
          <a:xfrm>
            <a:off x="548640" y="5568696"/>
            <a:ext cx="274320" cy="274320"/>
          </a:xfrm>
          <a:prstGeom prst="rect">
            <a:avLst/>
          </a:prstGeom>
          <a:noFill/>
          <a:ln/>
        </p:spPr>
        <p:txBody>
          <a:bodyPr wrap="square" rtlCol="0" anchor="ctr"/>
          <a:lstStyle/>
          <a:p>
            <a:pPr algn="ctr" indent="0" marL="0">
              <a:buNone/>
            </a:pPr>
            <a:r>
              <a:rPr lang="en-US" sz="1100" b="1" dirty="0">
                <a:solidFill>
                  <a:srgbClr val="FFFFFF"/>
                </a:solidFill>
              </a:rPr>
              <a:t>✓</a:t>
            </a:r>
            <a:endParaRPr lang="en-US" sz="1100" dirty="0"/>
          </a:p>
        </p:txBody>
      </p:sp>
      <p:sp>
        <p:nvSpPr>
          <p:cNvPr id="49" name="Text 47"/>
          <p:cNvSpPr/>
          <p:nvPr/>
        </p:nvSpPr>
        <p:spPr>
          <a:xfrm>
            <a:off x="914400" y="5449824"/>
            <a:ext cx="1920240" cy="502920"/>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Automatic Categorization</a:t>
            </a:r>
            <a:endParaRPr lang="en-US" sz="1100" dirty="0"/>
          </a:p>
        </p:txBody>
      </p:sp>
      <p:sp>
        <p:nvSpPr>
          <p:cNvPr id="50" name="Text 48"/>
          <p:cNvSpPr/>
          <p:nvPr/>
        </p:nvSpPr>
        <p:spPr>
          <a:xfrm>
            <a:off x="2880360" y="5449824"/>
            <a:ext cx="3017520" cy="502920"/>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Software / Hardware / Network / Access assigned by AI.</a:t>
            </a:r>
            <a:endParaRPr lang="en-US" sz="900" dirty="0"/>
          </a:p>
        </p:txBody>
      </p:sp>
      <p:sp>
        <p:nvSpPr>
          <p:cNvPr id="51" name="Shape 49"/>
          <p:cNvSpPr/>
          <p:nvPr/>
        </p:nvSpPr>
        <p:spPr>
          <a:xfrm>
            <a:off x="457200" y="6016752"/>
            <a:ext cx="5486400" cy="502920"/>
          </a:xfrm>
          <a:prstGeom prst="rect">
            <a:avLst/>
          </a:prstGeom>
          <a:solidFill>
            <a:srgbClr val="F4F7FB"/>
          </a:solidFill>
          <a:ln w="6350">
            <a:solidFill>
              <a:srgbClr val="D9E1EC"/>
            </a:solidFill>
            <a:prstDash val="solid"/>
          </a:ln>
        </p:spPr>
      </p:sp>
      <p:sp>
        <p:nvSpPr>
          <p:cNvPr id="52" name="Shape 50"/>
          <p:cNvSpPr/>
          <p:nvPr/>
        </p:nvSpPr>
        <p:spPr>
          <a:xfrm>
            <a:off x="548640" y="6135624"/>
            <a:ext cx="274320" cy="274320"/>
          </a:xfrm>
          <a:prstGeom prst="ellipse">
            <a:avLst/>
          </a:prstGeom>
          <a:solidFill>
            <a:srgbClr val="1FB8C9"/>
          </a:solidFill>
          <a:ln w="12700">
            <a:solidFill>
              <a:srgbClr val="1FB8C9"/>
            </a:solidFill>
            <a:prstDash val="solid"/>
          </a:ln>
        </p:spPr>
      </p:sp>
      <p:sp>
        <p:nvSpPr>
          <p:cNvPr id="53" name="Text 51"/>
          <p:cNvSpPr/>
          <p:nvPr/>
        </p:nvSpPr>
        <p:spPr>
          <a:xfrm>
            <a:off x="548640" y="6135624"/>
            <a:ext cx="274320" cy="274320"/>
          </a:xfrm>
          <a:prstGeom prst="rect">
            <a:avLst/>
          </a:prstGeom>
          <a:noFill/>
          <a:ln/>
        </p:spPr>
        <p:txBody>
          <a:bodyPr wrap="square" rtlCol="0" anchor="ctr"/>
          <a:lstStyle/>
          <a:p>
            <a:pPr algn="ctr" indent="0" marL="0">
              <a:buNone/>
            </a:pPr>
            <a:r>
              <a:rPr lang="en-US" sz="1100" b="1" dirty="0">
                <a:solidFill>
                  <a:srgbClr val="FFFFFF"/>
                </a:solidFill>
              </a:rPr>
              <a:t>✓</a:t>
            </a:r>
            <a:endParaRPr lang="en-US" sz="1100" dirty="0"/>
          </a:p>
        </p:txBody>
      </p:sp>
      <p:sp>
        <p:nvSpPr>
          <p:cNvPr id="54" name="Text 52"/>
          <p:cNvSpPr/>
          <p:nvPr/>
        </p:nvSpPr>
        <p:spPr>
          <a:xfrm>
            <a:off x="914400" y="6016752"/>
            <a:ext cx="1920240" cy="502920"/>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Automatic Prioritization</a:t>
            </a:r>
            <a:endParaRPr lang="en-US" sz="1100" dirty="0"/>
          </a:p>
        </p:txBody>
      </p:sp>
      <p:sp>
        <p:nvSpPr>
          <p:cNvPr id="55" name="Text 53"/>
          <p:cNvSpPr/>
          <p:nvPr/>
        </p:nvSpPr>
        <p:spPr>
          <a:xfrm>
            <a:off x="2880360" y="6016752"/>
            <a:ext cx="3017520" cy="502920"/>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High / Medium / Low triage without human review.</a:t>
            </a:r>
            <a:endParaRPr lang="en-US" sz="900" dirty="0"/>
          </a:p>
        </p:txBody>
      </p:sp>
      <p:sp>
        <p:nvSpPr>
          <p:cNvPr id="56" name="Shape 54"/>
          <p:cNvSpPr/>
          <p:nvPr/>
        </p:nvSpPr>
        <p:spPr>
          <a:xfrm>
            <a:off x="6309360" y="3749040"/>
            <a:ext cx="5486400" cy="502920"/>
          </a:xfrm>
          <a:prstGeom prst="rect">
            <a:avLst/>
          </a:prstGeom>
          <a:solidFill>
            <a:srgbClr val="F4F7FB"/>
          </a:solidFill>
          <a:ln w="6350">
            <a:solidFill>
              <a:srgbClr val="D9E1EC"/>
            </a:solidFill>
            <a:prstDash val="solid"/>
          </a:ln>
        </p:spPr>
      </p:sp>
      <p:sp>
        <p:nvSpPr>
          <p:cNvPr id="57" name="Shape 55"/>
          <p:cNvSpPr/>
          <p:nvPr/>
        </p:nvSpPr>
        <p:spPr>
          <a:xfrm>
            <a:off x="6400800" y="3867912"/>
            <a:ext cx="274320" cy="274320"/>
          </a:xfrm>
          <a:prstGeom prst="ellipse">
            <a:avLst/>
          </a:prstGeom>
          <a:solidFill>
            <a:srgbClr val="1FB8C9"/>
          </a:solidFill>
          <a:ln w="12700">
            <a:solidFill>
              <a:srgbClr val="1FB8C9"/>
            </a:solidFill>
            <a:prstDash val="solid"/>
          </a:ln>
        </p:spPr>
      </p:sp>
      <p:sp>
        <p:nvSpPr>
          <p:cNvPr id="58" name="Text 56"/>
          <p:cNvSpPr/>
          <p:nvPr/>
        </p:nvSpPr>
        <p:spPr>
          <a:xfrm>
            <a:off x="6400800" y="3867912"/>
            <a:ext cx="274320" cy="274320"/>
          </a:xfrm>
          <a:prstGeom prst="rect">
            <a:avLst/>
          </a:prstGeom>
          <a:noFill/>
          <a:ln/>
        </p:spPr>
        <p:txBody>
          <a:bodyPr wrap="square" rtlCol="0" anchor="ctr"/>
          <a:lstStyle/>
          <a:p>
            <a:pPr algn="ctr" indent="0" marL="0">
              <a:buNone/>
            </a:pPr>
            <a:r>
              <a:rPr lang="en-US" sz="1100" b="1" dirty="0">
                <a:solidFill>
                  <a:srgbClr val="FFFFFF"/>
                </a:solidFill>
              </a:rPr>
              <a:t>✓</a:t>
            </a:r>
            <a:endParaRPr lang="en-US" sz="1100" dirty="0"/>
          </a:p>
        </p:txBody>
      </p:sp>
      <p:sp>
        <p:nvSpPr>
          <p:cNvPr id="59" name="Text 57"/>
          <p:cNvSpPr/>
          <p:nvPr/>
        </p:nvSpPr>
        <p:spPr>
          <a:xfrm>
            <a:off x="6766560" y="3749040"/>
            <a:ext cx="1920240" cy="502920"/>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Improved CX</a:t>
            </a:r>
            <a:endParaRPr lang="en-US" sz="1100" dirty="0"/>
          </a:p>
        </p:txBody>
      </p:sp>
      <p:sp>
        <p:nvSpPr>
          <p:cNvPr id="60" name="Text 58"/>
          <p:cNvSpPr/>
          <p:nvPr/>
        </p:nvSpPr>
        <p:spPr>
          <a:xfrm>
            <a:off x="8732520" y="3749040"/>
            <a:ext cx="3017520" cy="502920"/>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Customers communicate in their language end-to-end.</a:t>
            </a:r>
            <a:endParaRPr lang="en-US" sz="900" dirty="0"/>
          </a:p>
        </p:txBody>
      </p:sp>
      <p:sp>
        <p:nvSpPr>
          <p:cNvPr id="61" name="Shape 59"/>
          <p:cNvSpPr/>
          <p:nvPr/>
        </p:nvSpPr>
        <p:spPr>
          <a:xfrm>
            <a:off x="6309360" y="4315968"/>
            <a:ext cx="5486400" cy="502920"/>
          </a:xfrm>
          <a:prstGeom prst="rect">
            <a:avLst/>
          </a:prstGeom>
          <a:solidFill>
            <a:srgbClr val="FFFFFF"/>
          </a:solidFill>
          <a:ln w="6350">
            <a:solidFill>
              <a:srgbClr val="D9E1EC"/>
            </a:solidFill>
            <a:prstDash val="solid"/>
          </a:ln>
        </p:spPr>
      </p:sp>
      <p:sp>
        <p:nvSpPr>
          <p:cNvPr id="62" name="Shape 60"/>
          <p:cNvSpPr/>
          <p:nvPr/>
        </p:nvSpPr>
        <p:spPr>
          <a:xfrm>
            <a:off x="6400800" y="4434840"/>
            <a:ext cx="274320" cy="274320"/>
          </a:xfrm>
          <a:prstGeom prst="ellipse">
            <a:avLst/>
          </a:prstGeom>
          <a:solidFill>
            <a:srgbClr val="1FB8C9"/>
          </a:solidFill>
          <a:ln w="12700">
            <a:solidFill>
              <a:srgbClr val="1FB8C9"/>
            </a:solidFill>
            <a:prstDash val="solid"/>
          </a:ln>
        </p:spPr>
      </p:sp>
      <p:sp>
        <p:nvSpPr>
          <p:cNvPr id="63" name="Text 61"/>
          <p:cNvSpPr/>
          <p:nvPr/>
        </p:nvSpPr>
        <p:spPr>
          <a:xfrm>
            <a:off x="6400800" y="4434840"/>
            <a:ext cx="274320" cy="274320"/>
          </a:xfrm>
          <a:prstGeom prst="rect">
            <a:avLst/>
          </a:prstGeom>
          <a:noFill/>
          <a:ln/>
        </p:spPr>
        <p:txBody>
          <a:bodyPr wrap="square" rtlCol="0" anchor="ctr"/>
          <a:lstStyle/>
          <a:p>
            <a:pPr algn="ctr" indent="0" marL="0">
              <a:buNone/>
            </a:pPr>
            <a:r>
              <a:rPr lang="en-US" sz="1100" b="1" dirty="0">
                <a:solidFill>
                  <a:srgbClr val="FFFFFF"/>
                </a:solidFill>
              </a:rPr>
              <a:t>✓</a:t>
            </a:r>
            <a:endParaRPr lang="en-US" sz="1100" dirty="0"/>
          </a:p>
        </p:txBody>
      </p:sp>
      <p:sp>
        <p:nvSpPr>
          <p:cNvPr id="64" name="Text 62"/>
          <p:cNvSpPr/>
          <p:nvPr/>
        </p:nvSpPr>
        <p:spPr>
          <a:xfrm>
            <a:off x="6766560" y="4315968"/>
            <a:ext cx="1920240" cy="502920"/>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Lower Cost</a:t>
            </a:r>
            <a:endParaRPr lang="en-US" sz="1100" dirty="0"/>
          </a:p>
        </p:txBody>
      </p:sp>
      <p:sp>
        <p:nvSpPr>
          <p:cNvPr id="65" name="Text 63"/>
          <p:cNvSpPr/>
          <p:nvPr/>
        </p:nvSpPr>
        <p:spPr>
          <a:xfrm>
            <a:off x="8732520" y="4315968"/>
            <a:ext cx="3017520" cy="502920"/>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Eliminates bilingual staffing premium.</a:t>
            </a:r>
            <a:endParaRPr lang="en-US" sz="900" dirty="0"/>
          </a:p>
        </p:txBody>
      </p:sp>
      <p:sp>
        <p:nvSpPr>
          <p:cNvPr id="66" name="Shape 64"/>
          <p:cNvSpPr/>
          <p:nvPr/>
        </p:nvSpPr>
        <p:spPr>
          <a:xfrm>
            <a:off x="6309360" y="4882896"/>
            <a:ext cx="5486400" cy="502920"/>
          </a:xfrm>
          <a:prstGeom prst="rect">
            <a:avLst/>
          </a:prstGeom>
          <a:solidFill>
            <a:srgbClr val="F4F7FB"/>
          </a:solidFill>
          <a:ln w="6350">
            <a:solidFill>
              <a:srgbClr val="D9E1EC"/>
            </a:solidFill>
            <a:prstDash val="solid"/>
          </a:ln>
        </p:spPr>
      </p:sp>
      <p:sp>
        <p:nvSpPr>
          <p:cNvPr id="67" name="Shape 65"/>
          <p:cNvSpPr/>
          <p:nvPr/>
        </p:nvSpPr>
        <p:spPr>
          <a:xfrm>
            <a:off x="6400800" y="5001768"/>
            <a:ext cx="274320" cy="274320"/>
          </a:xfrm>
          <a:prstGeom prst="ellipse">
            <a:avLst/>
          </a:prstGeom>
          <a:solidFill>
            <a:srgbClr val="1FB8C9"/>
          </a:solidFill>
          <a:ln w="12700">
            <a:solidFill>
              <a:srgbClr val="1FB8C9"/>
            </a:solidFill>
            <a:prstDash val="solid"/>
          </a:ln>
        </p:spPr>
      </p:sp>
      <p:sp>
        <p:nvSpPr>
          <p:cNvPr id="68" name="Text 66"/>
          <p:cNvSpPr/>
          <p:nvPr/>
        </p:nvSpPr>
        <p:spPr>
          <a:xfrm>
            <a:off x="6400800" y="5001768"/>
            <a:ext cx="274320" cy="274320"/>
          </a:xfrm>
          <a:prstGeom prst="rect">
            <a:avLst/>
          </a:prstGeom>
          <a:noFill/>
          <a:ln/>
        </p:spPr>
        <p:txBody>
          <a:bodyPr wrap="square" rtlCol="0" anchor="ctr"/>
          <a:lstStyle/>
          <a:p>
            <a:pPr algn="ctr" indent="0" marL="0">
              <a:buNone/>
            </a:pPr>
            <a:r>
              <a:rPr lang="en-US" sz="1100" b="1" dirty="0">
                <a:solidFill>
                  <a:srgbClr val="FFFFFF"/>
                </a:solidFill>
              </a:rPr>
              <a:t>✓</a:t>
            </a:r>
            <a:endParaRPr lang="en-US" sz="1100" dirty="0"/>
          </a:p>
        </p:txBody>
      </p:sp>
      <p:sp>
        <p:nvSpPr>
          <p:cNvPr id="69" name="Text 67"/>
          <p:cNvSpPr/>
          <p:nvPr/>
        </p:nvSpPr>
        <p:spPr>
          <a:xfrm>
            <a:off x="6766560" y="4882896"/>
            <a:ext cx="1920240" cy="502920"/>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Better SLAs</a:t>
            </a:r>
            <a:endParaRPr lang="en-US" sz="1100" dirty="0"/>
          </a:p>
        </p:txBody>
      </p:sp>
      <p:sp>
        <p:nvSpPr>
          <p:cNvPr id="70" name="Text 68"/>
          <p:cNvSpPr/>
          <p:nvPr/>
        </p:nvSpPr>
        <p:spPr>
          <a:xfrm>
            <a:off x="8732520" y="4882896"/>
            <a:ext cx="3017520" cy="502920"/>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Triage delay collapses; first-response time shrinks.</a:t>
            </a:r>
            <a:endParaRPr lang="en-US" sz="900" dirty="0"/>
          </a:p>
        </p:txBody>
      </p:sp>
      <p:sp>
        <p:nvSpPr>
          <p:cNvPr id="71" name="Shape 69"/>
          <p:cNvSpPr/>
          <p:nvPr/>
        </p:nvSpPr>
        <p:spPr>
          <a:xfrm>
            <a:off x="6309360" y="5449824"/>
            <a:ext cx="5486400" cy="502920"/>
          </a:xfrm>
          <a:prstGeom prst="rect">
            <a:avLst/>
          </a:prstGeom>
          <a:solidFill>
            <a:srgbClr val="FFFFFF"/>
          </a:solidFill>
          <a:ln w="6350">
            <a:solidFill>
              <a:srgbClr val="D9E1EC"/>
            </a:solidFill>
            <a:prstDash val="solid"/>
          </a:ln>
        </p:spPr>
      </p:sp>
      <p:sp>
        <p:nvSpPr>
          <p:cNvPr id="72" name="Shape 70"/>
          <p:cNvSpPr/>
          <p:nvPr/>
        </p:nvSpPr>
        <p:spPr>
          <a:xfrm>
            <a:off x="6400800" y="5568696"/>
            <a:ext cx="274320" cy="274320"/>
          </a:xfrm>
          <a:prstGeom prst="ellipse">
            <a:avLst/>
          </a:prstGeom>
          <a:solidFill>
            <a:srgbClr val="1FB8C9"/>
          </a:solidFill>
          <a:ln w="12700">
            <a:solidFill>
              <a:srgbClr val="1FB8C9"/>
            </a:solidFill>
            <a:prstDash val="solid"/>
          </a:ln>
        </p:spPr>
      </p:sp>
      <p:sp>
        <p:nvSpPr>
          <p:cNvPr id="73" name="Text 71"/>
          <p:cNvSpPr/>
          <p:nvPr/>
        </p:nvSpPr>
        <p:spPr>
          <a:xfrm>
            <a:off x="6400800" y="5568696"/>
            <a:ext cx="274320" cy="274320"/>
          </a:xfrm>
          <a:prstGeom prst="rect">
            <a:avLst/>
          </a:prstGeom>
          <a:noFill/>
          <a:ln/>
        </p:spPr>
        <p:txBody>
          <a:bodyPr wrap="square" rtlCol="0" anchor="ctr"/>
          <a:lstStyle/>
          <a:p>
            <a:pPr algn="ctr" indent="0" marL="0">
              <a:buNone/>
            </a:pPr>
            <a:r>
              <a:rPr lang="en-US" sz="1100" b="1" dirty="0">
                <a:solidFill>
                  <a:srgbClr val="FFFFFF"/>
                </a:solidFill>
              </a:rPr>
              <a:t>✓</a:t>
            </a:r>
            <a:endParaRPr lang="en-US" sz="1100" dirty="0"/>
          </a:p>
        </p:txBody>
      </p:sp>
      <p:sp>
        <p:nvSpPr>
          <p:cNvPr id="74" name="Text 72"/>
          <p:cNvSpPr/>
          <p:nvPr/>
        </p:nvSpPr>
        <p:spPr>
          <a:xfrm>
            <a:off x="6766560" y="5449824"/>
            <a:ext cx="1920240" cy="502920"/>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Audit Compliance</a:t>
            </a:r>
            <a:endParaRPr lang="en-US" sz="1100" dirty="0"/>
          </a:p>
        </p:txBody>
      </p:sp>
      <p:sp>
        <p:nvSpPr>
          <p:cNvPr id="75" name="Text 73"/>
          <p:cNvSpPr/>
          <p:nvPr/>
        </p:nvSpPr>
        <p:spPr>
          <a:xfrm>
            <a:off x="8732520" y="5449824"/>
            <a:ext cx="3017520" cy="502920"/>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Full traceable history for every ticket lifecycle.</a:t>
            </a:r>
            <a:endParaRPr lang="en-US" sz="900" dirty="0"/>
          </a:p>
        </p:txBody>
      </p:sp>
      <p:sp>
        <p:nvSpPr>
          <p:cNvPr id="76" name="Shape 74"/>
          <p:cNvSpPr/>
          <p:nvPr/>
        </p:nvSpPr>
        <p:spPr>
          <a:xfrm>
            <a:off x="6309360" y="6016752"/>
            <a:ext cx="5486400" cy="502920"/>
          </a:xfrm>
          <a:prstGeom prst="rect">
            <a:avLst/>
          </a:prstGeom>
          <a:solidFill>
            <a:srgbClr val="F4F7FB"/>
          </a:solidFill>
          <a:ln w="6350">
            <a:solidFill>
              <a:srgbClr val="D9E1EC"/>
            </a:solidFill>
            <a:prstDash val="solid"/>
          </a:ln>
        </p:spPr>
      </p:sp>
      <p:sp>
        <p:nvSpPr>
          <p:cNvPr id="77" name="Shape 75"/>
          <p:cNvSpPr/>
          <p:nvPr/>
        </p:nvSpPr>
        <p:spPr>
          <a:xfrm>
            <a:off x="6400800" y="6135624"/>
            <a:ext cx="274320" cy="274320"/>
          </a:xfrm>
          <a:prstGeom prst="ellipse">
            <a:avLst/>
          </a:prstGeom>
          <a:solidFill>
            <a:srgbClr val="1FB8C9"/>
          </a:solidFill>
          <a:ln w="12700">
            <a:solidFill>
              <a:srgbClr val="1FB8C9"/>
            </a:solidFill>
            <a:prstDash val="solid"/>
          </a:ln>
        </p:spPr>
      </p:sp>
      <p:sp>
        <p:nvSpPr>
          <p:cNvPr id="78" name="Text 76"/>
          <p:cNvSpPr/>
          <p:nvPr/>
        </p:nvSpPr>
        <p:spPr>
          <a:xfrm>
            <a:off x="6400800" y="6135624"/>
            <a:ext cx="274320" cy="274320"/>
          </a:xfrm>
          <a:prstGeom prst="rect">
            <a:avLst/>
          </a:prstGeom>
          <a:noFill/>
          <a:ln/>
        </p:spPr>
        <p:txBody>
          <a:bodyPr wrap="square" rtlCol="0" anchor="ctr"/>
          <a:lstStyle/>
          <a:p>
            <a:pPr algn="ctr" indent="0" marL="0">
              <a:buNone/>
            </a:pPr>
            <a:r>
              <a:rPr lang="en-US" sz="1100" b="1" dirty="0">
                <a:solidFill>
                  <a:srgbClr val="FFFFFF"/>
                </a:solidFill>
              </a:rPr>
              <a:t>✓</a:t>
            </a:r>
            <a:endParaRPr lang="en-US" sz="1100" dirty="0"/>
          </a:p>
        </p:txBody>
      </p:sp>
      <p:sp>
        <p:nvSpPr>
          <p:cNvPr id="79" name="Text 77"/>
          <p:cNvSpPr/>
          <p:nvPr/>
        </p:nvSpPr>
        <p:spPr>
          <a:xfrm>
            <a:off x="6766560" y="6016752"/>
            <a:ext cx="1920240" cy="502920"/>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Scalable Coverage</a:t>
            </a:r>
            <a:endParaRPr lang="en-US" sz="1100" dirty="0"/>
          </a:p>
        </p:txBody>
      </p:sp>
      <p:sp>
        <p:nvSpPr>
          <p:cNvPr id="80" name="Text 78"/>
          <p:cNvSpPr/>
          <p:nvPr/>
        </p:nvSpPr>
        <p:spPr>
          <a:xfrm>
            <a:off x="8732520" y="6016752"/>
            <a:ext cx="3017520" cy="502920"/>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Add a language by editing JSON — no new hires.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0B1E3F"/>
          </a:solidFill>
          <a:ln/>
        </p:spPr>
      </p:sp>
      <p:sp>
        <p:nvSpPr>
          <p:cNvPr id="3" name="Shape 1"/>
          <p:cNvSpPr/>
          <p:nvPr/>
        </p:nvSpPr>
        <p:spPr>
          <a:xfrm>
            <a:off x="0" y="502920"/>
            <a:ext cx="12191695" cy="36576"/>
          </a:xfrm>
          <a:prstGeom prst="rect">
            <a:avLst/>
          </a:prstGeom>
          <a:solidFill>
            <a:srgbClr val="1FB8C9"/>
          </a:solidFill>
          <a:ln/>
        </p:spPr>
      </p:sp>
      <p:sp>
        <p:nvSpPr>
          <p:cNvPr id="4" name="Text 2"/>
          <p:cNvSpPr/>
          <p:nvPr/>
        </p:nvSpPr>
        <p:spPr>
          <a:xfrm>
            <a:off x="365760" y="0"/>
            <a:ext cx="11430000" cy="502920"/>
          </a:xfrm>
          <a:prstGeom prst="rect">
            <a:avLst/>
          </a:prstGeom>
          <a:noFill/>
          <a:ln/>
        </p:spPr>
        <p:txBody>
          <a:bodyPr wrap="square" rtlCol="0" anchor="ctr"/>
          <a:lstStyle/>
          <a:p>
            <a:pPr indent="0" marL="0">
              <a:buNone/>
            </a:pPr>
            <a:r>
              <a:rPr lang="en-US" sz="1000" b="1" spc="300" kern="0" dirty="0">
                <a:solidFill>
                  <a:srgbClr val="FFFFFF"/>
                </a:solidFill>
                <a:latin typeface="Calibri" pitchFamily="34" charset="0"/>
                <a:ea typeface="Calibri" pitchFamily="34" charset="-122"/>
                <a:cs typeface="Calibri" pitchFamily="34" charset="-120"/>
              </a:rPr>
              <a:t>MULTILINGUAL TICKET TRANSLATOR  •  TEAM 9  •  SD-04</a:t>
            </a:r>
            <a:endParaRPr lang="en-US" sz="1000" dirty="0"/>
          </a:p>
        </p:txBody>
      </p:sp>
      <p:sp>
        <p:nvSpPr>
          <p:cNvPr id="5" name="Text 3"/>
          <p:cNvSpPr/>
          <p:nvPr/>
        </p:nvSpPr>
        <p:spPr>
          <a:xfrm>
            <a:off x="457200" y="685800"/>
            <a:ext cx="11247120" cy="320040"/>
          </a:xfrm>
          <a:prstGeom prst="rect">
            <a:avLst/>
          </a:prstGeom>
          <a:noFill/>
          <a:ln/>
        </p:spPr>
        <p:txBody>
          <a:bodyPr wrap="square" rtlCol="0" anchor="ctr"/>
          <a:lstStyle/>
          <a:p>
            <a:pPr indent="0" marL="0">
              <a:buNone/>
            </a:pPr>
            <a:r>
              <a:rPr lang="en-US" sz="1100" b="1" spc="400" kern="0" dirty="0">
                <a:solidFill>
                  <a:srgbClr val="1FB8C9"/>
                </a:solidFill>
                <a:latin typeface="Calibri" pitchFamily="34" charset="0"/>
                <a:ea typeface="Calibri" pitchFamily="34" charset="-122"/>
                <a:cs typeface="Calibri" pitchFamily="34" charset="-120"/>
              </a:rPr>
              <a:t>13 — ROADMAP</a:t>
            </a:r>
            <a:endParaRPr lang="en-US" sz="1100" dirty="0"/>
          </a:p>
        </p:txBody>
      </p:sp>
      <p:sp>
        <p:nvSpPr>
          <p:cNvPr id="6" name="Text 4"/>
          <p:cNvSpPr/>
          <p:nvPr/>
        </p:nvSpPr>
        <p:spPr>
          <a:xfrm>
            <a:off x="457200" y="960120"/>
            <a:ext cx="11247120" cy="640080"/>
          </a:xfrm>
          <a:prstGeom prst="rect">
            <a:avLst/>
          </a:prstGeom>
          <a:noFill/>
          <a:ln/>
        </p:spPr>
        <p:txBody>
          <a:bodyPr wrap="square" rtlCol="0" anchor="ctr"/>
          <a:lstStyle/>
          <a:p>
            <a:pPr indent="0" marL="0">
              <a:buNone/>
            </a:pPr>
            <a:r>
              <a:rPr lang="en-US" sz="3000" b="1" dirty="0">
                <a:solidFill>
                  <a:srgbClr val="0B1E3F"/>
                </a:solidFill>
                <a:latin typeface="Calibri" pitchFamily="34" charset="0"/>
                <a:ea typeface="Calibri" pitchFamily="34" charset="-122"/>
                <a:cs typeface="Calibri" pitchFamily="34" charset="-120"/>
              </a:rPr>
              <a:t>Limitations &amp; Future Scope</a:t>
            </a:r>
            <a:endParaRPr lang="en-US" sz="3000" dirty="0"/>
          </a:p>
        </p:txBody>
      </p:sp>
      <p:sp>
        <p:nvSpPr>
          <p:cNvPr id="7" name="Shape 5"/>
          <p:cNvSpPr/>
          <p:nvPr/>
        </p:nvSpPr>
        <p:spPr>
          <a:xfrm>
            <a:off x="457200" y="1627632"/>
            <a:ext cx="548640" cy="54864"/>
          </a:xfrm>
          <a:prstGeom prst="rect">
            <a:avLst/>
          </a:prstGeom>
          <a:solidFill>
            <a:srgbClr val="1FB8C9"/>
          </a:solidFill>
          <a:ln w="12700">
            <a:solidFill>
              <a:srgbClr val="1FB8C9"/>
            </a:solidFill>
            <a:prstDash val="solid"/>
          </a:ln>
        </p:spPr>
      </p:sp>
      <p:sp>
        <p:nvSpPr>
          <p:cNvPr id="8" name="Shape 6"/>
          <p:cNvSpPr/>
          <p:nvPr/>
        </p:nvSpPr>
        <p:spPr>
          <a:xfrm>
            <a:off x="0" y="6675120"/>
            <a:ext cx="12191695" cy="182880"/>
          </a:xfrm>
          <a:prstGeom prst="rect">
            <a:avLst/>
          </a:prstGeom>
          <a:solidFill>
            <a:srgbClr val="F4F7FB"/>
          </a:solidFill>
          <a:ln w="12700">
            <a:solidFill>
              <a:srgbClr val="F4F7FB"/>
            </a:solidFill>
            <a:prstDash val="solid"/>
          </a:ln>
        </p:spPr>
      </p:sp>
      <p:sp>
        <p:nvSpPr>
          <p:cNvPr id="9" name="Text 7"/>
          <p:cNvSpPr/>
          <p:nvPr/>
        </p:nvSpPr>
        <p:spPr>
          <a:xfrm>
            <a:off x="365760" y="6656832"/>
            <a:ext cx="7315200" cy="201168"/>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Infinite Computer Solutions • Placement Case Study</a:t>
            </a:r>
            <a:endParaRPr lang="en-US" sz="900" dirty="0"/>
          </a:p>
        </p:txBody>
      </p:sp>
      <p:sp>
        <p:nvSpPr>
          <p:cNvPr id="10" name="Text 8"/>
          <p:cNvSpPr/>
          <p:nvPr/>
        </p:nvSpPr>
        <p:spPr>
          <a:xfrm>
            <a:off x="11247120" y="6656832"/>
            <a:ext cx="640080" cy="201168"/>
          </a:xfrm>
          <a:prstGeom prst="rect">
            <a:avLst/>
          </a:prstGeom>
          <a:noFill/>
          <a:ln/>
        </p:spPr>
        <p:txBody>
          <a:bodyPr wrap="square" rtlCol="0" anchor="ctr"/>
          <a:lstStyle/>
          <a:p>
            <a:pPr algn="r" indent="0" marL="0">
              <a:buNone/>
            </a:pPr>
            <a:r>
              <a:rPr lang="en-US" sz="900" b="1" dirty="0">
                <a:solidFill>
                  <a:srgbClr val="5A6B7C"/>
                </a:solidFill>
                <a:latin typeface="Calibri" pitchFamily="34" charset="0"/>
                <a:ea typeface="Calibri" pitchFamily="34" charset="-122"/>
                <a:cs typeface="Calibri" pitchFamily="34" charset="-120"/>
              </a:rPr>
              <a:t>14 / 15</a:t>
            </a:r>
            <a:endParaRPr lang="en-US" sz="900" dirty="0"/>
          </a:p>
        </p:txBody>
      </p:sp>
      <p:sp>
        <p:nvSpPr>
          <p:cNvPr id="11" name="Shape 9"/>
          <p:cNvSpPr/>
          <p:nvPr/>
        </p:nvSpPr>
        <p:spPr>
          <a:xfrm>
            <a:off x="457200" y="1920240"/>
            <a:ext cx="5486400" cy="4663440"/>
          </a:xfrm>
          <a:prstGeom prst="rect">
            <a:avLst/>
          </a:prstGeom>
          <a:solidFill>
            <a:srgbClr val="F4F7FB"/>
          </a:solidFill>
          <a:ln w="12700">
            <a:solidFill>
              <a:srgbClr val="D9E1EC"/>
            </a:solidFill>
            <a:prstDash val="solid"/>
          </a:ln>
        </p:spPr>
      </p:sp>
      <p:sp>
        <p:nvSpPr>
          <p:cNvPr id="12" name="Shape 10"/>
          <p:cNvSpPr/>
          <p:nvPr/>
        </p:nvSpPr>
        <p:spPr>
          <a:xfrm>
            <a:off x="457200" y="1920240"/>
            <a:ext cx="5486400" cy="457200"/>
          </a:xfrm>
          <a:prstGeom prst="rect">
            <a:avLst/>
          </a:prstGeom>
          <a:solidFill>
            <a:srgbClr val="0B1E3F"/>
          </a:solidFill>
          <a:ln w="12700">
            <a:solidFill>
              <a:srgbClr val="0B1E3F"/>
            </a:solidFill>
            <a:prstDash val="solid"/>
          </a:ln>
        </p:spPr>
      </p:sp>
      <p:sp>
        <p:nvSpPr>
          <p:cNvPr id="13" name="Text 11"/>
          <p:cNvSpPr/>
          <p:nvPr/>
        </p:nvSpPr>
        <p:spPr>
          <a:xfrm>
            <a:off x="640080" y="1920240"/>
            <a:ext cx="5486400" cy="457200"/>
          </a:xfrm>
          <a:prstGeom prst="rect">
            <a:avLst/>
          </a:prstGeom>
          <a:noFill/>
          <a:ln/>
        </p:spPr>
        <p:txBody>
          <a:bodyPr wrap="square" rtlCol="0" anchor="ctr"/>
          <a:lstStyle/>
          <a:p>
            <a:pPr indent="0" marL="0">
              <a:buNone/>
            </a:pPr>
            <a:r>
              <a:rPr lang="en-US" sz="1200" b="1" spc="400" kern="0" dirty="0">
                <a:solidFill>
                  <a:srgbClr val="FFFFFF"/>
                </a:solidFill>
                <a:latin typeface="Calibri" pitchFamily="34" charset="0"/>
                <a:ea typeface="Calibri" pitchFamily="34" charset="-122"/>
                <a:cs typeface="Calibri" pitchFamily="34" charset="-120"/>
              </a:rPr>
              <a:t>CURRENT LIMITATIONS</a:t>
            </a:r>
            <a:endParaRPr lang="en-US" sz="1200" dirty="0"/>
          </a:p>
        </p:txBody>
      </p:sp>
      <p:sp>
        <p:nvSpPr>
          <p:cNvPr id="14" name="Shape 12"/>
          <p:cNvSpPr/>
          <p:nvPr/>
        </p:nvSpPr>
        <p:spPr>
          <a:xfrm>
            <a:off x="640080" y="2606040"/>
            <a:ext cx="5120640" cy="822960"/>
          </a:xfrm>
          <a:prstGeom prst="rect">
            <a:avLst/>
          </a:prstGeom>
          <a:solidFill>
            <a:srgbClr val="FFFFFF"/>
          </a:solidFill>
          <a:ln w="12700">
            <a:solidFill>
              <a:srgbClr val="D9E1EC"/>
            </a:solidFill>
            <a:prstDash val="solid"/>
          </a:ln>
        </p:spPr>
      </p:sp>
      <p:sp>
        <p:nvSpPr>
          <p:cNvPr id="15" name="Shape 13"/>
          <p:cNvSpPr/>
          <p:nvPr/>
        </p:nvSpPr>
        <p:spPr>
          <a:xfrm>
            <a:off x="640080" y="2606040"/>
            <a:ext cx="54864" cy="822960"/>
          </a:xfrm>
          <a:prstGeom prst="rect">
            <a:avLst/>
          </a:prstGeom>
          <a:solidFill>
            <a:srgbClr val="D9534F"/>
          </a:solidFill>
          <a:ln w="12700">
            <a:solidFill>
              <a:srgbClr val="D9534F"/>
            </a:solidFill>
            <a:prstDash val="solid"/>
          </a:ln>
        </p:spPr>
      </p:sp>
      <p:sp>
        <p:nvSpPr>
          <p:cNvPr id="16" name="Text 14"/>
          <p:cNvSpPr/>
          <p:nvPr/>
        </p:nvSpPr>
        <p:spPr>
          <a:xfrm>
            <a:off x="777240" y="2606040"/>
            <a:ext cx="457200" cy="822960"/>
          </a:xfrm>
          <a:prstGeom prst="rect">
            <a:avLst/>
          </a:prstGeom>
          <a:noFill/>
          <a:ln/>
        </p:spPr>
        <p:txBody>
          <a:bodyPr wrap="square" rtlCol="0" anchor="ctr"/>
          <a:lstStyle/>
          <a:p>
            <a:pPr algn="ctr" indent="0" marL="0">
              <a:buNone/>
            </a:pPr>
            <a:r>
              <a:rPr lang="en-US" sz="2200" b="1" dirty="0">
                <a:solidFill>
                  <a:srgbClr val="D9534F"/>
                </a:solidFill>
                <a:latin typeface="Calibri" pitchFamily="34" charset="0"/>
                <a:ea typeface="Calibri" pitchFamily="34" charset="-122"/>
                <a:cs typeface="Calibri" pitchFamily="34" charset="-120"/>
              </a:rPr>
              <a:t>!</a:t>
            </a:r>
            <a:endParaRPr lang="en-US" sz="2200" dirty="0"/>
          </a:p>
        </p:txBody>
      </p:sp>
      <p:sp>
        <p:nvSpPr>
          <p:cNvPr id="17" name="Text 15"/>
          <p:cNvSpPr/>
          <p:nvPr/>
        </p:nvSpPr>
        <p:spPr>
          <a:xfrm>
            <a:off x="1234440" y="2697480"/>
            <a:ext cx="4389120" cy="320040"/>
          </a:xfrm>
          <a:prstGeom prst="rect">
            <a:avLst/>
          </a:prstGeom>
          <a:noFill/>
          <a:ln/>
        </p:spPr>
        <p:txBody>
          <a:bodyPr wrap="square" rtlCol="0" anchor="ctr"/>
          <a:lstStyle/>
          <a:p>
            <a:pPr indent="0" marL="0">
              <a:buNone/>
            </a:pPr>
            <a:r>
              <a:rPr lang="en-US" sz="1200" b="1" dirty="0">
                <a:solidFill>
                  <a:srgbClr val="0B1E3F"/>
                </a:solidFill>
                <a:latin typeface="Calibri" pitchFamily="34" charset="0"/>
                <a:ea typeface="Calibri" pitchFamily="34" charset="-122"/>
                <a:cs typeface="Calibri" pitchFamily="34" charset="-120"/>
              </a:rPr>
              <a:t>Internet Dependency</a:t>
            </a:r>
            <a:endParaRPr lang="en-US" sz="1200" dirty="0"/>
          </a:p>
        </p:txBody>
      </p:sp>
      <p:sp>
        <p:nvSpPr>
          <p:cNvPr id="18" name="Text 16"/>
          <p:cNvSpPr/>
          <p:nvPr/>
        </p:nvSpPr>
        <p:spPr>
          <a:xfrm>
            <a:off x="1234440" y="2990088"/>
            <a:ext cx="4389120" cy="411480"/>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OpenRouter + deep-translator require live network connectivity.</a:t>
            </a:r>
            <a:endParaRPr lang="en-US" sz="1000" dirty="0"/>
          </a:p>
        </p:txBody>
      </p:sp>
      <p:sp>
        <p:nvSpPr>
          <p:cNvPr id="19" name="Shape 17"/>
          <p:cNvSpPr/>
          <p:nvPr/>
        </p:nvSpPr>
        <p:spPr>
          <a:xfrm>
            <a:off x="640080" y="3566160"/>
            <a:ext cx="5120640" cy="822960"/>
          </a:xfrm>
          <a:prstGeom prst="rect">
            <a:avLst/>
          </a:prstGeom>
          <a:solidFill>
            <a:srgbClr val="FFFFFF"/>
          </a:solidFill>
          <a:ln w="12700">
            <a:solidFill>
              <a:srgbClr val="D9E1EC"/>
            </a:solidFill>
            <a:prstDash val="solid"/>
          </a:ln>
        </p:spPr>
      </p:sp>
      <p:sp>
        <p:nvSpPr>
          <p:cNvPr id="20" name="Shape 18"/>
          <p:cNvSpPr/>
          <p:nvPr/>
        </p:nvSpPr>
        <p:spPr>
          <a:xfrm>
            <a:off x="640080" y="3566160"/>
            <a:ext cx="54864" cy="822960"/>
          </a:xfrm>
          <a:prstGeom prst="rect">
            <a:avLst/>
          </a:prstGeom>
          <a:solidFill>
            <a:srgbClr val="D9534F"/>
          </a:solidFill>
          <a:ln w="12700">
            <a:solidFill>
              <a:srgbClr val="D9534F"/>
            </a:solidFill>
            <a:prstDash val="solid"/>
          </a:ln>
        </p:spPr>
      </p:sp>
      <p:sp>
        <p:nvSpPr>
          <p:cNvPr id="21" name="Text 19"/>
          <p:cNvSpPr/>
          <p:nvPr/>
        </p:nvSpPr>
        <p:spPr>
          <a:xfrm>
            <a:off x="777240" y="3566160"/>
            <a:ext cx="457200" cy="822960"/>
          </a:xfrm>
          <a:prstGeom prst="rect">
            <a:avLst/>
          </a:prstGeom>
          <a:noFill/>
          <a:ln/>
        </p:spPr>
        <p:txBody>
          <a:bodyPr wrap="square" rtlCol="0" anchor="ctr"/>
          <a:lstStyle/>
          <a:p>
            <a:pPr algn="ctr" indent="0" marL="0">
              <a:buNone/>
            </a:pPr>
            <a:r>
              <a:rPr lang="en-US" sz="2200" b="1" dirty="0">
                <a:solidFill>
                  <a:srgbClr val="D9534F"/>
                </a:solidFill>
                <a:latin typeface="Calibri" pitchFamily="34" charset="0"/>
                <a:ea typeface="Calibri" pitchFamily="34" charset="-122"/>
                <a:cs typeface="Calibri" pitchFamily="34" charset="-120"/>
              </a:rPr>
              <a:t>!</a:t>
            </a:r>
            <a:endParaRPr lang="en-US" sz="2200" dirty="0"/>
          </a:p>
        </p:txBody>
      </p:sp>
      <p:sp>
        <p:nvSpPr>
          <p:cNvPr id="22" name="Text 20"/>
          <p:cNvSpPr/>
          <p:nvPr/>
        </p:nvSpPr>
        <p:spPr>
          <a:xfrm>
            <a:off x="1234440" y="3657600"/>
            <a:ext cx="4389120" cy="320040"/>
          </a:xfrm>
          <a:prstGeom prst="rect">
            <a:avLst/>
          </a:prstGeom>
          <a:noFill/>
          <a:ln/>
        </p:spPr>
        <p:txBody>
          <a:bodyPr wrap="square" rtlCol="0" anchor="ctr"/>
          <a:lstStyle/>
          <a:p>
            <a:pPr indent="0" marL="0">
              <a:buNone/>
            </a:pPr>
            <a:r>
              <a:rPr lang="en-US" sz="1200" b="1" dirty="0">
                <a:solidFill>
                  <a:srgbClr val="0B1E3F"/>
                </a:solidFill>
                <a:latin typeface="Calibri" pitchFamily="34" charset="0"/>
                <a:ea typeface="Calibri" pitchFamily="34" charset="-122"/>
                <a:cs typeface="Calibri" pitchFamily="34" charset="-120"/>
              </a:rPr>
              <a:t>Limited Language Set</a:t>
            </a:r>
            <a:endParaRPr lang="en-US" sz="1200" dirty="0"/>
          </a:p>
        </p:txBody>
      </p:sp>
      <p:sp>
        <p:nvSpPr>
          <p:cNvPr id="23" name="Text 21"/>
          <p:cNvSpPr/>
          <p:nvPr/>
        </p:nvSpPr>
        <p:spPr>
          <a:xfrm>
            <a:off x="1234440" y="3950208"/>
            <a:ext cx="4389120" cy="411480"/>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Currently five languages; broader coverage in roadmap.</a:t>
            </a:r>
            <a:endParaRPr lang="en-US" sz="1000" dirty="0"/>
          </a:p>
        </p:txBody>
      </p:sp>
      <p:sp>
        <p:nvSpPr>
          <p:cNvPr id="24" name="Shape 22"/>
          <p:cNvSpPr/>
          <p:nvPr/>
        </p:nvSpPr>
        <p:spPr>
          <a:xfrm>
            <a:off x="640080" y="4526280"/>
            <a:ext cx="5120640" cy="822960"/>
          </a:xfrm>
          <a:prstGeom prst="rect">
            <a:avLst/>
          </a:prstGeom>
          <a:solidFill>
            <a:srgbClr val="FFFFFF"/>
          </a:solidFill>
          <a:ln w="12700">
            <a:solidFill>
              <a:srgbClr val="D9E1EC"/>
            </a:solidFill>
            <a:prstDash val="solid"/>
          </a:ln>
        </p:spPr>
      </p:sp>
      <p:sp>
        <p:nvSpPr>
          <p:cNvPr id="25" name="Shape 23"/>
          <p:cNvSpPr/>
          <p:nvPr/>
        </p:nvSpPr>
        <p:spPr>
          <a:xfrm>
            <a:off x="640080" y="4526280"/>
            <a:ext cx="54864" cy="822960"/>
          </a:xfrm>
          <a:prstGeom prst="rect">
            <a:avLst/>
          </a:prstGeom>
          <a:solidFill>
            <a:srgbClr val="D9534F"/>
          </a:solidFill>
          <a:ln w="12700">
            <a:solidFill>
              <a:srgbClr val="D9534F"/>
            </a:solidFill>
            <a:prstDash val="solid"/>
          </a:ln>
        </p:spPr>
      </p:sp>
      <p:sp>
        <p:nvSpPr>
          <p:cNvPr id="26" name="Text 24"/>
          <p:cNvSpPr/>
          <p:nvPr/>
        </p:nvSpPr>
        <p:spPr>
          <a:xfrm>
            <a:off x="777240" y="4526280"/>
            <a:ext cx="457200" cy="822960"/>
          </a:xfrm>
          <a:prstGeom prst="rect">
            <a:avLst/>
          </a:prstGeom>
          <a:noFill/>
          <a:ln/>
        </p:spPr>
        <p:txBody>
          <a:bodyPr wrap="square" rtlCol="0" anchor="ctr"/>
          <a:lstStyle/>
          <a:p>
            <a:pPr algn="ctr" indent="0" marL="0">
              <a:buNone/>
            </a:pPr>
            <a:r>
              <a:rPr lang="en-US" sz="2200" b="1" dirty="0">
                <a:solidFill>
                  <a:srgbClr val="D9534F"/>
                </a:solidFill>
                <a:latin typeface="Calibri" pitchFamily="34" charset="0"/>
                <a:ea typeface="Calibri" pitchFamily="34" charset="-122"/>
                <a:cs typeface="Calibri" pitchFamily="34" charset="-120"/>
              </a:rPr>
              <a:t>!</a:t>
            </a:r>
            <a:endParaRPr lang="en-US" sz="2200" dirty="0"/>
          </a:p>
        </p:txBody>
      </p:sp>
      <p:sp>
        <p:nvSpPr>
          <p:cNvPr id="27" name="Text 25"/>
          <p:cNvSpPr/>
          <p:nvPr/>
        </p:nvSpPr>
        <p:spPr>
          <a:xfrm>
            <a:off x="1234440" y="4617720"/>
            <a:ext cx="4389120" cy="320040"/>
          </a:xfrm>
          <a:prstGeom prst="rect">
            <a:avLst/>
          </a:prstGeom>
          <a:noFill/>
          <a:ln/>
        </p:spPr>
        <p:txBody>
          <a:bodyPr wrap="square" rtlCol="0" anchor="ctr"/>
          <a:lstStyle/>
          <a:p>
            <a:pPr indent="0" marL="0">
              <a:buNone/>
            </a:pPr>
            <a:r>
              <a:rPr lang="en-US" sz="1200" b="1" dirty="0">
                <a:solidFill>
                  <a:srgbClr val="0B1E3F"/>
                </a:solidFill>
                <a:latin typeface="Calibri" pitchFamily="34" charset="0"/>
                <a:ea typeface="Calibri" pitchFamily="34" charset="-122"/>
                <a:cs typeface="Calibri" pitchFamily="34" charset="-120"/>
              </a:rPr>
              <a:t>CSV Storage Only</a:t>
            </a:r>
            <a:endParaRPr lang="en-US" sz="1200" dirty="0"/>
          </a:p>
        </p:txBody>
      </p:sp>
      <p:sp>
        <p:nvSpPr>
          <p:cNvPr id="28" name="Text 26"/>
          <p:cNvSpPr/>
          <p:nvPr/>
        </p:nvSpPr>
        <p:spPr>
          <a:xfrm>
            <a:off x="1234440" y="4910328"/>
            <a:ext cx="4389120" cy="411480"/>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No relational DB or transactional guarantees yet.</a:t>
            </a:r>
            <a:endParaRPr lang="en-US" sz="1000" dirty="0"/>
          </a:p>
        </p:txBody>
      </p:sp>
      <p:sp>
        <p:nvSpPr>
          <p:cNvPr id="29" name="Shape 27"/>
          <p:cNvSpPr/>
          <p:nvPr/>
        </p:nvSpPr>
        <p:spPr>
          <a:xfrm>
            <a:off x="640080" y="5486400"/>
            <a:ext cx="5120640" cy="822960"/>
          </a:xfrm>
          <a:prstGeom prst="rect">
            <a:avLst/>
          </a:prstGeom>
          <a:solidFill>
            <a:srgbClr val="FFFFFF"/>
          </a:solidFill>
          <a:ln w="12700">
            <a:solidFill>
              <a:srgbClr val="D9E1EC"/>
            </a:solidFill>
            <a:prstDash val="solid"/>
          </a:ln>
        </p:spPr>
      </p:sp>
      <p:sp>
        <p:nvSpPr>
          <p:cNvPr id="30" name="Shape 28"/>
          <p:cNvSpPr/>
          <p:nvPr/>
        </p:nvSpPr>
        <p:spPr>
          <a:xfrm>
            <a:off x="640080" y="5486400"/>
            <a:ext cx="54864" cy="822960"/>
          </a:xfrm>
          <a:prstGeom prst="rect">
            <a:avLst/>
          </a:prstGeom>
          <a:solidFill>
            <a:srgbClr val="D9534F"/>
          </a:solidFill>
          <a:ln w="12700">
            <a:solidFill>
              <a:srgbClr val="D9534F"/>
            </a:solidFill>
            <a:prstDash val="solid"/>
          </a:ln>
        </p:spPr>
      </p:sp>
      <p:sp>
        <p:nvSpPr>
          <p:cNvPr id="31" name="Text 29"/>
          <p:cNvSpPr/>
          <p:nvPr/>
        </p:nvSpPr>
        <p:spPr>
          <a:xfrm>
            <a:off x="777240" y="5486400"/>
            <a:ext cx="457200" cy="822960"/>
          </a:xfrm>
          <a:prstGeom prst="rect">
            <a:avLst/>
          </a:prstGeom>
          <a:noFill/>
          <a:ln/>
        </p:spPr>
        <p:txBody>
          <a:bodyPr wrap="square" rtlCol="0" anchor="ctr"/>
          <a:lstStyle/>
          <a:p>
            <a:pPr algn="ctr" indent="0" marL="0">
              <a:buNone/>
            </a:pPr>
            <a:r>
              <a:rPr lang="en-US" sz="2200" b="1" dirty="0">
                <a:solidFill>
                  <a:srgbClr val="D9534F"/>
                </a:solidFill>
                <a:latin typeface="Calibri" pitchFamily="34" charset="0"/>
                <a:ea typeface="Calibri" pitchFamily="34" charset="-122"/>
                <a:cs typeface="Calibri" pitchFamily="34" charset="-120"/>
              </a:rPr>
              <a:t>!</a:t>
            </a:r>
            <a:endParaRPr lang="en-US" sz="2200" dirty="0"/>
          </a:p>
        </p:txBody>
      </p:sp>
      <p:sp>
        <p:nvSpPr>
          <p:cNvPr id="32" name="Text 30"/>
          <p:cNvSpPr/>
          <p:nvPr/>
        </p:nvSpPr>
        <p:spPr>
          <a:xfrm>
            <a:off x="1234440" y="5577840"/>
            <a:ext cx="4389120" cy="320040"/>
          </a:xfrm>
          <a:prstGeom prst="rect">
            <a:avLst/>
          </a:prstGeom>
          <a:noFill/>
          <a:ln/>
        </p:spPr>
        <p:txBody>
          <a:bodyPr wrap="square" rtlCol="0" anchor="ctr"/>
          <a:lstStyle/>
          <a:p>
            <a:pPr indent="0" marL="0">
              <a:buNone/>
            </a:pPr>
            <a:r>
              <a:rPr lang="en-US" sz="1200" b="1" dirty="0">
                <a:solidFill>
                  <a:srgbClr val="0B1E3F"/>
                </a:solidFill>
                <a:latin typeface="Calibri" pitchFamily="34" charset="0"/>
                <a:ea typeface="Calibri" pitchFamily="34" charset="-122"/>
                <a:cs typeface="Calibri" pitchFamily="34" charset="-120"/>
              </a:rPr>
              <a:t>Prototype Implementation</a:t>
            </a:r>
            <a:endParaRPr lang="en-US" sz="1200" dirty="0"/>
          </a:p>
        </p:txBody>
      </p:sp>
      <p:sp>
        <p:nvSpPr>
          <p:cNvPr id="33" name="Text 31"/>
          <p:cNvSpPr/>
          <p:nvPr/>
        </p:nvSpPr>
        <p:spPr>
          <a:xfrm>
            <a:off x="1234440" y="5870448"/>
            <a:ext cx="4389120" cy="411480"/>
          </a:xfrm>
          <a:prstGeom prst="rect">
            <a:avLst/>
          </a:prstGeom>
          <a:noFill/>
          <a:ln/>
        </p:spPr>
        <p:txBody>
          <a:bodyPr wrap="square" rtlCol="0" anchor="ctr"/>
          <a:lstStyle/>
          <a:p>
            <a:pPr indent="0" marL="0">
              <a:buNone/>
            </a:pPr>
            <a:r>
              <a:rPr lang="en-US" sz="1000" dirty="0">
                <a:solidFill>
                  <a:srgbClr val="5A6B7C"/>
                </a:solidFill>
                <a:latin typeface="Calibri" pitchFamily="34" charset="0"/>
                <a:ea typeface="Calibri" pitchFamily="34" charset="-122"/>
                <a:cs typeface="Calibri" pitchFamily="34" charset="-120"/>
              </a:rPr>
              <a:t>No auth, RBAC, or multi-tenancy in this build.</a:t>
            </a:r>
            <a:endParaRPr lang="en-US" sz="1000" dirty="0"/>
          </a:p>
        </p:txBody>
      </p:sp>
      <p:sp>
        <p:nvSpPr>
          <p:cNvPr id="34" name="Shape 32"/>
          <p:cNvSpPr/>
          <p:nvPr/>
        </p:nvSpPr>
        <p:spPr>
          <a:xfrm>
            <a:off x="6245352" y="1920240"/>
            <a:ext cx="5486400" cy="4663440"/>
          </a:xfrm>
          <a:prstGeom prst="rect">
            <a:avLst/>
          </a:prstGeom>
          <a:solidFill>
            <a:srgbClr val="F4F7FB"/>
          </a:solidFill>
          <a:ln w="12700">
            <a:solidFill>
              <a:srgbClr val="D9E1EC"/>
            </a:solidFill>
            <a:prstDash val="solid"/>
          </a:ln>
        </p:spPr>
      </p:sp>
      <p:sp>
        <p:nvSpPr>
          <p:cNvPr id="35" name="Shape 33"/>
          <p:cNvSpPr/>
          <p:nvPr/>
        </p:nvSpPr>
        <p:spPr>
          <a:xfrm>
            <a:off x="6245352" y="1920240"/>
            <a:ext cx="5486400" cy="457200"/>
          </a:xfrm>
          <a:prstGeom prst="rect">
            <a:avLst/>
          </a:prstGeom>
          <a:solidFill>
            <a:srgbClr val="1FB8C9"/>
          </a:solidFill>
          <a:ln w="12700">
            <a:solidFill>
              <a:srgbClr val="1FB8C9"/>
            </a:solidFill>
            <a:prstDash val="solid"/>
          </a:ln>
        </p:spPr>
      </p:sp>
      <p:sp>
        <p:nvSpPr>
          <p:cNvPr id="36" name="Text 34"/>
          <p:cNvSpPr/>
          <p:nvPr/>
        </p:nvSpPr>
        <p:spPr>
          <a:xfrm>
            <a:off x="6428232" y="1920240"/>
            <a:ext cx="5486400" cy="457200"/>
          </a:xfrm>
          <a:prstGeom prst="rect">
            <a:avLst/>
          </a:prstGeom>
          <a:noFill/>
          <a:ln/>
        </p:spPr>
        <p:txBody>
          <a:bodyPr wrap="square" rtlCol="0" anchor="ctr"/>
          <a:lstStyle/>
          <a:p>
            <a:pPr indent="0" marL="0">
              <a:buNone/>
            </a:pPr>
            <a:r>
              <a:rPr lang="en-US" sz="1200" b="1" spc="400" kern="0" dirty="0">
                <a:solidFill>
                  <a:srgbClr val="FFFFFF"/>
                </a:solidFill>
                <a:latin typeface="Calibri" pitchFamily="34" charset="0"/>
                <a:ea typeface="Calibri" pitchFamily="34" charset="-122"/>
                <a:cs typeface="Calibri" pitchFamily="34" charset="-120"/>
              </a:rPr>
              <a:t>FUTURE SCOPE</a:t>
            </a:r>
            <a:endParaRPr lang="en-US" sz="1200" dirty="0"/>
          </a:p>
        </p:txBody>
      </p:sp>
      <p:sp>
        <p:nvSpPr>
          <p:cNvPr id="37" name="Shape 35"/>
          <p:cNvSpPr/>
          <p:nvPr/>
        </p:nvSpPr>
        <p:spPr>
          <a:xfrm>
            <a:off x="6428232" y="2514600"/>
            <a:ext cx="5120640" cy="548640"/>
          </a:xfrm>
          <a:prstGeom prst="rect">
            <a:avLst/>
          </a:prstGeom>
          <a:solidFill>
            <a:srgbClr val="FFFFFF"/>
          </a:solidFill>
          <a:ln w="12700">
            <a:solidFill>
              <a:srgbClr val="D9E1EC"/>
            </a:solidFill>
            <a:prstDash val="solid"/>
          </a:ln>
        </p:spPr>
      </p:sp>
      <p:sp>
        <p:nvSpPr>
          <p:cNvPr id="38" name="Shape 36"/>
          <p:cNvSpPr/>
          <p:nvPr/>
        </p:nvSpPr>
        <p:spPr>
          <a:xfrm>
            <a:off x="6428232" y="2514600"/>
            <a:ext cx="54864" cy="548640"/>
          </a:xfrm>
          <a:prstGeom prst="rect">
            <a:avLst/>
          </a:prstGeom>
          <a:solidFill>
            <a:srgbClr val="1FB8C9"/>
          </a:solidFill>
          <a:ln w="12700">
            <a:solidFill>
              <a:srgbClr val="1FB8C9"/>
            </a:solidFill>
            <a:prstDash val="solid"/>
          </a:ln>
        </p:spPr>
      </p:sp>
      <p:sp>
        <p:nvSpPr>
          <p:cNvPr id="39" name="Text 37"/>
          <p:cNvSpPr/>
          <p:nvPr/>
        </p:nvSpPr>
        <p:spPr>
          <a:xfrm>
            <a:off x="6565392" y="2514600"/>
            <a:ext cx="365760" cy="548640"/>
          </a:xfrm>
          <a:prstGeom prst="rect">
            <a:avLst/>
          </a:prstGeom>
          <a:noFill/>
          <a:ln/>
        </p:spPr>
        <p:txBody>
          <a:bodyPr wrap="square" rtlCol="0" anchor="ctr"/>
          <a:lstStyle/>
          <a:p>
            <a:pPr algn="ctr" indent="0" marL="0">
              <a:buNone/>
            </a:pPr>
            <a:r>
              <a:rPr lang="en-US" sz="2000" b="1" dirty="0">
                <a:solidFill>
                  <a:srgbClr val="1FB8C9"/>
                </a:solidFill>
                <a:latin typeface="Calibri" pitchFamily="34" charset="0"/>
                <a:ea typeface="Calibri" pitchFamily="34" charset="-122"/>
                <a:cs typeface="Calibri" pitchFamily="34" charset="-120"/>
              </a:rPr>
              <a:t>+</a:t>
            </a:r>
            <a:endParaRPr lang="en-US" sz="2000" dirty="0"/>
          </a:p>
        </p:txBody>
      </p:sp>
      <p:sp>
        <p:nvSpPr>
          <p:cNvPr id="40" name="Text 38"/>
          <p:cNvSpPr/>
          <p:nvPr/>
        </p:nvSpPr>
        <p:spPr>
          <a:xfrm>
            <a:off x="7022592" y="2514600"/>
            <a:ext cx="2286000" cy="548640"/>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OCR + PDF Ingestion</a:t>
            </a:r>
            <a:endParaRPr lang="en-US" sz="1100" dirty="0"/>
          </a:p>
        </p:txBody>
      </p:sp>
      <p:sp>
        <p:nvSpPr>
          <p:cNvPr id="41" name="Text 39"/>
          <p:cNvSpPr/>
          <p:nvPr/>
        </p:nvSpPr>
        <p:spPr>
          <a:xfrm>
            <a:off x="9308592" y="2514600"/>
            <a:ext cx="2240280" cy="548640"/>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Screenshots, scanned forms, and PDF tickets.</a:t>
            </a:r>
            <a:endParaRPr lang="en-US" sz="900" dirty="0"/>
          </a:p>
        </p:txBody>
      </p:sp>
      <p:sp>
        <p:nvSpPr>
          <p:cNvPr id="42" name="Shape 40"/>
          <p:cNvSpPr/>
          <p:nvPr/>
        </p:nvSpPr>
        <p:spPr>
          <a:xfrm>
            <a:off x="6428232" y="3118104"/>
            <a:ext cx="5120640" cy="548640"/>
          </a:xfrm>
          <a:prstGeom prst="rect">
            <a:avLst/>
          </a:prstGeom>
          <a:solidFill>
            <a:srgbClr val="FFFFFF"/>
          </a:solidFill>
          <a:ln w="12700">
            <a:solidFill>
              <a:srgbClr val="D9E1EC"/>
            </a:solidFill>
            <a:prstDash val="solid"/>
          </a:ln>
        </p:spPr>
      </p:sp>
      <p:sp>
        <p:nvSpPr>
          <p:cNvPr id="43" name="Shape 41"/>
          <p:cNvSpPr/>
          <p:nvPr/>
        </p:nvSpPr>
        <p:spPr>
          <a:xfrm>
            <a:off x="6428232" y="3118104"/>
            <a:ext cx="54864" cy="548640"/>
          </a:xfrm>
          <a:prstGeom prst="rect">
            <a:avLst/>
          </a:prstGeom>
          <a:solidFill>
            <a:srgbClr val="1FB8C9"/>
          </a:solidFill>
          <a:ln w="12700">
            <a:solidFill>
              <a:srgbClr val="1FB8C9"/>
            </a:solidFill>
            <a:prstDash val="solid"/>
          </a:ln>
        </p:spPr>
      </p:sp>
      <p:sp>
        <p:nvSpPr>
          <p:cNvPr id="44" name="Text 42"/>
          <p:cNvSpPr/>
          <p:nvPr/>
        </p:nvSpPr>
        <p:spPr>
          <a:xfrm>
            <a:off x="6565392" y="3118104"/>
            <a:ext cx="365760" cy="548640"/>
          </a:xfrm>
          <a:prstGeom prst="rect">
            <a:avLst/>
          </a:prstGeom>
          <a:noFill/>
          <a:ln/>
        </p:spPr>
        <p:txBody>
          <a:bodyPr wrap="square" rtlCol="0" anchor="ctr"/>
          <a:lstStyle/>
          <a:p>
            <a:pPr algn="ctr" indent="0" marL="0">
              <a:buNone/>
            </a:pPr>
            <a:r>
              <a:rPr lang="en-US" sz="2000" b="1" dirty="0">
                <a:solidFill>
                  <a:srgbClr val="1FB8C9"/>
                </a:solidFill>
                <a:latin typeface="Calibri" pitchFamily="34" charset="0"/>
                <a:ea typeface="Calibri" pitchFamily="34" charset="-122"/>
                <a:cs typeface="Calibri" pitchFamily="34" charset="-120"/>
              </a:rPr>
              <a:t>+</a:t>
            </a:r>
            <a:endParaRPr lang="en-US" sz="2000" dirty="0"/>
          </a:p>
        </p:txBody>
      </p:sp>
      <p:sp>
        <p:nvSpPr>
          <p:cNvPr id="45" name="Text 43"/>
          <p:cNvSpPr/>
          <p:nvPr/>
        </p:nvSpPr>
        <p:spPr>
          <a:xfrm>
            <a:off x="7022592" y="3118104"/>
            <a:ext cx="2286000" cy="548640"/>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ServiceNow / Zendesk</a:t>
            </a:r>
            <a:endParaRPr lang="en-US" sz="1100" dirty="0"/>
          </a:p>
        </p:txBody>
      </p:sp>
      <p:sp>
        <p:nvSpPr>
          <p:cNvPr id="46" name="Text 44"/>
          <p:cNvSpPr/>
          <p:nvPr/>
        </p:nvSpPr>
        <p:spPr>
          <a:xfrm>
            <a:off x="9308592" y="3118104"/>
            <a:ext cx="2240280" cy="548640"/>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Native plug-ins for major ITSM platforms.</a:t>
            </a:r>
            <a:endParaRPr lang="en-US" sz="900" dirty="0"/>
          </a:p>
        </p:txBody>
      </p:sp>
      <p:sp>
        <p:nvSpPr>
          <p:cNvPr id="47" name="Shape 45"/>
          <p:cNvSpPr/>
          <p:nvPr/>
        </p:nvSpPr>
        <p:spPr>
          <a:xfrm>
            <a:off x="6428232" y="3721608"/>
            <a:ext cx="5120640" cy="548640"/>
          </a:xfrm>
          <a:prstGeom prst="rect">
            <a:avLst/>
          </a:prstGeom>
          <a:solidFill>
            <a:srgbClr val="FFFFFF"/>
          </a:solidFill>
          <a:ln w="12700">
            <a:solidFill>
              <a:srgbClr val="D9E1EC"/>
            </a:solidFill>
            <a:prstDash val="solid"/>
          </a:ln>
        </p:spPr>
      </p:sp>
      <p:sp>
        <p:nvSpPr>
          <p:cNvPr id="48" name="Shape 46"/>
          <p:cNvSpPr/>
          <p:nvPr/>
        </p:nvSpPr>
        <p:spPr>
          <a:xfrm>
            <a:off x="6428232" y="3721608"/>
            <a:ext cx="54864" cy="548640"/>
          </a:xfrm>
          <a:prstGeom prst="rect">
            <a:avLst/>
          </a:prstGeom>
          <a:solidFill>
            <a:srgbClr val="1FB8C9"/>
          </a:solidFill>
          <a:ln w="12700">
            <a:solidFill>
              <a:srgbClr val="1FB8C9"/>
            </a:solidFill>
            <a:prstDash val="solid"/>
          </a:ln>
        </p:spPr>
      </p:sp>
      <p:sp>
        <p:nvSpPr>
          <p:cNvPr id="49" name="Text 47"/>
          <p:cNvSpPr/>
          <p:nvPr/>
        </p:nvSpPr>
        <p:spPr>
          <a:xfrm>
            <a:off x="6565392" y="3721608"/>
            <a:ext cx="365760" cy="548640"/>
          </a:xfrm>
          <a:prstGeom prst="rect">
            <a:avLst/>
          </a:prstGeom>
          <a:noFill/>
          <a:ln/>
        </p:spPr>
        <p:txBody>
          <a:bodyPr wrap="square" rtlCol="0" anchor="ctr"/>
          <a:lstStyle/>
          <a:p>
            <a:pPr algn="ctr" indent="0" marL="0">
              <a:buNone/>
            </a:pPr>
            <a:r>
              <a:rPr lang="en-US" sz="2000" b="1" dirty="0">
                <a:solidFill>
                  <a:srgbClr val="1FB8C9"/>
                </a:solidFill>
                <a:latin typeface="Calibri" pitchFamily="34" charset="0"/>
                <a:ea typeface="Calibri" pitchFamily="34" charset="-122"/>
                <a:cs typeface="Calibri" pitchFamily="34" charset="-120"/>
              </a:rPr>
              <a:t>+</a:t>
            </a:r>
            <a:endParaRPr lang="en-US" sz="2000" dirty="0"/>
          </a:p>
        </p:txBody>
      </p:sp>
      <p:sp>
        <p:nvSpPr>
          <p:cNvPr id="50" name="Text 48"/>
          <p:cNvSpPr/>
          <p:nvPr/>
        </p:nvSpPr>
        <p:spPr>
          <a:xfrm>
            <a:off x="7022592" y="3721608"/>
            <a:ext cx="2286000" cy="548640"/>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LLM Engineer Replies</a:t>
            </a:r>
            <a:endParaRPr lang="en-US" sz="1100" dirty="0"/>
          </a:p>
        </p:txBody>
      </p:sp>
      <p:sp>
        <p:nvSpPr>
          <p:cNvPr id="51" name="Text 49"/>
          <p:cNvSpPr/>
          <p:nvPr/>
        </p:nvSpPr>
        <p:spPr>
          <a:xfrm>
            <a:off x="9308592" y="3721608"/>
            <a:ext cx="2240280" cy="548640"/>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Suggested responses generated by the agent.</a:t>
            </a:r>
            <a:endParaRPr lang="en-US" sz="900" dirty="0"/>
          </a:p>
        </p:txBody>
      </p:sp>
      <p:sp>
        <p:nvSpPr>
          <p:cNvPr id="52" name="Shape 50"/>
          <p:cNvSpPr/>
          <p:nvPr/>
        </p:nvSpPr>
        <p:spPr>
          <a:xfrm>
            <a:off x="6428232" y="4325112"/>
            <a:ext cx="5120640" cy="548640"/>
          </a:xfrm>
          <a:prstGeom prst="rect">
            <a:avLst/>
          </a:prstGeom>
          <a:solidFill>
            <a:srgbClr val="FFFFFF"/>
          </a:solidFill>
          <a:ln w="12700">
            <a:solidFill>
              <a:srgbClr val="D9E1EC"/>
            </a:solidFill>
            <a:prstDash val="solid"/>
          </a:ln>
        </p:spPr>
      </p:sp>
      <p:sp>
        <p:nvSpPr>
          <p:cNvPr id="53" name="Shape 51"/>
          <p:cNvSpPr/>
          <p:nvPr/>
        </p:nvSpPr>
        <p:spPr>
          <a:xfrm>
            <a:off x="6428232" y="4325112"/>
            <a:ext cx="54864" cy="548640"/>
          </a:xfrm>
          <a:prstGeom prst="rect">
            <a:avLst/>
          </a:prstGeom>
          <a:solidFill>
            <a:srgbClr val="1FB8C9"/>
          </a:solidFill>
          <a:ln w="12700">
            <a:solidFill>
              <a:srgbClr val="1FB8C9"/>
            </a:solidFill>
            <a:prstDash val="solid"/>
          </a:ln>
        </p:spPr>
      </p:sp>
      <p:sp>
        <p:nvSpPr>
          <p:cNvPr id="54" name="Text 52"/>
          <p:cNvSpPr/>
          <p:nvPr/>
        </p:nvSpPr>
        <p:spPr>
          <a:xfrm>
            <a:off x="6565392" y="4325112"/>
            <a:ext cx="365760" cy="548640"/>
          </a:xfrm>
          <a:prstGeom prst="rect">
            <a:avLst/>
          </a:prstGeom>
          <a:noFill/>
          <a:ln/>
        </p:spPr>
        <p:txBody>
          <a:bodyPr wrap="square" rtlCol="0" anchor="ctr"/>
          <a:lstStyle/>
          <a:p>
            <a:pPr algn="ctr" indent="0" marL="0">
              <a:buNone/>
            </a:pPr>
            <a:r>
              <a:rPr lang="en-US" sz="2000" b="1" dirty="0">
                <a:solidFill>
                  <a:srgbClr val="1FB8C9"/>
                </a:solidFill>
                <a:latin typeface="Calibri" pitchFamily="34" charset="0"/>
                <a:ea typeface="Calibri" pitchFamily="34" charset="-122"/>
                <a:cs typeface="Calibri" pitchFamily="34" charset="-120"/>
              </a:rPr>
              <a:t>+</a:t>
            </a:r>
            <a:endParaRPr lang="en-US" sz="2000" dirty="0"/>
          </a:p>
        </p:txBody>
      </p:sp>
      <p:sp>
        <p:nvSpPr>
          <p:cNvPr id="55" name="Text 53"/>
          <p:cNvSpPr/>
          <p:nvPr/>
        </p:nvSpPr>
        <p:spPr>
          <a:xfrm>
            <a:off x="7022592" y="4325112"/>
            <a:ext cx="2286000" cy="548640"/>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Analytics Dashboard</a:t>
            </a:r>
            <a:endParaRPr lang="en-US" sz="1100" dirty="0"/>
          </a:p>
        </p:txBody>
      </p:sp>
      <p:sp>
        <p:nvSpPr>
          <p:cNvPr id="56" name="Text 54"/>
          <p:cNvSpPr/>
          <p:nvPr/>
        </p:nvSpPr>
        <p:spPr>
          <a:xfrm>
            <a:off x="9308592" y="4325112"/>
            <a:ext cx="2240280" cy="548640"/>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Realtime KPIs, language trends, SLA heatmaps.</a:t>
            </a:r>
            <a:endParaRPr lang="en-US" sz="900" dirty="0"/>
          </a:p>
        </p:txBody>
      </p:sp>
      <p:sp>
        <p:nvSpPr>
          <p:cNvPr id="57" name="Shape 55"/>
          <p:cNvSpPr/>
          <p:nvPr/>
        </p:nvSpPr>
        <p:spPr>
          <a:xfrm>
            <a:off x="6428232" y="4928616"/>
            <a:ext cx="5120640" cy="548640"/>
          </a:xfrm>
          <a:prstGeom prst="rect">
            <a:avLst/>
          </a:prstGeom>
          <a:solidFill>
            <a:srgbClr val="FFFFFF"/>
          </a:solidFill>
          <a:ln w="12700">
            <a:solidFill>
              <a:srgbClr val="D9E1EC"/>
            </a:solidFill>
            <a:prstDash val="solid"/>
          </a:ln>
        </p:spPr>
      </p:sp>
      <p:sp>
        <p:nvSpPr>
          <p:cNvPr id="58" name="Shape 56"/>
          <p:cNvSpPr/>
          <p:nvPr/>
        </p:nvSpPr>
        <p:spPr>
          <a:xfrm>
            <a:off x="6428232" y="4928616"/>
            <a:ext cx="54864" cy="548640"/>
          </a:xfrm>
          <a:prstGeom prst="rect">
            <a:avLst/>
          </a:prstGeom>
          <a:solidFill>
            <a:srgbClr val="1FB8C9"/>
          </a:solidFill>
          <a:ln w="12700">
            <a:solidFill>
              <a:srgbClr val="1FB8C9"/>
            </a:solidFill>
            <a:prstDash val="solid"/>
          </a:ln>
        </p:spPr>
      </p:sp>
      <p:sp>
        <p:nvSpPr>
          <p:cNvPr id="59" name="Text 57"/>
          <p:cNvSpPr/>
          <p:nvPr/>
        </p:nvSpPr>
        <p:spPr>
          <a:xfrm>
            <a:off x="6565392" y="4928616"/>
            <a:ext cx="365760" cy="548640"/>
          </a:xfrm>
          <a:prstGeom prst="rect">
            <a:avLst/>
          </a:prstGeom>
          <a:noFill/>
          <a:ln/>
        </p:spPr>
        <p:txBody>
          <a:bodyPr wrap="square" rtlCol="0" anchor="ctr"/>
          <a:lstStyle/>
          <a:p>
            <a:pPr algn="ctr" indent="0" marL="0">
              <a:buNone/>
            </a:pPr>
            <a:r>
              <a:rPr lang="en-US" sz="2000" b="1" dirty="0">
                <a:solidFill>
                  <a:srgbClr val="1FB8C9"/>
                </a:solidFill>
                <a:latin typeface="Calibri" pitchFamily="34" charset="0"/>
                <a:ea typeface="Calibri" pitchFamily="34" charset="-122"/>
                <a:cs typeface="Calibri" pitchFamily="34" charset="-120"/>
              </a:rPr>
              <a:t>+</a:t>
            </a:r>
            <a:endParaRPr lang="en-US" sz="2000" dirty="0"/>
          </a:p>
        </p:txBody>
      </p:sp>
      <p:sp>
        <p:nvSpPr>
          <p:cNvPr id="60" name="Text 58"/>
          <p:cNvSpPr/>
          <p:nvPr/>
        </p:nvSpPr>
        <p:spPr>
          <a:xfrm>
            <a:off x="7022592" y="4928616"/>
            <a:ext cx="2286000" cy="548640"/>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Expanded Languages</a:t>
            </a:r>
            <a:endParaRPr lang="en-US" sz="1100" dirty="0"/>
          </a:p>
        </p:txBody>
      </p:sp>
      <p:sp>
        <p:nvSpPr>
          <p:cNvPr id="61" name="Text 59"/>
          <p:cNvSpPr/>
          <p:nvPr/>
        </p:nvSpPr>
        <p:spPr>
          <a:xfrm>
            <a:off x="9308592" y="4928616"/>
            <a:ext cx="2240280" cy="548640"/>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Marathi, Bengali, Malayalam, Gujarati, Punjabi.</a:t>
            </a:r>
            <a:endParaRPr lang="en-US" sz="900" dirty="0"/>
          </a:p>
        </p:txBody>
      </p:sp>
      <p:sp>
        <p:nvSpPr>
          <p:cNvPr id="62" name="Shape 60"/>
          <p:cNvSpPr/>
          <p:nvPr/>
        </p:nvSpPr>
        <p:spPr>
          <a:xfrm>
            <a:off x="6428232" y="5532120"/>
            <a:ext cx="5120640" cy="548640"/>
          </a:xfrm>
          <a:prstGeom prst="rect">
            <a:avLst/>
          </a:prstGeom>
          <a:solidFill>
            <a:srgbClr val="FFFFFF"/>
          </a:solidFill>
          <a:ln w="12700">
            <a:solidFill>
              <a:srgbClr val="D9E1EC"/>
            </a:solidFill>
            <a:prstDash val="solid"/>
          </a:ln>
        </p:spPr>
      </p:sp>
      <p:sp>
        <p:nvSpPr>
          <p:cNvPr id="63" name="Shape 61"/>
          <p:cNvSpPr/>
          <p:nvPr/>
        </p:nvSpPr>
        <p:spPr>
          <a:xfrm>
            <a:off x="6428232" y="5532120"/>
            <a:ext cx="54864" cy="548640"/>
          </a:xfrm>
          <a:prstGeom prst="rect">
            <a:avLst/>
          </a:prstGeom>
          <a:solidFill>
            <a:srgbClr val="1FB8C9"/>
          </a:solidFill>
          <a:ln w="12700">
            <a:solidFill>
              <a:srgbClr val="1FB8C9"/>
            </a:solidFill>
            <a:prstDash val="solid"/>
          </a:ln>
        </p:spPr>
      </p:sp>
      <p:sp>
        <p:nvSpPr>
          <p:cNvPr id="64" name="Text 62"/>
          <p:cNvSpPr/>
          <p:nvPr/>
        </p:nvSpPr>
        <p:spPr>
          <a:xfrm>
            <a:off x="6565392" y="5532120"/>
            <a:ext cx="365760" cy="548640"/>
          </a:xfrm>
          <a:prstGeom prst="rect">
            <a:avLst/>
          </a:prstGeom>
          <a:noFill/>
          <a:ln/>
        </p:spPr>
        <p:txBody>
          <a:bodyPr wrap="square" rtlCol="0" anchor="ctr"/>
          <a:lstStyle/>
          <a:p>
            <a:pPr algn="ctr" indent="0" marL="0">
              <a:buNone/>
            </a:pPr>
            <a:r>
              <a:rPr lang="en-US" sz="2000" b="1" dirty="0">
                <a:solidFill>
                  <a:srgbClr val="1FB8C9"/>
                </a:solidFill>
                <a:latin typeface="Calibri" pitchFamily="34" charset="0"/>
                <a:ea typeface="Calibri" pitchFamily="34" charset="-122"/>
                <a:cs typeface="Calibri" pitchFamily="34" charset="-120"/>
              </a:rPr>
              <a:t>+</a:t>
            </a:r>
            <a:endParaRPr lang="en-US" sz="2000" dirty="0"/>
          </a:p>
        </p:txBody>
      </p:sp>
      <p:sp>
        <p:nvSpPr>
          <p:cNvPr id="65" name="Text 63"/>
          <p:cNvSpPr/>
          <p:nvPr/>
        </p:nvSpPr>
        <p:spPr>
          <a:xfrm>
            <a:off x="7022592" y="5532120"/>
            <a:ext cx="2286000" cy="548640"/>
          </a:xfrm>
          <a:prstGeom prst="rect">
            <a:avLst/>
          </a:prstGeom>
          <a:noFill/>
          <a:ln/>
        </p:spPr>
        <p:txBody>
          <a:bodyPr wrap="square" rtlCol="0" anchor="ctr"/>
          <a:lstStyle/>
          <a:p>
            <a:pPr indent="0" marL="0">
              <a:buNone/>
            </a:pPr>
            <a:r>
              <a:rPr lang="en-US" sz="1100" b="1" dirty="0">
                <a:solidFill>
                  <a:srgbClr val="0B1E3F"/>
                </a:solidFill>
                <a:latin typeface="Calibri" pitchFamily="34" charset="0"/>
                <a:ea typeface="Calibri" pitchFamily="34" charset="-122"/>
                <a:cs typeface="Calibri" pitchFamily="34" charset="-120"/>
              </a:rPr>
              <a:t>Database Integration</a:t>
            </a:r>
            <a:endParaRPr lang="en-US" sz="1100" dirty="0"/>
          </a:p>
        </p:txBody>
      </p:sp>
      <p:sp>
        <p:nvSpPr>
          <p:cNvPr id="66" name="Text 64"/>
          <p:cNvSpPr/>
          <p:nvPr/>
        </p:nvSpPr>
        <p:spPr>
          <a:xfrm>
            <a:off x="9308592" y="5532120"/>
            <a:ext cx="2240280" cy="548640"/>
          </a:xfrm>
          <a:prstGeom prst="rect">
            <a:avLst/>
          </a:prstGeom>
          <a:noFill/>
          <a:ln/>
        </p:spPr>
        <p:txBody>
          <a:bodyPr wrap="square" rtlCol="0" anchor="ctr"/>
          <a:lstStyle/>
          <a:p>
            <a:pPr indent="0" marL="0">
              <a:buNone/>
            </a:pPr>
            <a:r>
              <a:rPr lang="en-US" sz="900" dirty="0">
                <a:solidFill>
                  <a:srgbClr val="5A6B7C"/>
                </a:solidFill>
                <a:latin typeface="Calibri" pitchFamily="34" charset="0"/>
                <a:ea typeface="Calibri" pitchFamily="34" charset="-122"/>
                <a:cs typeface="Calibri" pitchFamily="34" charset="-120"/>
              </a:rPr>
              <a:t>PostgreSQL backend with full transactional audit.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E3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E3F"/>
          </a:solidFill>
          <a:ln/>
        </p:spPr>
      </p:sp>
      <p:sp>
        <p:nvSpPr>
          <p:cNvPr id="3" name="Shape 1"/>
          <p:cNvSpPr/>
          <p:nvPr/>
        </p:nvSpPr>
        <p:spPr>
          <a:xfrm>
            <a:off x="-1828800" y="-1828800"/>
            <a:ext cx="5486400" cy="5486400"/>
          </a:xfrm>
          <a:prstGeom prst="ellipse">
            <a:avLst/>
          </a:prstGeom>
          <a:solidFill>
            <a:srgbClr val="0E2750"/>
          </a:solidFill>
          <a:ln w="12700">
            <a:solidFill>
              <a:srgbClr val="0E2750"/>
            </a:solidFill>
            <a:prstDash val="solid"/>
          </a:ln>
        </p:spPr>
      </p:sp>
      <p:sp>
        <p:nvSpPr>
          <p:cNvPr id="4" name="Shape 2"/>
          <p:cNvSpPr/>
          <p:nvPr/>
        </p:nvSpPr>
        <p:spPr>
          <a:xfrm>
            <a:off x="9144000" y="3657600"/>
            <a:ext cx="5486400" cy="5486400"/>
          </a:xfrm>
          <a:prstGeom prst="ellipse">
            <a:avLst/>
          </a:prstGeom>
          <a:solidFill>
            <a:srgbClr val="0E2750"/>
          </a:solidFill>
          <a:ln w="12700">
            <a:solidFill>
              <a:srgbClr val="0E2750"/>
            </a:solidFill>
            <a:prstDash val="solid"/>
          </a:ln>
        </p:spPr>
      </p:sp>
      <p:sp>
        <p:nvSpPr>
          <p:cNvPr id="5" name="Shape 3"/>
          <p:cNvSpPr/>
          <p:nvPr/>
        </p:nvSpPr>
        <p:spPr>
          <a:xfrm>
            <a:off x="0" y="0"/>
            <a:ext cx="12191695" cy="73152"/>
          </a:xfrm>
          <a:prstGeom prst="rect">
            <a:avLst/>
          </a:prstGeom>
          <a:solidFill>
            <a:srgbClr val="1FB8C9"/>
          </a:solidFill>
          <a:ln w="12700">
            <a:solidFill>
              <a:srgbClr val="1FB8C9"/>
            </a:solidFill>
            <a:prstDash val="solid"/>
          </a:ln>
        </p:spPr>
      </p:sp>
      <p:sp>
        <p:nvSpPr>
          <p:cNvPr id="6" name="Shape 4"/>
          <p:cNvSpPr/>
          <p:nvPr/>
        </p:nvSpPr>
        <p:spPr>
          <a:xfrm>
            <a:off x="0" y="6784848"/>
            <a:ext cx="12191695" cy="73152"/>
          </a:xfrm>
          <a:prstGeom prst="rect">
            <a:avLst/>
          </a:prstGeom>
          <a:solidFill>
            <a:srgbClr val="1FB8C9"/>
          </a:solidFill>
          <a:ln w="12700">
            <a:solidFill>
              <a:srgbClr val="1FB8C9"/>
            </a:solidFill>
            <a:prstDash val="solid"/>
          </a:ln>
        </p:spPr>
      </p:sp>
      <p:sp>
        <p:nvSpPr>
          <p:cNvPr id="7" name="Text 5"/>
          <p:cNvSpPr/>
          <p:nvPr/>
        </p:nvSpPr>
        <p:spPr>
          <a:xfrm>
            <a:off x="457200" y="1828800"/>
            <a:ext cx="11247120" cy="1645920"/>
          </a:xfrm>
          <a:prstGeom prst="rect">
            <a:avLst/>
          </a:prstGeom>
          <a:noFill/>
          <a:ln/>
        </p:spPr>
        <p:txBody>
          <a:bodyPr wrap="square" rtlCol="0" anchor="ctr"/>
          <a:lstStyle/>
          <a:p>
            <a:pPr algn="ctr" indent="0" marL="0">
              <a:buNone/>
            </a:pPr>
            <a:r>
              <a:rPr lang="en-US" sz="12000" b="1" spc="1200" kern="0" dirty="0">
                <a:solidFill>
                  <a:srgbClr val="FFFFFF"/>
                </a:solidFill>
                <a:latin typeface="Calibri" pitchFamily="34" charset="0"/>
                <a:ea typeface="Calibri" pitchFamily="34" charset="-122"/>
                <a:cs typeface="Calibri" pitchFamily="34" charset="-120"/>
              </a:rPr>
              <a:t>THANK YOU</a:t>
            </a:r>
            <a:endParaRPr lang="en-US" sz="12000" dirty="0"/>
          </a:p>
        </p:txBody>
      </p:sp>
      <p:sp>
        <p:nvSpPr>
          <p:cNvPr id="8" name="Shape 6"/>
          <p:cNvSpPr/>
          <p:nvPr/>
        </p:nvSpPr>
        <p:spPr>
          <a:xfrm>
            <a:off x="5632704" y="3566160"/>
            <a:ext cx="914400" cy="54864"/>
          </a:xfrm>
          <a:prstGeom prst="rect">
            <a:avLst/>
          </a:prstGeom>
          <a:solidFill>
            <a:srgbClr val="1FB8C9"/>
          </a:solidFill>
          <a:ln w="12700">
            <a:solidFill>
              <a:srgbClr val="1FB8C9"/>
            </a:solidFill>
            <a:prstDash val="solid"/>
          </a:ln>
        </p:spPr>
      </p:sp>
      <p:sp>
        <p:nvSpPr>
          <p:cNvPr id="9" name="Text 7"/>
          <p:cNvSpPr/>
          <p:nvPr/>
        </p:nvSpPr>
        <p:spPr>
          <a:xfrm>
            <a:off x="457200" y="3703320"/>
            <a:ext cx="11247120" cy="548640"/>
          </a:xfrm>
          <a:prstGeom prst="rect">
            <a:avLst/>
          </a:prstGeom>
          <a:noFill/>
          <a:ln/>
        </p:spPr>
        <p:txBody>
          <a:bodyPr wrap="square" rtlCol="0" anchor="ctr"/>
          <a:lstStyle/>
          <a:p>
            <a:pPr algn="ctr" indent="0" marL="0">
              <a:buNone/>
            </a:pPr>
            <a:r>
              <a:rPr lang="en-US" sz="2800" i="1" dirty="0">
                <a:solidFill>
                  <a:srgbClr val="1FB8C9"/>
                </a:solidFill>
                <a:latin typeface="Calibri" pitchFamily="34" charset="0"/>
                <a:ea typeface="Calibri" pitchFamily="34" charset="-122"/>
                <a:cs typeface="Calibri" pitchFamily="34" charset="-120"/>
              </a:rPr>
              <a:t>Questions &amp; Discussion</a:t>
            </a:r>
            <a:endParaRPr lang="en-US" sz="2800" dirty="0"/>
          </a:p>
        </p:txBody>
      </p:sp>
      <p:sp>
        <p:nvSpPr>
          <p:cNvPr id="10" name="Text 8"/>
          <p:cNvSpPr/>
          <p:nvPr/>
        </p:nvSpPr>
        <p:spPr>
          <a:xfrm>
            <a:off x="457200" y="4572000"/>
            <a:ext cx="11247120" cy="365760"/>
          </a:xfrm>
          <a:prstGeom prst="rect">
            <a:avLst/>
          </a:prstGeom>
          <a:noFill/>
          <a:ln/>
        </p:spPr>
        <p:txBody>
          <a:bodyPr wrap="square" rtlCol="0" anchor="ctr"/>
          <a:lstStyle/>
          <a:p>
            <a:pPr algn="ctr" indent="0" marL="0">
              <a:buNone/>
            </a:pPr>
            <a:r>
              <a:rPr lang="en-US" sz="1400" b="1" spc="600" kern="0" dirty="0">
                <a:solidFill>
                  <a:srgbClr val="FFFFFF"/>
                </a:solidFill>
                <a:latin typeface="Calibri" pitchFamily="34" charset="0"/>
                <a:ea typeface="Calibri" pitchFamily="34" charset="-122"/>
                <a:cs typeface="Calibri" pitchFamily="34" charset="-120"/>
              </a:rPr>
              <a:t>TEAM 9   ·   UC ID: SD-04   ·   SERVICE DESK</a:t>
            </a:r>
            <a:endParaRPr lang="en-US" sz="1400" dirty="0"/>
          </a:p>
        </p:txBody>
      </p:sp>
      <p:sp>
        <p:nvSpPr>
          <p:cNvPr id="11" name="Text 9"/>
          <p:cNvSpPr/>
          <p:nvPr/>
        </p:nvSpPr>
        <p:spPr>
          <a:xfrm>
            <a:off x="457200" y="4983480"/>
            <a:ext cx="11247120" cy="365760"/>
          </a:xfrm>
          <a:prstGeom prst="rect">
            <a:avLst/>
          </a:prstGeom>
          <a:noFill/>
          <a:ln/>
        </p:spPr>
        <p:txBody>
          <a:bodyPr wrap="square" rtlCol="0" anchor="ctr"/>
          <a:lstStyle/>
          <a:p>
            <a:pPr algn="ctr" indent="0" marL="0">
              <a:buNone/>
            </a:pPr>
            <a:r>
              <a:rPr lang="en-US" sz="1300" i="1" dirty="0">
                <a:solidFill>
                  <a:srgbClr val="C7D3E8"/>
                </a:solidFill>
                <a:latin typeface="Calibri" pitchFamily="34" charset="0"/>
                <a:ea typeface="Calibri" pitchFamily="34" charset="-122"/>
                <a:cs typeface="Calibri" pitchFamily="34" charset="-120"/>
              </a:rPr>
              <a:t>Infinite Computer Solutions — Placement Drive Case Study</a:t>
            </a:r>
            <a:endParaRPr lang="en-US" sz="1300" dirty="0"/>
          </a:p>
        </p:txBody>
      </p:sp>
      <p:sp>
        <p:nvSpPr>
          <p:cNvPr id="12" name="Shape 10"/>
          <p:cNvSpPr/>
          <p:nvPr/>
        </p:nvSpPr>
        <p:spPr>
          <a:xfrm>
            <a:off x="952348" y="5669280"/>
            <a:ext cx="2468880" cy="502920"/>
          </a:xfrm>
          <a:prstGeom prst="roundRect">
            <a:avLst>
              <a:gd name="adj" fmla="val 49091"/>
            </a:avLst>
          </a:prstGeom>
          <a:solidFill>
            <a:srgbClr val="0E2750"/>
          </a:solidFill>
          <a:ln w="12700">
            <a:solidFill>
              <a:srgbClr val="1FB8C9"/>
            </a:solidFill>
            <a:prstDash val="solid"/>
          </a:ln>
        </p:spPr>
      </p:sp>
      <p:sp>
        <p:nvSpPr>
          <p:cNvPr id="13" name="Text 11"/>
          <p:cNvSpPr/>
          <p:nvPr/>
        </p:nvSpPr>
        <p:spPr>
          <a:xfrm>
            <a:off x="952348" y="5669280"/>
            <a:ext cx="246888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Althi Sanjana</a:t>
            </a:r>
            <a:endParaRPr lang="en-US" sz="1100" dirty="0"/>
          </a:p>
        </p:txBody>
      </p:sp>
      <p:sp>
        <p:nvSpPr>
          <p:cNvPr id="14" name="Shape 12"/>
          <p:cNvSpPr/>
          <p:nvPr/>
        </p:nvSpPr>
        <p:spPr>
          <a:xfrm>
            <a:off x="3558388" y="5669280"/>
            <a:ext cx="2468880" cy="502920"/>
          </a:xfrm>
          <a:prstGeom prst="roundRect">
            <a:avLst>
              <a:gd name="adj" fmla="val 49091"/>
            </a:avLst>
          </a:prstGeom>
          <a:solidFill>
            <a:srgbClr val="0E2750"/>
          </a:solidFill>
          <a:ln w="12700">
            <a:solidFill>
              <a:srgbClr val="1FB8C9"/>
            </a:solidFill>
            <a:prstDash val="solid"/>
          </a:ln>
        </p:spPr>
      </p:sp>
      <p:sp>
        <p:nvSpPr>
          <p:cNvPr id="15" name="Text 13"/>
          <p:cNvSpPr/>
          <p:nvPr/>
        </p:nvSpPr>
        <p:spPr>
          <a:xfrm>
            <a:off x="3558388" y="5669280"/>
            <a:ext cx="246888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Kandregula Divya Vani</a:t>
            </a:r>
            <a:endParaRPr lang="en-US" sz="1100" dirty="0"/>
          </a:p>
        </p:txBody>
      </p:sp>
      <p:sp>
        <p:nvSpPr>
          <p:cNvPr id="16" name="Shape 14"/>
          <p:cNvSpPr/>
          <p:nvPr/>
        </p:nvSpPr>
        <p:spPr>
          <a:xfrm>
            <a:off x="6164428" y="5669280"/>
            <a:ext cx="2468880" cy="502920"/>
          </a:xfrm>
          <a:prstGeom prst="roundRect">
            <a:avLst>
              <a:gd name="adj" fmla="val 49091"/>
            </a:avLst>
          </a:prstGeom>
          <a:solidFill>
            <a:srgbClr val="0E2750"/>
          </a:solidFill>
          <a:ln w="12700">
            <a:solidFill>
              <a:srgbClr val="1FB8C9"/>
            </a:solidFill>
            <a:prstDash val="solid"/>
          </a:ln>
        </p:spPr>
      </p:sp>
      <p:sp>
        <p:nvSpPr>
          <p:cNvPr id="17" name="Text 15"/>
          <p:cNvSpPr/>
          <p:nvPr/>
        </p:nvSpPr>
        <p:spPr>
          <a:xfrm>
            <a:off x="6164428" y="5669280"/>
            <a:ext cx="246888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Mangi Nitya Sai Vardhani</a:t>
            </a:r>
            <a:endParaRPr lang="en-US" sz="1100" dirty="0"/>
          </a:p>
        </p:txBody>
      </p:sp>
      <p:sp>
        <p:nvSpPr>
          <p:cNvPr id="18" name="Shape 16"/>
          <p:cNvSpPr/>
          <p:nvPr/>
        </p:nvSpPr>
        <p:spPr>
          <a:xfrm>
            <a:off x="8770468" y="5669280"/>
            <a:ext cx="2468880" cy="502920"/>
          </a:xfrm>
          <a:prstGeom prst="roundRect">
            <a:avLst>
              <a:gd name="adj" fmla="val 49091"/>
            </a:avLst>
          </a:prstGeom>
          <a:solidFill>
            <a:srgbClr val="0E2750"/>
          </a:solidFill>
          <a:ln w="12700">
            <a:solidFill>
              <a:srgbClr val="1FB8C9"/>
            </a:solidFill>
            <a:prstDash val="solid"/>
          </a:ln>
        </p:spPr>
      </p:sp>
      <p:sp>
        <p:nvSpPr>
          <p:cNvPr id="19" name="Text 17"/>
          <p:cNvSpPr/>
          <p:nvPr/>
        </p:nvSpPr>
        <p:spPr>
          <a:xfrm>
            <a:off x="8770468" y="5669280"/>
            <a:ext cx="246888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Kanapaka Dilleswara Rao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Multilingual Ticket Translator</dc:title>
  <dc:subject>PptxGenJS Presentation</dc:subject>
  <dc:creator>PptxGenJS</dc:creator>
  <cp:lastModifiedBy>PptxGenJS</cp:lastModifiedBy>
  <cp:revision>1</cp:revision>
  <dcterms:created xsi:type="dcterms:W3CDTF">2026-06-16T15:15:48Z</dcterms:created>
  <dcterms:modified xsi:type="dcterms:W3CDTF">2026-06-16T15:15:48Z</dcterms:modified>
</cp:coreProperties>
</file>